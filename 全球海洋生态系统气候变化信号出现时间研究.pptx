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271" r:id="rId2"/>
    <p:sldId id="257" r:id="rId3"/>
    <p:sldId id="258" r:id="rId4"/>
    <p:sldId id="272" r:id="rId5"/>
    <p:sldId id="273" r:id="rId6"/>
    <p:sldId id="274" r:id="rId7"/>
    <p:sldId id="259" r:id="rId8"/>
    <p:sldId id="260" r:id="rId9"/>
    <p:sldId id="287" r:id="rId10"/>
    <p:sldId id="261" r:id="rId11"/>
    <p:sldId id="277" r:id="rId12"/>
    <p:sldId id="288" r:id="rId13"/>
    <p:sldId id="289" r:id="rId14"/>
    <p:sldId id="281" r:id="rId15"/>
    <p:sldId id="282" r:id="rId16"/>
    <p:sldId id="286" r:id="rId17"/>
    <p:sldId id="28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288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A2A2A8-CAD6-EC9F-E786-3C13E03B7A26}" name="锴烨 吴" initials="锴吴" userId="3be7c95e0ecadb8e"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锴烨 吴" initials="锴吴" lastIdx="3" clrIdx="0">
    <p:extLst>
      <p:ext uri="{19B8F6BF-5375-455C-9EA6-DF929625EA0E}">
        <p15:presenceInfo xmlns:p15="http://schemas.microsoft.com/office/powerpoint/2012/main" userId="3be7c95e0ecadb8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24" autoAdjust="0"/>
  </p:normalViewPr>
  <p:slideViewPr>
    <p:cSldViewPr snapToGrid="0" snapToObjects="1">
      <p:cViewPr varScale="1">
        <p:scale>
          <a:sx n="43" d="100"/>
          <a:sy n="43" d="100"/>
        </p:scale>
        <p:origin x="53" y="682"/>
      </p:cViewPr>
      <p:guideLst>
        <p:guide orient="horz" pos="2228"/>
        <p:guide pos="2887"/>
      </p:guideLst>
    </p:cSldViewPr>
  </p:slideViewPr>
  <p:notesTextViewPr>
    <p:cViewPr>
      <p:scale>
        <a:sx n="100" d="100"/>
        <a:sy n="100" d="100"/>
      </p:scale>
      <p:origin x="0" y="0"/>
    </p:cViewPr>
  </p:notesTextViewPr>
  <p:notesViewPr>
    <p:cSldViewPr snapToGrid="0" snapToObjects="1" showGuides="1">
      <p:cViewPr varScale="1">
        <p:scale>
          <a:sx n="64" d="100"/>
          <a:sy n="64" d="100"/>
        </p:scale>
        <p:origin x="1253" y="8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9879BE8-DD2B-E18B-7C70-BC7F7CDC0D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4FF15DA2-9125-944D-6814-B9902608E0A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61B5B1-DC65-4076-BAE8-45A45259086A}" type="datetimeFigureOut">
              <a:rPr lang="zh-CN" altLang="en-US" smtClean="0"/>
              <a:t>2026/5/25</a:t>
            </a:fld>
            <a:endParaRPr lang="zh-CN" altLang="en-US"/>
          </a:p>
        </p:txBody>
      </p:sp>
      <p:sp>
        <p:nvSpPr>
          <p:cNvPr id="4" name="页脚占位符 3">
            <a:extLst>
              <a:ext uri="{FF2B5EF4-FFF2-40B4-BE49-F238E27FC236}">
                <a16:creationId xmlns:a16="http://schemas.microsoft.com/office/drawing/2014/main" id="{8E904FA8-8B56-0411-8A04-C903F361B3E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B82ED6AB-09F3-002A-392C-330030AFEEC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04F20B-99DB-44D4-82C4-39BE2C9F013C}" type="slidenum">
              <a:rPr lang="zh-CN" altLang="en-US" smtClean="0"/>
              <a:t>‹#›</a:t>
            </a:fld>
            <a:endParaRPr lang="zh-CN" altLang="en-US"/>
          </a:p>
        </p:txBody>
      </p:sp>
    </p:spTree>
    <p:extLst>
      <p:ext uri="{BB962C8B-B14F-4D97-AF65-F5344CB8AC3E}">
        <p14:creationId xmlns:p14="http://schemas.microsoft.com/office/powerpoint/2010/main" val="145953956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1D3BA-29DA-4B2A-A3C4-0A728125C63E}" type="datetimeFigureOut">
              <a:rPr lang="zh-CN" altLang="en-US" smtClean="0"/>
              <a:t>2026/5/25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C5C0B-CCBE-45E5-ABE8-0A7EDCD06DFE}" type="slidenum">
              <a:rPr lang="zh-CN" altLang="en-US" smtClean="0"/>
              <a:t>‹#›</a:t>
            </a:fld>
            <a:endParaRPr lang="zh-CN" altLang="en-US"/>
          </a:p>
        </p:txBody>
      </p:sp>
    </p:spTree>
    <p:extLst>
      <p:ext uri="{BB962C8B-B14F-4D97-AF65-F5344CB8AC3E}">
        <p14:creationId xmlns:p14="http://schemas.microsoft.com/office/powerpoint/2010/main" val="1957117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各位老师下午好，我今天汇报的主题是“全球海洋生态系统气候变化信号出现时间”。</a:t>
            </a:r>
            <a:endParaRPr lang="zh-CN" altLang="en-US" dirty="0"/>
          </a:p>
        </p:txBody>
      </p:sp>
      <p:sp>
        <p:nvSpPr>
          <p:cNvPr id="4" name="灯片编号占位符 3"/>
          <p:cNvSpPr>
            <a:spLocks noGrp="1"/>
          </p:cNvSpPr>
          <p:nvPr>
            <p:ph type="sldNum" sz="quarter" idx="5"/>
          </p:nvPr>
        </p:nvSpPr>
        <p:spPr/>
        <p:txBody>
          <a:bodyPr/>
          <a:lstStyle/>
          <a:p>
            <a:fld id="{822C5C0B-CCBE-45E5-ABE8-0A7EDCD06DFE}" type="slidenum">
              <a:rPr lang="zh-CN" altLang="en-US" smtClean="0"/>
              <a:t>1</a:t>
            </a:fld>
            <a:endParaRPr lang="zh-CN" altLang="en-US"/>
          </a:p>
        </p:txBody>
      </p:sp>
    </p:spTree>
    <p:extLst>
      <p:ext uri="{BB962C8B-B14F-4D97-AF65-F5344CB8AC3E}">
        <p14:creationId xmlns:p14="http://schemas.microsoft.com/office/powerpoint/2010/main" val="3024989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汇报内容分为以下几个部分：</a:t>
            </a:r>
          </a:p>
        </p:txBody>
      </p:sp>
      <p:sp>
        <p:nvSpPr>
          <p:cNvPr id="4" name="灯片编号占位符 3"/>
          <p:cNvSpPr>
            <a:spLocks noGrp="1"/>
          </p:cNvSpPr>
          <p:nvPr>
            <p:ph type="sldNum" sz="quarter" idx="5"/>
          </p:nvPr>
        </p:nvSpPr>
        <p:spPr/>
        <p:txBody>
          <a:bodyPr/>
          <a:lstStyle/>
          <a:p>
            <a:fld id="{822C5C0B-CCBE-45E5-ABE8-0A7EDCD06DFE}" type="slidenum">
              <a:rPr lang="zh-CN" altLang="en-US" smtClean="0"/>
              <a:t>2</a:t>
            </a:fld>
            <a:endParaRPr lang="zh-CN" altLang="en-US"/>
          </a:p>
        </p:txBody>
      </p:sp>
    </p:spTree>
    <p:extLst>
      <p:ext uri="{BB962C8B-B14F-4D97-AF65-F5344CB8AC3E}">
        <p14:creationId xmlns:p14="http://schemas.microsoft.com/office/powerpoint/2010/main" val="2491795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a:solidFill>
                  <a:schemeClr val="tx1"/>
                </a:solidFill>
                <a:effectLst/>
                <a:latin typeface="+mn-lt"/>
                <a:ea typeface="+mn-ea"/>
                <a:cs typeface="+mn-cs"/>
              </a:rPr>
              <a:t>首先是研究背景，这是气候变化影响海洋生态系统示意图，可以看到</a:t>
            </a:r>
            <a:r>
              <a:rPr lang="zh-CN" altLang="zh-CN" sz="1200" kern="1200">
                <a:solidFill>
                  <a:schemeClr val="tx1"/>
                </a:solidFill>
                <a:effectLst/>
                <a:latin typeface="+mn-lt"/>
                <a:ea typeface="+mn-ea"/>
                <a:cs typeface="+mn-cs"/>
              </a:rPr>
              <a:t>气候变化引起的海洋系统变化并非单一物理或化学状态的线形</a:t>
            </a:r>
            <a:r>
              <a:rPr lang="zh-CN" altLang="en-US" sz="1200" kern="1200">
                <a:solidFill>
                  <a:schemeClr val="tx1"/>
                </a:solidFill>
                <a:effectLst/>
                <a:latin typeface="+mn-lt"/>
                <a:ea typeface="+mn-ea"/>
                <a:cs typeface="+mn-cs"/>
              </a:rPr>
              <a:t>演变</a:t>
            </a:r>
            <a:r>
              <a:rPr lang="zh-CN" altLang="zh-CN" sz="1200" kern="1200">
                <a:solidFill>
                  <a:schemeClr val="tx1"/>
                </a:solidFill>
                <a:effectLst/>
                <a:latin typeface="+mn-lt"/>
                <a:ea typeface="+mn-ea"/>
                <a:cs typeface="+mn-cs"/>
              </a:rPr>
              <a:t>，还会进一步影响海洋生态系统结构与功能</a:t>
            </a:r>
            <a:r>
              <a:rPr lang="zh-CN" altLang="en-US" sz="1200" kern="1200">
                <a:solidFill>
                  <a:schemeClr val="tx1"/>
                </a:solidFill>
                <a:effectLst/>
                <a:latin typeface="+mn-lt"/>
                <a:ea typeface="+mn-ea"/>
                <a:cs typeface="+mn-cs"/>
              </a:rPr>
              <a:t>。</a:t>
            </a:r>
            <a:endParaRPr lang="en-US" altLang="zh-CN" sz="1200" kern="1200">
              <a:solidFill>
                <a:schemeClr val="tx1"/>
              </a:solidFill>
              <a:effectLst/>
              <a:latin typeface="+mn-lt"/>
              <a:ea typeface="+mn-ea"/>
              <a:cs typeface="+mn-cs"/>
            </a:endParaRPr>
          </a:p>
          <a:p>
            <a:r>
              <a:rPr lang="zh-CN" altLang="en-US" sz="1200" kern="1200">
                <a:solidFill>
                  <a:schemeClr val="tx1"/>
                </a:solidFill>
                <a:effectLst/>
                <a:latin typeface="+mn-lt"/>
                <a:ea typeface="+mn-ea"/>
                <a:cs typeface="+mn-cs"/>
              </a:rPr>
              <a:t>然而海洋生态系统还会受到厄尔尼诺</a:t>
            </a:r>
            <a:r>
              <a:rPr lang="en-US" altLang="zh-CN" sz="1200" kern="1200">
                <a:solidFill>
                  <a:schemeClr val="tx1"/>
                </a:solidFill>
                <a:effectLst/>
                <a:latin typeface="+mn-lt"/>
                <a:ea typeface="+mn-ea"/>
                <a:cs typeface="+mn-cs"/>
              </a:rPr>
              <a:t>-</a:t>
            </a:r>
            <a:r>
              <a:rPr lang="zh-CN" altLang="en-US" sz="1200" kern="1200">
                <a:solidFill>
                  <a:schemeClr val="tx1"/>
                </a:solidFill>
                <a:effectLst/>
                <a:latin typeface="+mn-lt"/>
                <a:ea typeface="+mn-ea"/>
                <a:cs typeface="+mn-cs"/>
              </a:rPr>
              <a:t>南方涛动，太平洋年代际振荡等内部自然变率影响，仅看长期趋势</a:t>
            </a:r>
            <a:r>
              <a:rPr lang="zh-CN" altLang="zh-CN" sz="1200" kern="1200">
                <a:solidFill>
                  <a:schemeClr val="tx1"/>
                </a:solidFill>
                <a:effectLst/>
                <a:latin typeface="+mn-lt"/>
                <a:ea typeface="+mn-ea"/>
                <a:cs typeface="+mn-cs"/>
              </a:rPr>
              <a:t>不足以判断某一生态变量是否已经受到人为气候变化影响</a:t>
            </a:r>
            <a:r>
              <a:rPr lang="zh-CN" altLang="en-US" sz="1200" kern="1200">
                <a:solidFill>
                  <a:schemeClr val="tx1"/>
                </a:solidFill>
                <a:effectLst/>
                <a:latin typeface="+mn-lt"/>
                <a:ea typeface="+mn-ea"/>
                <a:cs typeface="+mn-cs"/>
              </a:rPr>
              <a:t>。</a:t>
            </a:r>
            <a:endParaRPr lang="en-US" altLang="zh-CN" sz="1200" kern="1200">
              <a:solidFill>
                <a:schemeClr val="tx1"/>
              </a:solidFill>
              <a:effectLst/>
              <a:latin typeface="+mn-lt"/>
              <a:ea typeface="+mn-ea"/>
              <a:cs typeface="+mn-cs"/>
            </a:endParaRPr>
          </a:p>
          <a:p>
            <a:r>
              <a:rPr lang="zh-CN" altLang="en-US" sz="1200" kern="1200">
                <a:solidFill>
                  <a:schemeClr val="tx1"/>
                </a:solidFill>
                <a:effectLst/>
                <a:latin typeface="+mn-lt"/>
                <a:ea typeface="+mn-ea"/>
                <a:cs typeface="+mn-cs"/>
              </a:rPr>
              <a:t>因此人为气候变化信号何时从内部自然变率背景中显现出来</a:t>
            </a:r>
            <a:r>
              <a:rPr lang="zh-CN" altLang="zh-CN" sz="1200" kern="1200">
                <a:solidFill>
                  <a:schemeClr val="tx1"/>
                </a:solidFill>
                <a:effectLst/>
                <a:latin typeface="+mn-lt"/>
                <a:ea typeface="+mn-ea"/>
                <a:cs typeface="+mn-cs"/>
              </a:rPr>
              <a:t>，成为当前海洋生态系统研究的重要科学问题</a:t>
            </a:r>
            <a:r>
              <a:rPr lang="zh-CN" altLang="en-US" sz="1200" kern="1200">
                <a:solidFill>
                  <a:schemeClr val="tx1"/>
                </a:solidFill>
                <a:effectLst/>
                <a:latin typeface="+mn-lt"/>
                <a:ea typeface="+mn-ea"/>
                <a:cs typeface="+mn-cs"/>
              </a:rPr>
              <a:t>。</a:t>
            </a:r>
            <a:endParaRPr lang="en-US" altLang="zh-CN" sz="1200" kern="1200">
              <a:solidFill>
                <a:schemeClr val="tx1"/>
              </a:solidFill>
              <a:effectLst/>
              <a:latin typeface="+mn-lt"/>
              <a:ea typeface="+mn-ea"/>
              <a:cs typeface="+mn-cs"/>
            </a:endParaRPr>
          </a:p>
          <a:p>
            <a:r>
              <a:rPr lang="zh-CN" altLang="en-US" sz="1200" kern="1200">
                <a:solidFill>
                  <a:schemeClr val="tx1"/>
                </a:solidFill>
                <a:effectLst/>
                <a:latin typeface="+mn-lt"/>
                <a:ea typeface="+mn-ea"/>
                <a:cs typeface="+mn-cs"/>
              </a:rPr>
              <a:t>针对这一研究需求，霍金和萨顿提出了气候变化信号的出现时间概念。</a:t>
            </a:r>
            <a:endParaRPr lang="en-US" altLang="zh-CN" sz="1200" kern="1200">
              <a:solidFill>
                <a:schemeClr val="tx1"/>
              </a:solidFill>
              <a:effectLst/>
              <a:latin typeface="+mn-lt"/>
              <a:ea typeface="+mn-ea"/>
              <a:cs typeface="+mn-cs"/>
            </a:endParaRPr>
          </a:p>
          <a:p>
            <a:endParaRPr lang="zh-CN" altLang="en-US"/>
          </a:p>
        </p:txBody>
      </p:sp>
      <p:sp>
        <p:nvSpPr>
          <p:cNvPr id="4" name="灯片编号占位符 3"/>
          <p:cNvSpPr>
            <a:spLocks noGrp="1"/>
          </p:cNvSpPr>
          <p:nvPr>
            <p:ph type="sldNum" sz="quarter" idx="5"/>
          </p:nvPr>
        </p:nvSpPr>
        <p:spPr/>
        <p:txBody>
          <a:bodyPr/>
          <a:lstStyle/>
          <a:p>
            <a:fld id="{822C5C0B-CCBE-45E5-ABE8-0A7EDCD06DFE}" type="slidenum">
              <a:rPr lang="zh-CN" altLang="en-US" smtClean="0"/>
              <a:t>3</a:t>
            </a:fld>
            <a:endParaRPr lang="zh-CN" altLang="en-US"/>
          </a:p>
        </p:txBody>
      </p:sp>
    </p:spTree>
    <p:extLst>
      <p:ext uri="{BB962C8B-B14F-4D97-AF65-F5344CB8AC3E}">
        <p14:creationId xmlns:p14="http://schemas.microsoft.com/office/powerpoint/2010/main" val="3731708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关于</a:t>
            </a:r>
            <a:r>
              <a:rPr lang="en-US" altLang="zh-CN"/>
              <a:t>ToE</a:t>
            </a:r>
            <a:r>
              <a:rPr lang="zh-CN" altLang="en-US"/>
              <a:t>方法在海洋生物地球化学中应用，国际上已开展了一系列研究，部分研究借助于长时间观测数据，如图</a:t>
            </a:r>
            <a:r>
              <a:rPr lang="en-US" altLang="zh-CN"/>
              <a:t>1-4</a:t>
            </a:r>
            <a:r>
              <a:rPr lang="zh-CN" altLang="en-US"/>
              <a:t>，但大多数研究需借助于地球系统模式集合模拟开展，如图</a:t>
            </a:r>
            <a:r>
              <a:rPr lang="en-US" altLang="zh-CN"/>
              <a:t>1-2</a:t>
            </a:r>
            <a:r>
              <a:rPr lang="zh-CN" altLang="en-US"/>
              <a:t>和图</a:t>
            </a:r>
            <a:r>
              <a:rPr lang="en-US" altLang="zh-CN"/>
              <a:t>1-3</a:t>
            </a:r>
            <a:endParaRPr lang="zh-CN" altLang="en-US"/>
          </a:p>
        </p:txBody>
      </p:sp>
      <p:sp>
        <p:nvSpPr>
          <p:cNvPr id="4" name="灯片编号占位符 3"/>
          <p:cNvSpPr>
            <a:spLocks noGrp="1"/>
          </p:cNvSpPr>
          <p:nvPr>
            <p:ph type="sldNum" sz="quarter" idx="5"/>
          </p:nvPr>
        </p:nvSpPr>
        <p:spPr/>
        <p:txBody>
          <a:bodyPr/>
          <a:lstStyle/>
          <a:p>
            <a:fld id="{822C5C0B-CCBE-45E5-ABE8-0A7EDCD06DFE}" type="slidenum">
              <a:rPr lang="zh-CN" altLang="en-US" smtClean="0"/>
              <a:t>4</a:t>
            </a:fld>
            <a:endParaRPr lang="zh-CN" altLang="en-US"/>
          </a:p>
        </p:txBody>
      </p:sp>
    </p:spTree>
    <p:extLst>
      <p:ext uri="{BB962C8B-B14F-4D97-AF65-F5344CB8AC3E}">
        <p14:creationId xmlns:p14="http://schemas.microsoft.com/office/powerpoint/2010/main" val="3639635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a:solidFill>
                  <a:schemeClr val="tx1"/>
                </a:solidFill>
                <a:effectLst/>
                <a:latin typeface="+mn-lt"/>
                <a:ea typeface="+mn-ea"/>
                <a:cs typeface="+mn-cs"/>
              </a:rPr>
              <a:t>其中</a:t>
            </a:r>
            <a:r>
              <a:rPr lang="zh-CN" altLang="zh-CN" sz="1200" kern="1200">
                <a:solidFill>
                  <a:schemeClr val="tx1"/>
                </a:solidFill>
                <a:effectLst/>
                <a:latin typeface="+mn-lt"/>
                <a:ea typeface="+mn-ea"/>
                <a:cs typeface="+mn-cs"/>
              </a:rPr>
              <a:t>基于通用地球系统模式开展的</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方法</a:t>
            </a:r>
            <a:r>
              <a:rPr lang="zh-CN" altLang="zh-CN" sz="1200" kern="1200">
                <a:solidFill>
                  <a:schemeClr val="tx1"/>
                </a:solidFill>
                <a:effectLst/>
                <a:latin typeface="+mn-lt"/>
                <a:ea typeface="+mn-ea"/>
                <a:cs typeface="+mn-cs"/>
              </a:rPr>
              <a:t>研究可归纳为三个方向</a:t>
            </a:r>
            <a:r>
              <a:rPr lang="zh-CN" altLang="en-US" sz="1200" kern="1200">
                <a:solidFill>
                  <a:schemeClr val="tx1"/>
                </a:solidFill>
                <a:effectLst/>
                <a:latin typeface="+mn-lt"/>
                <a:ea typeface="+mn-ea"/>
                <a:cs typeface="+mn-cs"/>
              </a:rPr>
              <a:t>：海洋脱氧、海洋碳循环和酸化以及海洋生态系统气候变化信号的传播过程及生态响应。</a:t>
            </a:r>
            <a:endParaRPr lang="en-US" altLang="zh-CN" sz="1200" kern="1200">
              <a:solidFill>
                <a:schemeClr val="tx1"/>
              </a:solidFill>
              <a:effectLst/>
              <a:latin typeface="+mn-lt"/>
              <a:ea typeface="+mn-ea"/>
              <a:cs typeface="+mn-cs"/>
            </a:endParaRPr>
          </a:p>
          <a:p>
            <a:pPr marL="0" indent="0">
              <a:lnSpc>
                <a:spcPct val="150000"/>
              </a:lnSpc>
              <a:buFont typeface="Arial" panose="020B0604020202020204" pitchFamily="34" charset="0"/>
              <a:buNone/>
            </a:pPr>
            <a:r>
              <a:rPr lang="zh-CN" altLang="en-US" sz="1200">
                <a:latin typeface="微软雅黑" panose="020B0503020204020204" pitchFamily="34" charset="-122"/>
                <a:ea typeface="微软雅黑" panose="020B0503020204020204" pitchFamily="34" charset="-122"/>
              </a:rPr>
              <a:t>从国内外的研究进展可以看出，</a:t>
            </a:r>
            <a:r>
              <a:rPr lang="zh-CN" altLang="zh-CN" sz="1200">
                <a:latin typeface="微软雅黑" panose="020B0503020204020204" pitchFamily="34" charset="-122"/>
                <a:ea typeface="微软雅黑" panose="020B0503020204020204" pitchFamily="34" charset="-122"/>
              </a:rPr>
              <a:t>现有的</a:t>
            </a:r>
            <a:r>
              <a:rPr lang="en-US" altLang="zh-CN" sz="1200">
                <a:latin typeface="微软雅黑" panose="020B0503020204020204" pitchFamily="34" charset="-122"/>
                <a:ea typeface="微软雅黑" panose="020B0503020204020204" pitchFamily="34" charset="-122"/>
              </a:rPr>
              <a:t>ToE</a:t>
            </a:r>
            <a:r>
              <a:rPr lang="zh-CN" altLang="zh-CN" sz="1200">
                <a:latin typeface="微软雅黑" panose="020B0503020204020204" pitchFamily="34" charset="-122"/>
                <a:ea typeface="微软雅黑" panose="020B0503020204020204" pitchFamily="34" charset="-122"/>
              </a:rPr>
              <a:t>研究已经覆盖海洋物理、生物地球化学和部分生态系统变量</a:t>
            </a:r>
            <a:r>
              <a:rPr lang="zh-CN" altLang="en-US" sz="1200">
                <a:latin typeface="微软雅黑" panose="020B0503020204020204" pitchFamily="34" charset="-122"/>
                <a:ea typeface="微软雅黑" panose="020B0503020204020204" pitchFamily="34" charset="-122"/>
              </a:rPr>
              <a:t>，但</a:t>
            </a:r>
            <a:r>
              <a:rPr lang="zh-CN" altLang="zh-CN" sz="1200">
                <a:latin typeface="微软雅黑" panose="020B0503020204020204" pitchFamily="34" charset="-122"/>
                <a:ea typeface="微软雅黑" panose="020B0503020204020204" pitchFamily="34" charset="-122"/>
              </a:rPr>
              <a:t>将环境变量、低营养级变量和高营养级变量统一纳入全球海洋生态系统框架进行系统分析的研究仍相对有限</a:t>
            </a:r>
            <a:r>
              <a:rPr lang="zh-CN" altLang="en-US" sz="1200">
                <a:latin typeface="微软雅黑" panose="020B0503020204020204" pitchFamily="34" charset="-122"/>
                <a:ea typeface="微软雅黑" panose="020B0503020204020204" pitchFamily="34" charset="-122"/>
              </a:rPr>
              <a:t>；且</a:t>
            </a:r>
            <a:r>
              <a:rPr lang="zh-CN" altLang="zh-CN" sz="1200">
                <a:latin typeface="微软雅黑" panose="020B0503020204020204" pitchFamily="34" charset="-122"/>
                <a:ea typeface="微软雅黑" panose="020B0503020204020204" pitchFamily="34" charset="-122"/>
              </a:rPr>
              <a:t>多数研究主要聚焦于单一变量或单一生态层级</a:t>
            </a:r>
            <a:r>
              <a:rPr lang="zh-CN" altLang="en-US" sz="1200">
                <a:latin typeface="微软雅黑" panose="020B0503020204020204" pitchFamily="34" charset="-122"/>
                <a:ea typeface="微软雅黑" panose="020B0503020204020204" pitchFamily="34" charset="-122"/>
              </a:rPr>
              <a:t>，</a:t>
            </a:r>
            <a:r>
              <a:rPr lang="zh-CN" altLang="zh-CN" sz="1200">
                <a:latin typeface="微软雅黑" panose="020B0503020204020204" pitchFamily="34" charset="-122"/>
                <a:ea typeface="微软雅黑" panose="020B0503020204020204" pitchFamily="34" charset="-122"/>
              </a:rPr>
              <a:t>不同营养级之间气候变化信号如何传递、放大以及产生区域差异，</a:t>
            </a:r>
            <a:r>
              <a:rPr lang="zh-CN" altLang="en-US" sz="1200">
                <a:latin typeface="微软雅黑" panose="020B0503020204020204" pitchFamily="34" charset="-122"/>
                <a:ea typeface="微软雅黑" panose="020B0503020204020204" pitchFamily="34" charset="-122"/>
              </a:rPr>
              <a:t>也</a:t>
            </a:r>
            <a:r>
              <a:rPr lang="zh-CN" altLang="zh-CN" sz="1200">
                <a:latin typeface="微软雅黑" panose="020B0503020204020204" pitchFamily="34" charset="-122"/>
                <a:ea typeface="微软雅黑" panose="020B0503020204020204" pitchFamily="34" charset="-122"/>
              </a:rPr>
              <a:t>缺乏系统讨论</a:t>
            </a:r>
            <a:r>
              <a:rPr lang="zh-CN" altLang="en-US" sz="1200">
                <a:latin typeface="微软雅黑" panose="020B0503020204020204" pitchFamily="34" charset="-122"/>
                <a:ea typeface="微软雅黑" panose="020B0503020204020204" pitchFamily="34" charset="-122"/>
              </a:rPr>
              <a:t>，</a:t>
            </a:r>
            <a:endParaRPr lang="zh-CN" altLang="en-US"/>
          </a:p>
          <a:p>
            <a:endParaRPr lang="zh-CN" altLang="en-US"/>
          </a:p>
        </p:txBody>
      </p:sp>
      <p:sp>
        <p:nvSpPr>
          <p:cNvPr id="4" name="灯片编号占位符 3"/>
          <p:cNvSpPr>
            <a:spLocks noGrp="1"/>
          </p:cNvSpPr>
          <p:nvPr>
            <p:ph type="sldNum" sz="quarter" idx="5"/>
          </p:nvPr>
        </p:nvSpPr>
        <p:spPr/>
        <p:txBody>
          <a:bodyPr/>
          <a:lstStyle/>
          <a:p>
            <a:fld id="{822C5C0B-CCBE-45E5-ABE8-0A7EDCD06DFE}" type="slidenum">
              <a:rPr lang="zh-CN" altLang="en-US" smtClean="0"/>
              <a:t>5</a:t>
            </a:fld>
            <a:endParaRPr lang="zh-CN" altLang="en-US"/>
          </a:p>
        </p:txBody>
      </p:sp>
    </p:spTree>
    <p:extLst>
      <p:ext uri="{BB962C8B-B14F-4D97-AF65-F5344CB8AC3E}">
        <p14:creationId xmlns:p14="http://schemas.microsoft.com/office/powerpoint/2010/main" val="982339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361E7-1568-98BD-CCBF-02803BE389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656028-D373-867F-269B-23FE0087A4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894410-B547-153C-BF2E-DF149FF32F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latin typeface="微软雅黑" panose="020B0503020204020204" pitchFamily="34" charset="-122"/>
                <a:ea typeface="微软雅黑" panose="020B0503020204020204" pitchFamily="34" charset="-122"/>
              </a:rPr>
              <a:t>针对现有研究不足之处，本研究采取以下研究思路：</a:t>
            </a:r>
            <a:r>
              <a:rPr lang="zh-CN" altLang="zh-CN" sz="1200" kern="1200">
                <a:solidFill>
                  <a:schemeClr val="tx1"/>
                </a:solidFill>
                <a:effectLst/>
                <a:latin typeface="+mn-lt"/>
                <a:ea typeface="+mn-ea"/>
                <a:cs typeface="+mn-cs"/>
              </a:rPr>
              <a:t>利用</a:t>
            </a:r>
            <a:r>
              <a:rPr lang="en-US" altLang="zh-CN" sz="1200" kern="1200">
                <a:solidFill>
                  <a:schemeClr val="tx1"/>
                </a:solidFill>
                <a:effectLst/>
                <a:latin typeface="+mn-lt"/>
                <a:ea typeface="+mn-ea"/>
                <a:cs typeface="+mn-cs"/>
              </a:rPr>
              <a:t>CESM2-LE</a:t>
            </a:r>
            <a:r>
              <a:rPr lang="zh-CN" altLang="zh-CN" sz="1200" kern="1200">
                <a:solidFill>
                  <a:schemeClr val="tx1"/>
                </a:solidFill>
                <a:effectLst/>
                <a:latin typeface="+mn-lt"/>
                <a:ea typeface="+mn-ea"/>
                <a:cs typeface="+mn-cs"/>
              </a:rPr>
              <a:t>中的环境变量和低营养级变量以及 </a:t>
            </a:r>
            <a:r>
              <a:rPr lang="en-US" altLang="zh-CN" sz="1200" kern="1200">
                <a:solidFill>
                  <a:schemeClr val="tx1"/>
                </a:solidFill>
                <a:effectLst/>
                <a:latin typeface="+mn-lt"/>
                <a:ea typeface="+mn-ea"/>
                <a:cs typeface="+mn-cs"/>
              </a:rPr>
              <a:t>CESM2-FEISTY</a:t>
            </a:r>
            <a:r>
              <a:rPr lang="zh-CN" altLang="zh-CN" sz="1200" kern="1200">
                <a:solidFill>
                  <a:schemeClr val="tx1"/>
                </a:solidFill>
                <a:effectLst/>
                <a:latin typeface="+mn-lt"/>
                <a:ea typeface="+mn-ea"/>
                <a:cs typeface="+mn-cs"/>
              </a:rPr>
              <a:t>模型的鱼类功能群</a:t>
            </a:r>
            <a:r>
              <a:rPr lang="zh-CN" altLang="en-US" sz="1200" kern="1200">
                <a:solidFill>
                  <a:schemeClr val="tx1"/>
                </a:solidFill>
                <a:effectLst/>
                <a:latin typeface="+mn-lt"/>
                <a:ea typeface="+mn-ea"/>
                <a:cs typeface="+mn-cs"/>
              </a:rPr>
              <a:t>变量结果</a:t>
            </a:r>
            <a:r>
              <a:rPr lang="zh-CN" altLang="zh-CN" sz="1200" kern="1200">
                <a:solidFill>
                  <a:schemeClr val="tx1"/>
                </a:solidFill>
                <a:effectLst/>
                <a:latin typeface="+mn-lt"/>
                <a:ea typeface="+mn-ea"/>
                <a:cs typeface="+mn-cs"/>
              </a:rPr>
              <a:t>，系统计算不同变量的气候变化信号及其出现时间，并结合信噪比分析比较不同生态层级之间</a:t>
            </a:r>
            <a:r>
              <a:rPr lang="en-US" altLang="zh-CN" sz="1200" kern="1200">
                <a:solidFill>
                  <a:schemeClr val="tx1"/>
                </a:solidFill>
                <a:effectLst/>
                <a:latin typeface="+mn-lt"/>
                <a:ea typeface="+mn-ea"/>
                <a:cs typeface="+mn-cs"/>
              </a:rPr>
              <a:t>ToE</a:t>
            </a:r>
            <a:r>
              <a:rPr lang="zh-CN" altLang="zh-CN" sz="1200" kern="1200">
                <a:solidFill>
                  <a:schemeClr val="tx1"/>
                </a:solidFill>
                <a:effectLst/>
                <a:latin typeface="+mn-lt"/>
                <a:ea typeface="+mn-ea"/>
                <a:cs typeface="+mn-cs"/>
              </a:rPr>
              <a:t>的时间与空间差异</a:t>
            </a:r>
            <a:endParaRPr lang="en-US" altLang="zh-CN" sz="1200" kern="1200">
              <a:solidFill>
                <a:schemeClr val="tx1"/>
              </a:solidFill>
              <a:effectLst/>
              <a:latin typeface="+mn-lt"/>
              <a:ea typeface="+mn-ea"/>
              <a:cs typeface="+mn-cs"/>
            </a:endParaRPr>
          </a:p>
          <a:p>
            <a:r>
              <a:rPr lang="zh-CN" altLang="en-US" sz="1200" kern="1200">
                <a:solidFill>
                  <a:schemeClr val="tx1"/>
                </a:solidFill>
                <a:effectLst/>
                <a:latin typeface="+mn-lt"/>
                <a:ea typeface="+mn-ea"/>
                <a:cs typeface="+mn-cs"/>
              </a:rPr>
              <a:t>拟解决以下两个科学问题：</a:t>
            </a:r>
            <a:endParaRPr lang="en-US" altLang="zh-CN" sz="1200" kern="1200">
              <a:solidFill>
                <a:schemeClr val="tx1"/>
              </a:solidFill>
              <a:effectLst/>
              <a:latin typeface="+mn-lt"/>
              <a:ea typeface="+mn-ea"/>
              <a:cs typeface="+mn-cs"/>
            </a:endParaRPr>
          </a:p>
          <a:p>
            <a:endParaRPr lang="en-US" altLang="zh-CN" sz="120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B322C69-8A7C-3DF3-3FAA-4D3BF8531438}"/>
              </a:ext>
            </a:extLst>
          </p:cNvPr>
          <p:cNvSpPr>
            <a:spLocks noGrp="1"/>
          </p:cNvSpPr>
          <p:nvPr>
            <p:ph type="sldNum" sz="quarter" idx="5"/>
          </p:nvPr>
        </p:nvSpPr>
        <p:spPr/>
        <p:txBody>
          <a:bodyPr/>
          <a:lstStyle/>
          <a:p>
            <a:fld id="{822C5C0B-CCBE-45E5-ABE8-0A7EDCD06DFE}" type="slidenum">
              <a:rPr lang="zh-CN" altLang="en-US" smtClean="0"/>
              <a:t>6</a:t>
            </a:fld>
            <a:endParaRPr lang="zh-CN" altLang="en-US"/>
          </a:p>
        </p:txBody>
      </p:sp>
    </p:spTree>
    <p:extLst>
      <p:ext uri="{BB962C8B-B14F-4D97-AF65-F5344CB8AC3E}">
        <p14:creationId xmlns:p14="http://schemas.microsoft.com/office/powerpoint/2010/main" val="4131364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a:solidFill>
                  <a:schemeClr val="tx1"/>
                </a:solidFill>
                <a:effectLst/>
                <a:latin typeface="+mn-lt"/>
                <a:ea typeface="+mn-ea"/>
                <a:cs typeface="+mn-cs"/>
              </a:rPr>
              <a:t>接着介绍数据与研究方法，展示的是</a:t>
            </a:r>
            <a:r>
              <a:rPr lang="en-US" altLang="zh-CN" sz="1200" kern="1200">
                <a:solidFill>
                  <a:schemeClr val="tx1"/>
                </a:solidFill>
                <a:effectLst/>
                <a:latin typeface="+mn-lt"/>
                <a:ea typeface="+mn-ea"/>
                <a:cs typeface="+mn-cs"/>
              </a:rPr>
              <a:t>CESM2</a:t>
            </a:r>
            <a:r>
              <a:rPr lang="zh-CN" altLang="en-US" sz="1200" kern="1200">
                <a:solidFill>
                  <a:schemeClr val="tx1"/>
                </a:solidFill>
                <a:effectLst/>
                <a:latin typeface="+mn-lt"/>
                <a:ea typeface="+mn-ea"/>
                <a:cs typeface="+mn-cs"/>
              </a:rPr>
              <a:t>模型结构图，</a:t>
            </a:r>
            <a:r>
              <a:rPr lang="en-US" altLang="zh-CN" sz="1200" kern="1200">
                <a:solidFill>
                  <a:schemeClr val="tx1"/>
                </a:solidFill>
                <a:effectLst/>
                <a:latin typeface="+mn-lt"/>
                <a:ea typeface="+mn-ea"/>
                <a:cs typeface="+mn-cs"/>
              </a:rPr>
              <a:t>CESM2-LE</a:t>
            </a:r>
            <a:r>
              <a:rPr lang="zh-CN" altLang="en-US" sz="1200" kern="1200">
                <a:solidFill>
                  <a:schemeClr val="tx1"/>
                </a:solidFill>
                <a:effectLst/>
                <a:latin typeface="+mn-lt"/>
                <a:ea typeface="+mn-ea"/>
                <a:cs typeface="+mn-cs"/>
              </a:rPr>
              <a:t>的数据来源于</a:t>
            </a:r>
            <a:r>
              <a:rPr lang="en-US" altLang="zh-CN" sz="1200" kern="1200">
                <a:solidFill>
                  <a:schemeClr val="tx1"/>
                </a:solidFill>
                <a:effectLst/>
                <a:latin typeface="+mn-lt"/>
                <a:ea typeface="+mn-ea"/>
                <a:cs typeface="+mn-cs"/>
              </a:rPr>
              <a:t>POP2</a:t>
            </a:r>
            <a:r>
              <a:rPr lang="zh-CN" altLang="en-US" sz="1200" kern="1200">
                <a:solidFill>
                  <a:schemeClr val="tx1"/>
                </a:solidFill>
                <a:effectLst/>
                <a:latin typeface="+mn-lt"/>
                <a:ea typeface="+mn-ea"/>
                <a:cs typeface="+mn-cs"/>
              </a:rPr>
              <a:t>和</a:t>
            </a:r>
            <a:r>
              <a:rPr lang="en-US" altLang="zh-CN" sz="1200" kern="1200">
                <a:solidFill>
                  <a:schemeClr val="tx1"/>
                </a:solidFill>
                <a:effectLst/>
                <a:latin typeface="+mn-lt"/>
                <a:ea typeface="+mn-ea"/>
                <a:cs typeface="+mn-cs"/>
              </a:rPr>
              <a:t>MARBL</a:t>
            </a:r>
            <a:r>
              <a:rPr lang="zh-CN" altLang="en-US" sz="1200" kern="1200">
                <a:solidFill>
                  <a:schemeClr val="tx1"/>
                </a:solidFill>
                <a:effectLst/>
                <a:latin typeface="+mn-lt"/>
                <a:ea typeface="+mn-ea"/>
                <a:cs typeface="+mn-cs"/>
              </a:rPr>
              <a:t>，</a:t>
            </a:r>
            <a:r>
              <a:rPr lang="zh-CN" altLang="zh-CN" sz="1200" kern="1200">
                <a:solidFill>
                  <a:schemeClr val="tx1"/>
                </a:solidFill>
                <a:effectLst/>
                <a:latin typeface="+mn-lt"/>
                <a:ea typeface="+mn-ea"/>
                <a:cs typeface="+mn-cs"/>
              </a:rPr>
              <a:t>基于共享社会经济路径</a:t>
            </a:r>
            <a:r>
              <a:rPr lang="en-US" altLang="zh-CN" sz="1200" kern="1200">
                <a:solidFill>
                  <a:schemeClr val="tx1"/>
                </a:solidFill>
                <a:effectLst/>
                <a:latin typeface="+mn-lt"/>
                <a:ea typeface="+mn-ea"/>
                <a:cs typeface="+mn-cs"/>
              </a:rPr>
              <a:t>SSP3-7.0</a:t>
            </a:r>
            <a:r>
              <a:rPr lang="zh-CN" altLang="zh-CN" sz="1200" kern="1200">
                <a:solidFill>
                  <a:schemeClr val="tx1"/>
                </a:solidFill>
                <a:effectLst/>
                <a:latin typeface="+mn-lt"/>
                <a:ea typeface="+mn-ea"/>
                <a:cs typeface="+mn-cs"/>
              </a:rPr>
              <a:t>情景，所有集合成员设置仅在初始条件上存在微小差异</a:t>
            </a:r>
            <a:r>
              <a:rPr lang="zh-CN" altLang="en-US" sz="1200" kern="1200">
                <a:solidFill>
                  <a:schemeClr val="tx1"/>
                </a:solidFill>
                <a:effectLst/>
                <a:latin typeface="+mn-lt"/>
                <a:ea typeface="+mn-ea"/>
                <a:cs typeface="+mn-cs"/>
              </a:rPr>
              <a:t>。</a:t>
            </a:r>
            <a:endParaRPr lang="zh-CN" altLang="en-US"/>
          </a:p>
        </p:txBody>
      </p:sp>
      <p:sp>
        <p:nvSpPr>
          <p:cNvPr id="4" name="灯片编号占位符 3"/>
          <p:cNvSpPr>
            <a:spLocks noGrp="1"/>
          </p:cNvSpPr>
          <p:nvPr>
            <p:ph type="sldNum" sz="quarter" idx="5"/>
          </p:nvPr>
        </p:nvSpPr>
        <p:spPr/>
        <p:txBody>
          <a:bodyPr/>
          <a:lstStyle/>
          <a:p>
            <a:fld id="{822C5C0B-CCBE-45E5-ABE8-0A7EDCD06DFE}" type="slidenum">
              <a:rPr lang="zh-CN" altLang="en-US" smtClean="0"/>
              <a:t>7</a:t>
            </a:fld>
            <a:endParaRPr lang="zh-CN" altLang="en-US"/>
          </a:p>
        </p:txBody>
      </p:sp>
    </p:spTree>
    <p:extLst>
      <p:ext uri="{BB962C8B-B14F-4D97-AF65-F5344CB8AC3E}">
        <p14:creationId xmlns:p14="http://schemas.microsoft.com/office/powerpoint/2010/main" val="3820887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展示的是</a:t>
            </a:r>
            <a:r>
              <a:rPr lang="en-US" altLang="zh-CN"/>
              <a:t>CESM-FEISTY</a:t>
            </a:r>
            <a:r>
              <a:rPr lang="zh-CN" altLang="en-US"/>
              <a:t>模型运行示意图，</a:t>
            </a:r>
            <a:r>
              <a:rPr lang="en-US" altLang="zh-CN"/>
              <a:t>CESM2-FEISTY </a:t>
            </a:r>
            <a:r>
              <a:rPr lang="zh-CN" altLang="en-US"/>
              <a:t>模型区分饵料鱼类、浮泳鱼类和底栖鱼类三种功能类型。</a:t>
            </a:r>
          </a:p>
        </p:txBody>
      </p:sp>
      <p:sp>
        <p:nvSpPr>
          <p:cNvPr id="4" name="灯片编号占位符 3"/>
          <p:cNvSpPr>
            <a:spLocks noGrp="1"/>
          </p:cNvSpPr>
          <p:nvPr>
            <p:ph type="sldNum" sz="quarter" idx="5"/>
          </p:nvPr>
        </p:nvSpPr>
        <p:spPr/>
        <p:txBody>
          <a:bodyPr/>
          <a:lstStyle/>
          <a:p>
            <a:fld id="{822C5C0B-CCBE-45E5-ABE8-0A7EDCD06DFE}" type="slidenum">
              <a:rPr lang="zh-CN" altLang="en-US" smtClean="0"/>
              <a:t>8</a:t>
            </a:fld>
            <a:endParaRPr lang="zh-CN" altLang="en-US"/>
          </a:p>
        </p:txBody>
      </p:sp>
    </p:spTree>
    <p:extLst>
      <p:ext uri="{BB962C8B-B14F-4D97-AF65-F5344CB8AC3E}">
        <p14:creationId xmlns:p14="http://schemas.microsoft.com/office/powerpoint/2010/main" val="2157425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F1EA3-9BF2-932C-BDA8-DEC6065421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4B7FB0-725F-AE0D-E766-F69A9A21AA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4AB5F9E-CC2E-597E-8950-120A80411814}"/>
              </a:ext>
            </a:extLst>
          </p:cNvPr>
          <p:cNvSpPr>
            <a:spLocks noGrp="1"/>
          </p:cNvSpPr>
          <p:nvPr>
            <p:ph type="body" idx="1"/>
          </p:nvPr>
        </p:nvSpPr>
        <p:spPr/>
        <p:txBody>
          <a:bodyPr/>
          <a:lstStyle/>
          <a:p>
            <a:r>
              <a:rPr lang="zh-CN" altLang="en-US"/>
              <a:t>展示的是本研究的主要变量分组，三类变量共同构成从物理与化学环境变量到低营养级生产，再经食物网过程传递到鱼类生物量的分析链条</a:t>
            </a:r>
          </a:p>
        </p:txBody>
      </p:sp>
      <p:sp>
        <p:nvSpPr>
          <p:cNvPr id="4" name="灯片编号占位符 3">
            <a:extLst>
              <a:ext uri="{FF2B5EF4-FFF2-40B4-BE49-F238E27FC236}">
                <a16:creationId xmlns:a16="http://schemas.microsoft.com/office/drawing/2014/main" id="{81AD24B8-9BED-3F79-5419-EE06D06A388C}"/>
              </a:ext>
            </a:extLst>
          </p:cNvPr>
          <p:cNvSpPr>
            <a:spLocks noGrp="1"/>
          </p:cNvSpPr>
          <p:nvPr>
            <p:ph type="sldNum" sz="quarter" idx="5"/>
          </p:nvPr>
        </p:nvSpPr>
        <p:spPr/>
        <p:txBody>
          <a:bodyPr/>
          <a:lstStyle/>
          <a:p>
            <a:fld id="{822C5C0B-CCBE-45E5-ABE8-0A7EDCD06DFE}" type="slidenum">
              <a:rPr lang="zh-CN" altLang="en-US" smtClean="0"/>
              <a:t>9</a:t>
            </a:fld>
            <a:endParaRPr lang="zh-CN" altLang="en-US"/>
          </a:p>
        </p:txBody>
      </p:sp>
    </p:spTree>
    <p:extLst>
      <p:ext uri="{BB962C8B-B14F-4D97-AF65-F5344CB8AC3E}">
        <p14:creationId xmlns:p14="http://schemas.microsoft.com/office/powerpoint/2010/main" val="3178227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a:solidFill>
                  <a:schemeClr val="tx1"/>
                </a:solidFill>
                <a:effectLst/>
                <a:latin typeface="+mn-lt"/>
                <a:ea typeface="+mn-ea"/>
                <a:cs typeface="+mn-cs"/>
              </a:rPr>
              <a:t>再介绍下本研究采取的</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方法，以某格点的饵料鱼类生物量时间序列图为例。左边为各集合成员和集合成员平均值完整时间序列，中间是基准期的时间序列，利用该时期所有集合成员数据计算得到平均值和标准差，设置</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阈值范围为平均值</a:t>
            </a:r>
            <a:r>
              <a:rPr lang="en-US" altLang="zh-CN" sz="1200" kern="1200">
                <a:solidFill>
                  <a:schemeClr val="tx1"/>
                </a:solidFill>
                <a:effectLst/>
                <a:latin typeface="+mn-lt"/>
                <a:ea typeface="+mn-ea"/>
                <a:cs typeface="+mn-cs"/>
              </a:rPr>
              <a:t>±2</a:t>
            </a:r>
            <a:r>
              <a:rPr lang="zh-CN" altLang="en-US" sz="1200" kern="1200">
                <a:solidFill>
                  <a:schemeClr val="tx1"/>
                </a:solidFill>
                <a:effectLst/>
                <a:latin typeface="+mn-lt"/>
                <a:ea typeface="+mn-ea"/>
                <a:cs typeface="+mn-cs"/>
              </a:rPr>
              <a:t>倍标准差，也就是灰色区域，右边是</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年份计算，集合成员平均值时间序列第一次超过阈值且持续五年的年份确定为</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上升和下降</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分别记录。</a:t>
            </a:r>
            <a:endParaRPr lang="en-US" altLang="zh-CN" sz="1200" kern="1200">
              <a:solidFill>
                <a:schemeClr val="tx1"/>
              </a:solidFill>
              <a:effectLst/>
              <a:latin typeface="+mn-lt"/>
              <a:ea typeface="+mn-ea"/>
              <a:cs typeface="+mn-cs"/>
            </a:endParaRPr>
          </a:p>
          <a:p>
            <a:r>
              <a:rPr lang="zh-CN" altLang="en-US" sz="1200" kern="1200">
                <a:solidFill>
                  <a:schemeClr val="tx1"/>
                </a:solidFill>
                <a:effectLst/>
                <a:latin typeface="+mn-lt"/>
                <a:ea typeface="+mn-ea"/>
                <a:cs typeface="+mn-cs"/>
              </a:rPr>
              <a:t>同时</a:t>
            </a:r>
            <a:r>
              <a:rPr lang="zh-CN" altLang="zh-CN" sz="1200" kern="1200">
                <a:solidFill>
                  <a:schemeClr val="tx1"/>
                </a:solidFill>
                <a:effectLst/>
                <a:latin typeface="+mn-lt"/>
                <a:ea typeface="+mn-ea"/>
                <a:cs typeface="+mn-cs"/>
              </a:rPr>
              <a:t>为解释不同区域</a:t>
            </a:r>
            <a:r>
              <a:rPr lang="en-US" altLang="zh-CN" sz="1200" kern="1200">
                <a:solidFill>
                  <a:schemeClr val="tx1"/>
                </a:solidFill>
                <a:effectLst/>
                <a:latin typeface="+mn-lt"/>
                <a:ea typeface="+mn-ea"/>
                <a:cs typeface="+mn-cs"/>
              </a:rPr>
              <a:t> ToE </a:t>
            </a:r>
            <a:r>
              <a:rPr lang="zh-CN" altLang="zh-CN" sz="1200" kern="1200">
                <a:solidFill>
                  <a:schemeClr val="tx1"/>
                </a:solidFill>
                <a:effectLst/>
                <a:latin typeface="+mn-lt"/>
                <a:ea typeface="+mn-ea"/>
                <a:cs typeface="+mn-cs"/>
              </a:rPr>
              <a:t>出现早晚的</a:t>
            </a:r>
            <a:r>
              <a:rPr lang="zh-CN" altLang="en-US" sz="1200" kern="1200">
                <a:solidFill>
                  <a:schemeClr val="tx1"/>
                </a:solidFill>
                <a:effectLst/>
                <a:latin typeface="+mn-lt"/>
                <a:ea typeface="+mn-ea"/>
                <a:cs typeface="+mn-cs"/>
              </a:rPr>
              <a:t>强度</a:t>
            </a:r>
            <a:r>
              <a:rPr lang="zh-CN" altLang="zh-CN" sz="1200" kern="1200">
                <a:solidFill>
                  <a:schemeClr val="tx1"/>
                </a:solidFill>
                <a:effectLst/>
                <a:latin typeface="+mn-lt"/>
                <a:ea typeface="+mn-ea"/>
                <a:cs typeface="+mn-cs"/>
              </a:rPr>
              <a:t>差异，采用信噪比作为辅助指标</a:t>
            </a:r>
            <a:r>
              <a:rPr lang="zh-CN" altLang="en-US" sz="1200" kern="1200">
                <a:solidFill>
                  <a:schemeClr val="tx1"/>
                </a:solidFill>
                <a:effectLst/>
                <a:latin typeface="+mn-lt"/>
                <a:ea typeface="+mn-ea"/>
                <a:cs typeface="+mn-cs"/>
              </a:rPr>
              <a:t>，选取最后三十年数据计算得到平均值减去基准期平均值记为信号，基准期标准差作为噪声，信号绝对值除于噪声得到信噪比。比如开阔大洋信号变化不明显但</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年份过早，通过信噪比指标发现是由于自然变率太小导致；或者上升流区域信号变化明显但是没有识别到</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，通过信噪比指标发现是由于自然变率太大导致。</a:t>
            </a:r>
            <a:endParaRPr lang="zh-CN" altLang="en-US"/>
          </a:p>
        </p:txBody>
      </p:sp>
      <p:sp>
        <p:nvSpPr>
          <p:cNvPr id="4" name="灯片编号占位符 3"/>
          <p:cNvSpPr>
            <a:spLocks noGrp="1"/>
          </p:cNvSpPr>
          <p:nvPr>
            <p:ph type="sldNum" sz="quarter" idx="5"/>
          </p:nvPr>
        </p:nvSpPr>
        <p:spPr/>
        <p:txBody>
          <a:bodyPr/>
          <a:lstStyle/>
          <a:p>
            <a:fld id="{822C5C0B-CCBE-45E5-ABE8-0A7EDCD06DFE}" type="slidenum">
              <a:rPr lang="zh-CN" altLang="en-US" smtClean="0"/>
              <a:t>10</a:t>
            </a:fld>
            <a:endParaRPr lang="zh-CN" altLang="en-US"/>
          </a:p>
        </p:txBody>
      </p:sp>
    </p:spTree>
    <p:extLst>
      <p:ext uri="{BB962C8B-B14F-4D97-AF65-F5344CB8AC3E}">
        <p14:creationId xmlns:p14="http://schemas.microsoft.com/office/powerpoint/2010/main" val="3019067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B265A-5B71-5662-234B-69D5ECA428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283AAF-C527-634D-2667-A5E8E5243A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19E2DC-D1A2-9627-A508-6942624648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结果部分介绍几个代表区域，形成环境变量到低营养级变量，再到鱼类功能群变量的完整分析链条。左边是</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环境变量上升与下降方向</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空间分布图，右边是</a:t>
            </a:r>
            <a:r>
              <a:rPr lang="zh-CN" altLang="en-US" sz="1200">
                <a:effectLst/>
                <a:latin typeface="微软雅黑" panose="020B0503020204020204" pitchFamily="34" charset="-122"/>
                <a:ea typeface="微软雅黑" panose="020B0503020204020204" pitchFamily="34" charset="-122"/>
              </a:rPr>
              <a:t>环境变量信噪比结果图。可以看到上层海洋温度升温很早超过自然变率，在赤道印度洋和南极绕极流识别到</a:t>
            </a:r>
            <a:r>
              <a:rPr lang="en-US" altLang="zh-CN" sz="1200">
                <a:effectLst/>
                <a:latin typeface="微软雅黑" panose="020B0503020204020204" pitchFamily="34" charset="-122"/>
                <a:ea typeface="微软雅黑" panose="020B0503020204020204" pitchFamily="34" charset="-122"/>
              </a:rPr>
              <a:t>ToE</a:t>
            </a:r>
            <a:r>
              <a:rPr lang="zh-CN" altLang="en-US" sz="1200">
                <a:effectLst/>
                <a:latin typeface="微软雅黑" panose="020B0503020204020204" pitchFamily="34" charset="-122"/>
                <a:ea typeface="微软雅黑" panose="020B0503020204020204" pitchFamily="34" charset="-122"/>
              </a:rPr>
              <a:t>为</a:t>
            </a:r>
            <a:r>
              <a:rPr lang="en-US" altLang="zh-CN" sz="1200">
                <a:effectLst/>
                <a:latin typeface="微软雅黑" panose="020B0503020204020204" pitchFamily="34" charset="-122"/>
                <a:ea typeface="微软雅黑" panose="020B0503020204020204" pitchFamily="34" charset="-122"/>
              </a:rPr>
              <a:t>2000-2020</a:t>
            </a:r>
            <a:r>
              <a:rPr lang="zh-CN" altLang="en-US" sz="1200">
                <a:effectLst/>
                <a:latin typeface="微软雅黑" panose="020B0503020204020204" pitchFamily="34" charset="-122"/>
                <a:ea typeface="微软雅黑" panose="020B0503020204020204" pitchFamily="34" charset="-122"/>
              </a:rPr>
              <a:t>年，硅酸盐和铁在赤道印度洋部分识别下降</a:t>
            </a:r>
            <a:r>
              <a:rPr lang="en-US" altLang="zh-CN" sz="1200">
                <a:effectLst/>
                <a:latin typeface="微软雅黑" panose="020B0503020204020204" pitchFamily="34" charset="-122"/>
                <a:ea typeface="微软雅黑" panose="020B0503020204020204" pitchFamily="34" charset="-122"/>
              </a:rPr>
              <a:t>ToE</a:t>
            </a:r>
            <a:r>
              <a:rPr lang="zh-CN" altLang="en-US" sz="1200">
                <a:effectLst/>
                <a:latin typeface="微软雅黑" panose="020B0503020204020204" pitchFamily="34" charset="-122"/>
                <a:ea typeface="微软雅黑" panose="020B0503020204020204" pitchFamily="34" charset="-122"/>
              </a:rPr>
              <a:t>在</a:t>
            </a:r>
            <a:r>
              <a:rPr lang="en-US" altLang="zh-CN" sz="1200">
                <a:effectLst/>
                <a:latin typeface="微软雅黑" panose="020B0503020204020204" pitchFamily="34" charset="-122"/>
                <a:ea typeface="微软雅黑" panose="020B0503020204020204" pitchFamily="34" charset="-122"/>
              </a:rPr>
              <a:t>2020-2040</a:t>
            </a:r>
            <a:r>
              <a:rPr lang="zh-CN" altLang="en-US" sz="1200">
                <a:effectLst/>
                <a:latin typeface="微软雅黑" panose="020B0503020204020204" pitchFamily="34" charset="-122"/>
                <a:ea typeface="微软雅黑" panose="020B0503020204020204" pitchFamily="34" charset="-122"/>
              </a:rPr>
              <a:t>年，硝酸盐由于自然变率较大未识别到</a:t>
            </a:r>
            <a:r>
              <a:rPr lang="en-US" altLang="zh-CN" sz="1200">
                <a:effectLst/>
                <a:latin typeface="微软雅黑" panose="020B0503020204020204" pitchFamily="34" charset="-122"/>
                <a:ea typeface="微软雅黑" panose="020B0503020204020204" pitchFamily="34" charset="-122"/>
              </a:rPr>
              <a:t>ToE</a:t>
            </a:r>
            <a:r>
              <a:rPr lang="zh-CN" altLang="en-US" sz="1200">
                <a:effectLst/>
                <a:latin typeface="微软雅黑" panose="020B0503020204020204" pitchFamily="34" charset="-122"/>
                <a:ea typeface="微软雅黑" panose="020B0503020204020204" pitchFamily="34" charset="-122"/>
              </a:rPr>
              <a:t>，硝酸盐在南极绕极流识别到下降</a:t>
            </a:r>
            <a:r>
              <a:rPr lang="en-US" altLang="zh-CN" sz="1200">
                <a:effectLst/>
                <a:latin typeface="微软雅黑" panose="020B0503020204020204" pitchFamily="34" charset="-122"/>
                <a:ea typeface="微软雅黑" panose="020B0503020204020204" pitchFamily="34" charset="-122"/>
              </a:rPr>
              <a:t>ToE</a:t>
            </a:r>
            <a:r>
              <a:rPr lang="zh-CN" altLang="en-US" sz="1200">
                <a:effectLst/>
                <a:latin typeface="微软雅黑" panose="020B0503020204020204" pitchFamily="34" charset="-122"/>
                <a:ea typeface="微软雅黑" panose="020B0503020204020204" pitchFamily="34" charset="-122"/>
              </a:rPr>
              <a:t>，铁识别到上升</a:t>
            </a:r>
            <a:r>
              <a:rPr lang="en-US" altLang="zh-CN" sz="1200">
                <a:effectLst/>
                <a:latin typeface="微软雅黑" panose="020B0503020204020204" pitchFamily="34" charset="-122"/>
                <a:ea typeface="微软雅黑" panose="020B0503020204020204" pitchFamily="34" charset="-122"/>
              </a:rPr>
              <a:t>ToE</a:t>
            </a:r>
            <a:r>
              <a:rPr lang="zh-CN" altLang="en-US" sz="1200">
                <a:effectLst/>
                <a:latin typeface="微软雅黑" panose="020B0503020204020204" pitchFamily="34" charset="-122"/>
                <a:ea typeface="微软雅黑" panose="020B0503020204020204" pitchFamily="34" charset="-122"/>
              </a:rPr>
              <a:t>，均为</a:t>
            </a:r>
            <a:r>
              <a:rPr lang="en-US" altLang="zh-CN" sz="1200">
                <a:effectLst/>
                <a:latin typeface="微软雅黑" panose="020B0503020204020204" pitchFamily="34" charset="-122"/>
                <a:ea typeface="微软雅黑" panose="020B0503020204020204" pitchFamily="34" charset="-122"/>
              </a:rPr>
              <a:t>2020-2040</a:t>
            </a:r>
            <a:r>
              <a:rPr lang="zh-CN" altLang="en-US" sz="1200">
                <a:effectLst/>
                <a:latin typeface="微软雅黑" panose="020B0503020204020204" pitchFamily="34" charset="-122"/>
                <a:ea typeface="微软雅黑" panose="020B0503020204020204" pitchFamily="34" charset="-122"/>
              </a:rPr>
              <a:t>年，硅酸盐较早识别到下降</a:t>
            </a:r>
            <a:r>
              <a:rPr lang="en-US" altLang="zh-CN" sz="1200">
                <a:effectLst/>
                <a:latin typeface="微软雅黑" panose="020B0503020204020204" pitchFamily="34" charset="-122"/>
                <a:ea typeface="微软雅黑" panose="020B0503020204020204" pitchFamily="34" charset="-122"/>
              </a:rPr>
              <a:t>ToE</a:t>
            </a:r>
            <a:r>
              <a:rPr lang="zh-CN" altLang="en-US" sz="1200">
                <a:effectLst/>
                <a:latin typeface="微软雅黑" panose="020B0503020204020204" pitchFamily="34" charset="-122"/>
                <a:ea typeface="微软雅黑" panose="020B0503020204020204" pitchFamily="34" charset="-122"/>
              </a:rPr>
              <a:t>为</a:t>
            </a:r>
            <a:r>
              <a:rPr lang="en-US" altLang="zh-CN" sz="1200">
                <a:effectLst/>
                <a:latin typeface="微软雅黑" panose="020B0503020204020204" pitchFamily="34" charset="-122"/>
                <a:ea typeface="微软雅黑" panose="020B0503020204020204" pitchFamily="34" charset="-122"/>
              </a:rPr>
              <a:t>2000-2020</a:t>
            </a:r>
            <a:r>
              <a:rPr lang="zh-CN" altLang="en-US" sz="1200">
                <a:effectLst/>
                <a:latin typeface="微软雅黑" panose="020B0503020204020204" pitchFamily="34" charset="-122"/>
                <a:ea typeface="微软雅黑" panose="020B0503020204020204" pitchFamily="34" charset="-122"/>
              </a:rPr>
              <a:t>年，硝酸盐、铁和硅酸盐在南极大陆架边缘识别到下降</a:t>
            </a:r>
            <a:r>
              <a:rPr lang="en-US" altLang="zh-CN" sz="1200">
                <a:effectLst/>
                <a:latin typeface="微软雅黑" panose="020B0503020204020204" pitchFamily="34" charset="-122"/>
                <a:ea typeface="微软雅黑" panose="020B0503020204020204" pitchFamily="34" charset="-122"/>
              </a:rPr>
              <a:t>ToE</a:t>
            </a:r>
            <a:r>
              <a:rPr lang="zh-CN" altLang="en-US" sz="1200">
                <a:effectLst/>
                <a:latin typeface="微软雅黑" panose="020B0503020204020204" pitchFamily="34" charset="-122"/>
                <a:ea typeface="微软雅黑" panose="020B0503020204020204" pitchFamily="34" charset="-122"/>
              </a:rPr>
              <a:t>均为</a:t>
            </a:r>
            <a:r>
              <a:rPr lang="en-US" altLang="zh-CN" sz="1200">
                <a:effectLst/>
                <a:latin typeface="微软雅黑" panose="020B0503020204020204" pitchFamily="34" charset="-122"/>
                <a:ea typeface="微软雅黑" panose="020B0503020204020204" pitchFamily="34" charset="-122"/>
              </a:rPr>
              <a:t>2020-2040</a:t>
            </a:r>
            <a:r>
              <a:rPr lang="zh-CN" altLang="en-US" sz="1200">
                <a:effectLst/>
                <a:latin typeface="微软雅黑" panose="020B0503020204020204" pitchFamily="34" charset="-122"/>
                <a:ea typeface="微软雅黑" panose="020B0503020204020204" pitchFamily="34" charset="-122"/>
              </a:rPr>
              <a:t>年</a:t>
            </a:r>
            <a:r>
              <a:rPr lang="en-US" altLang="zh-CN" sz="1200">
                <a:effectLst/>
                <a:latin typeface="微软雅黑" panose="020B0503020204020204" pitchFamily="34" charset="-122"/>
                <a:ea typeface="微软雅黑" panose="020B0503020204020204" pitchFamily="34" charset="-122"/>
              </a:rPr>
              <a:t>,</a:t>
            </a:r>
            <a:r>
              <a:rPr lang="zh-CN" altLang="en-US" sz="1200">
                <a:effectLst/>
                <a:latin typeface="微软雅黑" panose="020B0503020204020204" pitchFamily="34" charset="-122"/>
                <a:ea typeface="微软雅黑" panose="020B0503020204020204" pitchFamily="34" charset="-122"/>
              </a:rPr>
              <a:t>底层海洋温度由于热量传播滞后于上层海洋温度，识别到上升</a:t>
            </a:r>
            <a:r>
              <a:rPr lang="en-US" altLang="zh-CN" sz="1200">
                <a:effectLst/>
                <a:latin typeface="微软雅黑" panose="020B0503020204020204" pitchFamily="34" charset="-122"/>
                <a:ea typeface="微软雅黑" panose="020B0503020204020204" pitchFamily="34" charset="-122"/>
              </a:rPr>
              <a:t>ToE</a:t>
            </a:r>
            <a:r>
              <a:rPr lang="zh-CN" altLang="en-US" sz="1200">
                <a:effectLst/>
                <a:latin typeface="微软雅黑" panose="020B0503020204020204" pitchFamily="34" charset="-122"/>
                <a:ea typeface="微软雅黑" panose="020B0503020204020204" pitchFamily="34" charset="-122"/>
              </a:rPr>
              <a:t>为</a:t>
            </a:r>
            <a:r>
              <a:rPr lang="en-US" altLang="zh-CN" sz="1200">
                <a:effectLst/>
                <a:latin typeface="微软雅黑" panose="020B0503020204020204" pitchFamily="34" charset="-122"/>
                <a:ea typeface="微软雅黑" panose="020B0503020204020204" pitchFamily="34" charset="-122"/>
              </a:rPr>
              <a:t>2020-2040</a:t>
            </a:r>
            <a:r>
              <a:rPr lang="zh-CN" altLang="en-US" sz="1200">
                <a:effectLst/>
                <a:latin typeface="微软雅黑" panose="020B0503020204020204" pitchFamily="34" charset="-122"/>
                <a:ea typeface="微软雅黑" panose="020B0503020204020204" pitchFamily="34" charset="-122"/>
              </a:rPr>
              <a:t>年。</a:t>
            </a:r>
            <a:endParaRPr lang="en-US" altLang="zh-CN" sz="1200">
              <a:effectLs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endParaRPr>
          </a:p>
          <a:p>
            <a:endParaRPr lang="zh-CN" altLang="en-US"/>
          </a:p>
        </p:txBody>
      </p:sp>
      <p:sp>
        <p:nvSpPr>
          <p:cNvPr id="4" name="灯片编号占位符 3">
            <a:extLst>
              <a:ext uri="{FF2B5EF4-FFF2-40B4-BE49-F238E27FC236}">
                <a16:creationId xmlns:a16="http://schemas.microsoft.com/office/drawing/2014/main" id="{9C1C7868-A640-CF65-6674-D3A1091D9A67}"/>
              </a:ext>
            </a:extLst>
          </p:cNvPr>
          <p:cNvSpPr>
            <a:spLocks noGrp="1"/>
          </p:cNvSpPr>
          <p:nvPr>
            <p:ph type="sldNum" sz="quarter" idx="5"/>
          </p:nvPr>
        </p:nvSpPr>
        <p:spPr/>
        <p:txBody>
          <a:bodyPr/>
          <a:lstStyle/>
          <a:p>
            <a:fld id="{822C5C0B-CCBE-45E5-ABE8-0A7EDCD06DFE}" type="slidenum">
              <a:rPr lang="zh-CN" altLang="en-US" smtClean="0"/>
              <a:t>11</a:t>
            </a:fld>
            <a:endParaRPr lang="zh-CN" altLang="en-US"/>
          </a:p>
        </p:txBody>
      </p:sp>
    </p:spTree>
    <p:extLst>
      <p:ext uri="{BB962C8B-B14F-4D97-AF65-F5344CB8AC3E}">
        <p14:creationId xmlns:p14="http://schemas.microsoft.com/office/powerpoint/2010/main" val="1155113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889C2-3EF6-C073-6FAC-7B7E6BC023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7A141B-BB6F-0525-7DCD-97B44624AA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4B3DB0-DC9B-BA9C-D7D6-86B32B513B25}"/>
              </a:ext>
            </a:extLst>
          </p:cNvPr>
          <p:cNvSpPr>
            <a:spLocks noGrp="1"/>
          </p:cNvSpPr>
          <p:nvPr>
            <p:ph type="body" idx="1"/>
          </p:nvPr>
        </p:nvSpPr>
        <p:spPr/>
        <p:txBody>
          <a:bodyPr/>
          <a:lstStyle/>
          <a:p>
            <a:r>
              <a:rPr lang="zh-CN" altLang="en-US"/>
              <a:t>对于低营养级变量来说，赤道印度洋区域的净初级生产力上升信号，小型浮游植物生物量略微上升，硅藻和中型浮游动物生物量出现下降信号，由于自然变率大，仅识别到零散</a:t>
            </a:r>
            <a:r>
              <a:rPr lang="en-US" altLang="zh-CN"/>
              <a:t>ToE</a:t>
            </a:r>
            <a:r>
              <a:rPr lang="zh-CN" altLang="en-US"/>
              <a:t>；</a:t>
            </a:r>
            <a:endParaRPr lang="en-US" altLang="zh-CN"/>
          </a:p>
          <a:p>
            <a:r>
              <a:rPr lang="zh-CN" altLang="en-US"/>
              <a:t>南极绕极流区域由于铁限制减缓和生长季延长，净初级生产力、硅藻生物量和中型浮游动物生物量识别到上升</a:t>
            </a:r>
            <a:r>
              <a:rPr lang="en-US" altLang="zh-CN"/>
              <a:t>ToE</a:t>
            </a:r>
            <a:r>
              <a:rPr lang="zh-CN" altLang="en-US"/>
              <a:t>为</a:t>
            </a:r>
            <a:r>
              <a:rPr lang="en-US" altLang="zh-CN"/>
              <a:t>2040-2060</a:t>
            </a:r>
            <a:r>
              <a:rPr lang="zh-CN" altLang="en-US"/>
              <a:t>年，小型浮游植物生物量识别到下降</a:t>
            </a:r>
            <a:r>
              <a:rPr lang="en-US" altLang="zh-CN"/>
              <a:t>ToE</a:t>
            </a:r>
            <a:r>
              <a:rPr lang="zh-CN" altLang="en-US"/>
              <a:t>为</a:t>
            </a:r>
            <a:r>
              <a:rPr lang="en-US" altLang="zh-CN"/>
              <a:t>2020-2060</a:t>
            </a:r>
            <a:r>
              <a:rPr lang="zh-CN" altLang="en-US"/>
              <a:t>年，南极大陆架边缘本身为高营养盐区域，因此营养盐虽然出现下降信号，但由于海冰消退和升温，使得生产力明显上升，</a:t>
            </a:r>
            <a:r>
              <a:rPr lang="zh-CN" altLang="zh-CN" sz="1200" kern="1200">
                <a:solidFill>
                  <a:schemeClr val="tx1"/>
                </a:solidFill>
                <a:effectLst/>
                <a:latin typeface="+mn-lt"/>
                <a:ea typeface="+mn-ea"/>
                <a:cs typeface="+mn-cs"/>
              </a:rPr>
              <a:t>表层</a:t>
            </a:r>
            <a:r>
              <a:rPr lang="zh-CN" altLang="en-US" sz="1200" kern="1200">
                <a:solidFill>
                  <a:schemeClr val="tx1"/>
                </a:solidFill>
                <a:effectLst/>
                <a:latin typeface="+mn-lt"/>
                <a:ea typeface="+mn-ea"/>
                <a:cs typeface="+mn-cs"/>
              </a:rPr>
              <a:t>高净</a:t>
            </a:r>
            <a:r>
              <a:rPr lang="zh-CN" altLang="zh-CN" sz="1200" kern="1200">
                <a:solidFill>
                  <a:schemeClr val="tx1"/>
                </a:solidFill>
                <a:effectLst/>
                <a:latin typeface="+mn-lt"/>
                <a:ea typeface="+mn-ea"/>
                <a:cs typeface="+mn-cs"/>
              </a:rPr>
              <a:t>初级生产力影响底层颗粒有机碳通量的变化</a:t>
            </a:r>
            <a:r>
              <a:rPr lang="zh-CN" altLang="en-US" sz="1200" kern="1200">
                <a:solidFill>
                  <a:schemeClr val="tx1"/>
                </a:solidFill>
                <a:effectLst/>
                <a:latin typeface="+mn-lt"/>
                <a:ea typeface="+mn-ea"/>
                <a:cs typeface="+mn-cs"/>
              </a:rPr>
              <a:t>，识别到</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为</a:t>
            </a:r>
            <a:r>
              <a:rPr lang="en-US" altLang="zh-CN" sz="1200" kern="1200">
                <a:solidFill>
                  <a:schemeClr val="tx1"/>
                </a:solidFill>
                <a:effectLst/>
                <a:latin typeface="+mn-lt"/>
                <a:ea typeface="+mn-ea"/>
                <a:cs typeface="+mn-cs"/>
              </a:rPr>
              <a:t>2040-2060</a:t>
            </a:r>
            <a:r>
              <a:rPr lang="zh-CN" altLang="en-US" sz="1200" kern="1200">
                <a:solidFill>
                  <a:schemeClr val="tx1"/>
                </a:solidFill>
                <a:effectLst/>
                <a:latin typeface="+mn-lt"/>
                <a:ea typeface="+mn-ea"/>
                <a:cs typeface="+mn-cs"/>
              </a:rPr>
              <a:t>年</a:t>
            </a:r>
            <a:endParaRPr lang="zh-CN" altLang="en-US"/>
          </a:p>
        </p:txBody>
      </p:sp>
      <p:sp>
        <p:nvSpPr>
          <p:cNvPr id="4" name="灯片编号占位符 3">
            <a:extLst>
              <a:ext uri="{FF2B5EF4-FFF2-40B4-BE49-F238E27FC236}">
                <a16:creationId xmlns:a16="http://schemas.microsoft.com/office/drawing/2014/main" id="{0C3E0AEA-1C65-FC1D-39D7-25206D98BB37}"/>
              </a:ext>
            </a:extLst>
          </p:cNvPr>
          <p:cNvSpPr>
            <a:spLocks noGrp="1"/>
          </p:cNvSpPr>
          <p:nvPr>
            <p:ph type="sldNum" sz="quarter" idx="5"/>
          </p:nvPr>
        </p:nvSpPr>
        <p:spPr/>
        <p:txBody>
          <a:bodyPr/>
          <a:lstStyle/>
          <a:p>
            <a:fld id="{822C5C0B-CCBE-45E5-ABE8-0A7EDCD06DFE}" type="slidenum">
              <a:rPr lang="zh-CN" altLang="en-US" smtClean="0"/>
              <a:t>12</a:t>
            </a:fld>
            <a:endParaRPr lang="zh-CN" altLang="en-US"/>
          </a:p>
        </p:txBody>
      </p:sp>
    </p:spTree>
    <p:extLst>
      <p:ext uri="{BB962C8B-B14F-4D97-AF65-F5344CB8AC3E}">
        <p14:creationId xmlns:p14="http://schemas.microsoft.com/office/powerpoint/2010/main" val="27081465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33AF1-98F7-88D4-A2F8-2845881110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DFEFC5F-79EB-C55C-D386-FA85439EEC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754F1E-DF82-B2E1-75EB-54AAB8FE2F77}"/>
              </a:ext>
            </a:extLst>
          </p:cNvPr>
          <p:cNvSpPr>
            <a:spLocks noGrp="1"/>
          </p:cNvSpPr>
          <p:nvPr>
            <p:ph type="body" idx="1"/>
          </p:nvPr>
        </p:nvSpPr>
        <p:spPr/>
        <p:txBody>
          <a:bodyPr/>
          <a:lstStyle/>
          <a:p>
            <a:r>
              <a:rPr lang="zh-CN" altLang="en-US"/>
              <a:t>对于鱼类功能群变量来说，</a:t>
            </a:r>
            <a:r>
              <a:rPr lang="zh-CN" altLang="en-US" sz="1200" kern="1200">
                <a:solidFill>
                  <a:schemeClr val="tx1"/>
                </a:solidFill>
                <a:effectLst/>
                <a:latin typeface="+mn-lt"/>
                <a:ea typeface="+mn-ea"/>
                <a:cs typeface="+mn-cs"/>
              </a:rPr>
              <a:t>鱼类会</a:t>
            </a:r>
            <a:r>
              <a:rPr lang="zh-CN" altLang="zh-CN" sz="1200" kern="1200">
                <a:solidFill>
                  <a:schemeClr val="tx1"/>
                </a:solidFill>
                <a:effectLst/>
                <a:latin typeface="+mn-lt"/>
                <a:ea typeface="+mn-ea"/>
                <a:cs typeface="+mn-cs"/>
              </a:rPr>
              <a:t>同时受到食物</a:t>
            </a:r>
            <a:r>
              <a:rPr lang="zh-CN" altLang="en-US" sz="1200" kern="1200">
                <a:solidFill>
                  <a:schemeClr val="tx1"/>
                </a:solidFill>
                <a:effectLst/>
                <a:latin typeface="+mn-lt"/>
                <a:ea typeface="+mn-ea"/>
                <a:cs typeface="+mn-cs"/>
              </a:rPr>
              <a:t>供给</a:t>
            </a:r>
            <a:r>
              <a:rPr lang="zh-CN" altLang="zh-CN" sz="1200" kern="1200">
                <a:solidFill>
                  <a:schemeClr val="tx1"/>
                </a:solidFill>
                <a:effectLst/>
                <a:latin typeface="+mn-lt"/>
                <a:ea typeface="+mn-ea"/>
                <a:cs typeface="+mn-cs"/>
              </a:rPr>
              <a:t>和热适宜性下降双重压力，其气候变化信号会在营养级传递过程中进一步放大</a:t>
            </a:r>
            <a:r>
              <a:rPr lang="zh-CN" altLang="en-US" sz="1200" kern="1200">
                <a:solidFill>
                  <a:schemeClr val="tx1"/>
                </a:solidFill>
                <a:effectLst/>
                <a:latin typeface="+mn-lt"/>
                <a:ea typeface="+mn-ea"/>
                <a:cs typeface="+mn-cs"/>
              </a:rPr>
              <a:t>，赤道印度洋区域，饵料鱼和浮泳鱼都出现下降信号，饵料鱼</a:t>
            </a:r>
            <a:r>
              <a:rPr lang="zh-CN" altLang="zh-CN" sz="1200" kern="1200">
                <a:solidFill>
                  <a:schemeClr val="tx1"/>
                </a:solidFill>
                <a:effectLst/>
                <a:latin typeface="+mn-lt"/>
                <a:ea typeface="+mn-ea"/>
                <a:cs typeface="+mn-cs"/>
              </a:rPr>
              <a:t>受到中型浮游动物食物来源和上层热环境共同限制</a:t>
            </a:r>
            <a:r>
              <a:rPr lang="zh-CN" altLang="en-US" sz="1200" kern="1200">
                <a:solidFill>
                  <a:schemeClr val="tx1"/>
                </a:solidFill>
                <a:effectLst/>
                <a:latin typeface="+mn-lt"/>
                <a:ea typeface="+mn-ea"/>
                <a:cs typeface="+mn-cs"/>
              </a:rPr>
              <a:t>，</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为</a:t>
            </a:r>
            <a:r>
              <a:rPr lang="en-US" altLang="zh-CN" sz="1200" kern="1200">
                <a:solidFill>
                  <a:schemeClr val="tx1"/>
                </a:solidFill>
                <a:effectLst/>
                <a:latin typeface="+mn-lt"/>
                <a:ea typeface="+mn-ea"/>
                <a:cs typeface="+mn-cs"/>
              </a:rPr>
              <a:t>2000-2020</a:t>
            </a:r>
            <a:r>
              <a:rPr lang="zh-CN" altLang="en-US" sz="1200" kern="1200">
                <a:solidFill>
                  <a:schemeClr val="tx1"/>
                </a:solidFill>
                <a:effectLst/>
                <a:latin typeface="+mn-lt"/>
                <a:ea typeface="+mn-ea"/>
                <a:cs typeface="+mn-cs"/>
              </a:rPr>
              <a:t>年，浮泳鱼受到</a:t>
            </a:r>
            <a:r>
              <a:rPr lang="zh-CN" altLang="zh-CN" sz="1200" kern="1200">
                <a:solidFill>
                  <a:schemeClr val="tx1"/>
                </a:solidFill>
                <a:effectLst/>
                <a:latin typeface="+mn-lt"/>
                <a:ea typeface="+mn-ea"/>
                <a:cs typeface="+mn-cs"/>
              </a:rPr>
              <a:t>饵料鱼、中型浮游动物和上层升温多重压力</a:t>
            </a:r>
            <a:r>
              <a:rPr lang="zh-CN" altLang="en-US" sz="1200" kern="1200">
                <a:solidFill>
                  <a:schemeClr val="tx1"/>
                </a:solidFill>
                <a:effectLst/>
                <a:latin typeface="+mn-lt"/>
                <a:ea typeface="+mn-ea"/>
                <a:cs typeface="+mn-cs"/>
              </a:rPr>
              <a:t>，</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为</a:t>
            </a:r>
            <a:r>
              <a:rPr lang="en-US" altLang="zh-CN" sz="1200" kern="1200">
                <a:solidFill>
                  <a:schemeClr val="tx1"/>
                </a:solidFill>
                <a:effectLst/>
                <a:latin typeface="+mn-lt"/>
                <a:ea typeface="+mn-ea"/>
                <a:cs typeface="+mn-cs"/>
              </a:rPr>
              <a:t>1980-2000</a:t>
            </a:r>
            <a:r>
              <a:rPr lang="zh-CN" altLang="en-US" sz="1200" kern="1200">
                <a:solidFill>
                  <a:schemeClr val="tx1"/>
                </a:solidFill>
                <a:effectLst/>
                <a:latin typeface="+mn-lt"/>
                <a:ea typeface="+mn-ea"/>
                <a:cs typeface="+mn-cs"/>
              </a:rPr>
              <a:t>年，南极绕流区域由于净生产力的增加，食物供给中型浮游动物增加，饵料鱼和浮泳鱼上升</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为</a:t>
            </a:r>
            <a:r>
              <a:rPr lang="en-US" altLang="zh-CN" sz="1200" kern="1200">
                <a:solidFill>
                  <a:schemeClr val="tx1"/>
                </a:solidFill>
                <a:effectLst/>
                <a:latin typeface="+mn-lt"/>
                <a:ea typeface="+mn-ea"/>
                <a:cs typeface="+mn-cs"/>
              </a:rPr>
              <a:t>2000-2020</a:t>
            </a:r>
            <a:r>
              <a:rPr lang="zh-CN" altLang="en-US" sz="1200" kern="1200">
                <a:solidFill>
                  <a:schemeClr val="tx1"/>
                </a:solidFill>
                <a:effectLst/>
                <a:latin typeface="+mn-lt"/>
                <a:ea typeface="+mn-ea"/>
                <a:cs typeface="+mn-cs"/>
              </a:rPr>
              <a:t>年；南极大陆架边缘主要为底栖鱼类生活环境，受到</a:t>
            </a:r>
            <a:r>
              <a:rPr lang="zh-CN" altLang="zh-CN" sz="1200" kern="1200">
                <a:solidFill>
                  <a:schemeClr val="tx1"/>
                </a:solidFill>
                <a:effectLst/>
                <a:latin typeface="+mn-lt"/>
                <a:ea typeface="+mn-ea"/>
                <a:cs typeface="+mn-cs"/>
              </a:rPr>
              <a:t>底层颗粒有机碳输入和底层海洋温度调控</a:t>
            </a:r>
            <a:r>
              <a:rPr lang="zh-CN" altLang="en-US" sz="1200" kern="1200">
                <a:solidFill>
                  <a:schemeClr val="tx1"/>
                </a:solidFill>
                <a:effectLst/>
                <a:latin typeface="+mn-lt"/>
                <a:ea typeface="+mn-ea"/>
                <a:cs typeface="+mn-cs"/>
              </a:rPr>
              <a:t>，上升</a:t>
            </a:r>
            <a:r>
              <a:rPr lang="en-US" altLang="zh-CN" sz="1200" kern="1200">
                <a:solidFill>
                  <a:schemeClr val="tx1"/>
                </a:solidFill>
                <a:effectLst/>
                <a:latin typeface="+mn-lt"/>
                <a:ea typeface="+mn-ea"/>
                <a:cs typeface="+mn-cs"/>
              </a:rPr>
              <a:t>ToE</a:t>
            </a:r>
            <a:r>
              <a:rPr lang="zh-CN" altLang="en-US" sz="1200" kern="1200">
                <a:solidFill>
                  <a:schemeClr val="tx1"/>
                </a:solidFill>
                <a:effectLst/>
                <a:latin typeface="+mn-lt"/>
                <a:ea typeface="+mn-ea"/>
                <a:cs typeface="+mn-cs"/>
              </a:rPr>
              <a:t>为</a:t>
            </a:r>
            <a:r>
              <a:rPr lang="en-US" altLang="zh-CN" sz="1200" kern="1200">
                <a:solidFill>
                  <a:schemeClr val="tx1"/>
                </a:solidFill>
                <a:effectLst/>
                <a:latin typeface="+mn-lt"/>
                <a:ea typeface="+mn-ea"/>
                <a:cs typeface="+mn-cs"/>
              </a:rPr>
              <a:t>2000-2020</a:t>
            </a:r>
            <a:r>
              <a:rPr lang="zh-CN" altLang="en-US" sz="1200" kern="1200">
                <a:solidFill>
                  <a:schemeClr val="tx1"/>
                </a:solidFill>
                <a:effectLst/>
                <a:latin typeface="+mn-lt"/>
                <a:ea typeface="+mn-ea"/>
                <a:cs typeface="+mn-cs"/>
              </a:rPr>
              <a:t>年</a:t>
            </a:r>
            <a:endParaRPr lang="en-US" altLang="zh-CN" sz="120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81D7471-B576-E5C5-D427-A29B223F9E46}"/>
              </a:ext>
            </a:extLst>
          </p:cNvPr>
          <p:cNvSpPr>
            <a:spLocks noGrp="1"/>
          </p:cNvSpPr>
          <p:nvPr>
            <p:ph type="sldNum" sz="quarter" idx="5"/>
          </p:nvPr>
        </p:nvSpPr>
        <p:spPr/>
        <p:txBody>
          <a:bodyPr/>
          <a:lstStyle/>
          <a:p>
            <a:fld id="{822C5C0B-CCBE-45E5-ABE8-0A7EDCD06DFE}" type="slidenum">
              <a:rPr lang="zh-CN" altLang="en-US" smtClean="0"/>
              <a:t>13</a:t>
            </a:fld>
            <a:endParaRPr lang="zh-CN" altLang="en-US"/>
          </a:p>
        </p:txBody>
      </p:sp>
    </p:spTree>
    <p:extLst>
      <p:ext uri="{BB962C8B-B14F-4D97-AF65-F5344CB8AC3E}">
        <p14:creationId xmlns:p14="http://schemas.microsoft.com/office/powerpoint/2010/main" val="2957708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2DE2B-E5FA-609D-0C00-1CE1E7CBB1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7F4061-6A98-28C2-0BAD-1F11680A02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17E050-BAAC-2A70-CB36-DC7A4B7B4C5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a:solidFill>
                  <a:schemeClr val="tx1"/>
                </a:solidFill>
                <a:effectLst/>
                <a:latin typeface="+mn-lt"/>
                <a:ea typeface="+mn-ea"/>
                <a:cs typeface="+mn-cs"/>
              </a:rPr>
              <a:t>气候</a:t>
            </a:r>
            <a:r>
              <a:rPr lang="zh-CN" altLang="zh-CN" sz="1200" kern="1200">
                <a:solidFill>
                  <a:schemeClr val="tx1"/>
                </a:solidFill>
                <a:effectLst/>
                <a:latin typeface="+mn-lt"/>
                <a:ea typeface="+mn-ea"/>
                <a:cs typeface="+mn-cs"/>
              </a:rPr>
              <a:t>变化信号在全球海洋生态系统中的传播具有明显的营养级层次性</a:t>
            </a:r>
            <a:endParaRPr lang="zh-CN" altLang="en-US"/>
          </a:p>
        </p:txBody>
      </p:sp>
      <p:sp>
        <p:nvSpPr>
          <p:cNvPr id="4" name="灯片编号占位符 3">
            <a:extLst>
              <a:ext uri="{FF2B5EF4-FFF2-40B4-BE49-F238E27FC236}">
                <a16:creationId xmlns:a16="http://schemas.microsoft.com/office/drawing/2014/main" id="{AD2DF76D-9173-DBC6-1614-2CF2982D6DE4}"/>
              </a:ext>
            </a:extLst>
          </p:cNvPr>
          <p:cNvSpPr>
            <a:spLocks noGrp="1"/>
          </p:cNvSpPr>
          <p:nvPr>
            <p:ph type="sldNum" sz="quarter" idx="5"/>
          </p:nvPr>
        </p:nvSpPr>
        <p:spPr/>
        <p:txBody>
          <a:bodyPr/>
          <a:lstStyle/>
          <a:p>
            <a:fld id="{822C5C0B-CCBE-45E5-ABE8-0A7EDCD06DFE}" type="slidenum">
              <a:rPr lang="zh-CN" altLang="en-US" smtClean="0"/>
              <a:t>14</a:t>
            </a:fld>
            <a:endParaRPr lang="zh-CN" altLang="en-US"/>
          </a:p>
        </p:txBody>
      </p:sp>
    </p:spTree>
    <p:extLst>
      <p:ext uri="{BB962C8B-B14F-4D97-AF65-F5344CB8AC3E}">
        <p14:creationId xmlns:p14="http://schemas.microsoft.com/office/powerpoint/2010/main" val="37595533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29384-ACB3-A3E8-5F77-6F24AF15E2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8FD431-69CA-1EB4-A516-CFABF21BE9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158BFD-0A0C-61C1-4F80-D0DDD45DF0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a:p>
        </p:txBody>
      </p:sp>
      <p:sp>
        <p:nvSpPr>
          <p:cNvPr id="4" name="灯片编号占位符 3">
            <a:extLst>
              <a:ext uri="{FF2B5EF4-FFF2-40B4-BE49-F238E27FC236}">
                <a16:creationId xmlns:a16="http://schemas.microsoft.com/office/drawing/2014/main" id="{777A39C6-7E06-CF62-170B-2A56C5100892}"/>
              </a:ext>
            </a:extLst>
          </p:cNvPr>
          <p:cNvSpPr>
            <a:spLocks noGrp="1"/>
          </p:cNvSpPr>
          <p:nvPr>
            <p:ph type="sldNum" sz="quarter" idx="5"/>
          </p:nvPr>
        </p:nvSpPr>
        <p:spPr/>
        <p:txBody>
          <a:bodyPr/>
          <a:lstStyle/>
          <a:p>
            <a:fld id="{822C5C0B-CCBE-45E5-ABE8-0A7EDCD06DFE}" type="slidenum">
              <a:rPr lang="zh-CN" altLang="en-US" smtClean="0"/>
              <a:t>15</a:t>
            </a:fld>
            <a:endParaRPr lang="zh-CN" altLang="en-US"/>
          </a:p>
        </p:txBody>
      </p:sp>
    </p:spTree>
    <p:extLst>
      <p:ext uri="{BB962C8B-B14F-4D97-AF65-F5344CB8AC3E}">
        <p14:creationId xmlns:p14="http://schemas.microsoft.com/office/powerpoint/2010/main" val="347840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29384-ACB3-A3E8-5F77-6F24AF15E2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8FD431-69CA-1EB4-A516-CFABF21BE9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158BFD-0A0C-61C1-4F80-D0DDD45DF0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最后，衷心感谢各位老师对本论文的评阅与指导，感谢导师在论文选题、研究开展和修改过程中给予的悉心帮助，也感谢课题组师兄师姐和家人朋友一直以来的支持与鼓励</a:t>
            </a:r>
          </a:p>
        </p:txBody>
      </p:sp>
      <p:sp>
        <p:nvSpPr>
          <p:cNvPr id="4" name="灯片编号占位符 3">
            <a:extLst>
              <a:ext uri="{FF2B5EF4-FFF2-40B4-BE49-F238E27FC236}">
                <a16:creationId xmlns:a16="http://schemas.microsoft.com/office/drawing/2014/main" id="{777A39C6-7E06-CF62-170B-2A56C5100892}"/>
              </a:ext>
            </a:extLst>
          </p:cNvPr>
          <p:cNvSpPr>
            <a:spLocks noGrp="1"/>
          </p:cNvSpPr>
          <p:nvPr>
            <p:ph type="sldNum" sz="quarter" idx="5"/>
          </p:nvPr>
        </p:nvSpPr>
        <p:spPr/>
        <p:txBody>
          <a:bodyPr/>
          <a:lstStyle/>
          <a:p>
            <a:fld id="{822C5C0B-CCBE-45E5-ABE8-0A7EDCD06DFE}" type="slidenum">
              <a:rPr lang="zh-CN" altLang="en-US" smtClean="0"/>
              <a:t>16</a:t>
            </a:fld>
            <a:endParaRPr lang="zh-CN" altLang="en-US"/>
          </a:p>
        </p:txBody>
      </p:sp>
    </p:spTree>
    <p:extLst>
      <p:ext uri="{BB962C8B-B14F-4D97-AF65-F5344CB8AC3E}">
        <p14:creationId xmlns:p14="http://schemas.microsoft.com/office/powerpoint/2010/main" val="1991026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我的汇报到此结束，恳请各位老师批评指正。</a:t>
            </a:r>
          </a:p>
        </p:txBody>
      </p:sp>
      <p:sp>
        <p:nvSpPr>
          <p:cNvPr id="4" name="灯片编号占位符 3"/>
          <p:cNvSpPr>
            <a:spLocks noGrp="1"/>
          </p:cNvSpPr>
          <p:nvPr>
            <p:ph type="sldNum" sz="quarter" idx="5"/>
          </p:nvPr>
        </p:nvSpPr>
        <p:spPr/>
        <p:txBody>
          <a:bodyPr/>
          <a:lstStyle/>
          <a:p>
            <a:fld id="{822C5C0B-CCBE-45E5-ABE8-0A7EDCD06DFE}" type="slidenum">
              <a:rPr lang="zh-CN" altLang="en-US" smtClean="0"/>
              <a:t>17</a:t>
            </a:fld>
            <a:endParaRPr lang="zh-CN" altLang="en-US"/>
          </a:p>
        </p:txBody>
      </p:sp>
    </p:spTree>
    <p:extLst>
      <p:ext uri="{BB962C8B-B14F-4D97-AF65-F5344CB8AC3E}">
        <p14:creationId xmlns:p14="http://schemas.microsoft.com/office/powerpoint/2010/main" val="1387654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4"/>
          <a:srcRect t="7303"/>
          <a:stretch>
            <a:fillRect/>
          </a:stretch>
        </p:blipFill>
        <p:spPr>
          <a:xfrm>
            <a:off x="459740" y="390525"/>
            <a:ext cx="11274425" cy="6076950"/>
          </a:xfrm>
          <a:prstGeom prst="rect">
            <a:avLst/>
          </a:prstGeom>
        </p:spPr>
      </p:pic>
      <p:grpSp>
        <p:nvGrpSpPr>
          <p:cNvPr id="7" name="组合 6"/>
          <p:cNvGrpSpPr/>
          <p:nvPr/>
        </p:nvGrpSpPr>
        <p:grpSpPr>
          <a:xfrm>
            <a:off x="-28955" y="1"/>
            <a:ext cx="12249910" cy="6858000"/>
            <a:chOff x="-28955" y="1"/>
            <a:chExt cx="12249910" cy="6858000"/>
          </a:xfrm>
        </p:grpSpPr>
        <p:sp>
          <p:nvSpPr>
            <p:cNvPr id="8" name="矩形 7"/>
            <p:cNvSpPr/>
            <p:nvPr/>
          </p:nvSpPr>
          <p:spPr>
            <a:xfrm>
              <a:off x="436306" y="390832"/>
              <a:ext cx="11319388" cy="607633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任意多边形: 形状 8"/>
            <p:cNvSpPr/>
            <p:nvPr/>
          </p:nvSpPr>
          <p:spPr>
            <a:xfrm>
              <a:off x="9607347" y="1"/>
              <a:ext cx="2613608" cy="2014383"/>
            </a:xfrm>
            <a:custGeom>
              <a:avLst/>
              <a:gdLst>
                <a:gd name="connsiteX0" fmla="*/ 4903 w 2613608"/>
                <a:gd name="connsiteY0" fmla="*/ 0 h 2014383"/>
                <a:gd name="connsiteX1" fmla="*/ 2613608 w 2613608"/>
                <a:gd name="connsiteY1" fmla="*/ 0 h 2014383"/>
                <a:gd name="connsiteX2" fmla="*/ 2613608 w 2613608"/>
                <a:gd name="connsiteY2" fmla="*/ 1882005 h 2014383"/>
                <a:gd name="connsiteX3" fmla="*/ 2487433 w 2613608"/>
                <a:gd name="connsiteY3" fmla="*/ 1928185 h 2014383"/>
                <a:gd name="connsiteX4" fmla="*/ 1917290 w 2613608"/>
                <a:gd name="connsiteY4" fmla="*/ 2014383 h 2014383"/>
                <a:gd name="connsiteX5" fmla="*/ 0 w 2613608"/>
                <a:gd name="connsiteY5" fmla="*/ 97093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3608" h="2014383">
                  <a:moveTo>
                    <a:pt x="4903" y="0"/>
                  </a:moveTo>
                  <a:lnTo>
                    <a:pt x="2613608" y="0"/>
                  </a:lnTo>
                  <a:lnTo>
                    <a:pt x="2613608" y="1882005"/>
                  </a:lnTo>
                  <a:lnTo>
                    <a:pt x="2487433" y="1928185"/>
                  </a:lnTo>
                  <a:cubicBezTo>
                    <a:pt x="2307325" y="1984205"/>
                    <a:pt x="2115832" y="2014383"/>
                    <a:pt x="1917290" y="2014383"/>
                  </a:cubicBezTo>
                  <a:cubicBezTo>
                    <a:pt x="858400" y="2014383"/>
                    <a:pt x="0" y="1155983"/>
                    <a:pt x="0" y="97093"/>
                  </a:cubicBezTo>
                  <a:close/>
                </a:path>
              </a:pathLst>
            </a:custGeom>
            <a:solidFill>
              <a:srgbClr val="BAE2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任意多边形: 形状 10"/>
            <p:cNvSpPr/>
            <p:nvPr/>
          </p:nvSpPr>
          <p:spPr>
            <a:xfrm>
              <a:off x="-28955" y="4843618"/>
              <a:ext cx="2613608" cy="2014383"/>
            </a:xfrm>
            <a:custGeom>
              <a:avLst/>
              <a:gdLst>
                <a:gd name="connsiteX0" fmla="*/ 696318 w 2613608"/>
                <a:gd name="connsiteY0" fmla="*/ 0 h 2014383"/>
                <a:gd name="connsiteX1" fmla="*/ 2613608 w 2613608"/>
                <a:gd name="connsiteY1" fmla="*/ 1917290 h 2014383"/>
                <a:gd name="connsiteX2" fmla="*/ 2608705 w 2613608"/>
                <a:gd name="connsiteY2" fmla="*/ 2014383 h 2014383"/>
                <a:gd name="connsiteX3" fmla="*/ 0 w 2613608"/>
                <a:gd name="connsiteY3" fmla="*/ 2014383 h 2014383"/>
                <a:gd name="connsiteX4" fmla="*/ 0 w 2613608"/>
                <a:gd name="connsiteY4" fmla="*/ 132378 h 2014383"/>
                <a:gd name="connsiteX5" fmla="*/ 126175 w 2613608"/>
                <a:gd name="connsiteY5" fmla="*/ 86198 h 2014383"/>
                <a:gd name="connsiteX6" fmla="*/ 696318 w 2613608"/>
                <a:gd name="connsiteY6" fmla="*/ 0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3608" h="2014383">
                  <a:moveTo>
                    <a:pt x="696318" y="0"/>
                  </a:moveTo>
                  <a:cubicBezTo>
                    <a:pt x="1755208" y="0"/>
                    <a:pt x="2613608" y="858400"/>
                    <a:pt x="2613608" y="1917290"/>
                  </a:cubicBezTo>
                  <a:lnTo>
                    <a:pt x="2608705" y="2014383"/>
                  </a:lnTo>
                  <a:lnTo>
                    <a:pt x="0" y="2014383"/>
                  </a:lnTo>
                  <a:lnTo>
                    <a:pt x="0" y="132378"/>
                  </a:lnTo>
                  <a:lnTo>
                    <a:pt x="126175" y="86198"/>
                  </a:lnTo>
                  <a:cubicBezTo>
                    <a:pt x="306283" y="30178"/>
                    <a:pt x="497776" y="0"/>
                    <a:pt x="696318" y="0"/>
                  </a:cubicBezTo>
                  <a:close/>
                </a:path>
              </a:pathLst>
            </a:custGeom>
            <a:solidFill>
              <a:srgbClr val="BAE2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3" name="组合 12"/>
            <p:cNvGrpSpPr/>
            <p:nvPr/>
          </p:nvGrpSpPr>
          <p:grpSpPr>
            <a:xfrm>
              <a:off x="11662673" y="499894"/>
              <a:ext cx="186041" cy="1133803"/>
              <a:chOff x="5559847" y="2479549"/>
              <a:chExt cx="521110" cy="3175843"/>
            </a:xfrm>
            <a:solidFill>
              <a:schemeClr val="accent1"/>
            </a:solidFill>
          </p:grpSpPr>
          <p:sp>
            <p:nvSpPr>
              <p:cNvPr id="20" name="等腰三角形 19"/>
              <p:cNvSpPr/>
              <p:nvPr/>
            </p:nvSpPr>
            <p:spPr>
              <a:xfrm>
                <a:off x="5559847" y="2479549"/>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等腰三角形 20"/>
              <p:cNvSpPr/>
              <p:nvPr/>
            </p:nvSpPr>
            <p:spPr>
              <a:xfrm>
                <a:off x="5559847" y="3161202"/>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等腰三角形 21"/>
              <p:cNvSpPr/>
              <p:nvPr/>
            </p:nvSpPr>
            <p:spPr>
              <a:xfrm>
                <a:off x="5559847" y="3842855"/>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等腰三角形 22"/>
              <p:cNvSpPr/>
              <p:nvPr/>
            </p:nvSpPr>
            <p:spPr>
              <a:xfrm>
                <a:off x="5559847" y="4524508"/>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等腰三角形 23"/>
              <p:cNvSpPr/>
              <p:nvPr/>
            </p:nvSpPr>
            <p:spPr>
              <a:xfrm>
                <a:off x="5559847" y="5206159"/>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4" name="组合 13"/>
            <p:cNvGrpSpPr/>
            <p:nvPr/>
          </p:nvGrpSpPr>
          <p:grpSpPr>
            <a:xfrm>
              <a:off x="371707" y="5333365"/>
              <a:ext cx="186041" cy="1133803"/>
              <a:chOff x="5559847" y="2479549"/>
              <a:chExt cx="521110" cy="3175843"/>
            </a:xfrm>
            <a:solidFill>
              <a:schemeClr val="accent1"/>
            </a:solidFill>
          </p:grpSpPr>
          <p:sp>
            <p:nvSpPr>
              <p:cNvPr id="15" name="等腰三角形 14"/>
              <p:cNvSpPr/>
              <p:nvPr/>
            </p:nvSpPr>
            <p:spPr>
              <a:xfrm>
                <a:off x="5559847" y="2479549"/>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等腰三角形 15"/>
              <p:cNvSpPr/>
              <p:nvPr/>
            </p:nvSpPr>
            <p:spPr>
              <a:xfrm>
                <a:off x="5559847" y="3161202"/>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等腰三角形 16"/>
              <p:cNvSpPr/>
              <p:nvPr/>
            </p:nvSpPr>
            <p:spPr>
              <a:xfrm>
                <a:off x="5559847" y="3842855"/>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等腰三角形 17"/>
              <p:cNvSpPr/>
              <p:nvPr/>
            </p:nvSpPr>
            <p:spPr>
              <a:xfrm>
                <a:off x="5559847" y="4524508"/>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等腰三角形 18"/>
              <p:cNvSpPr/>
              <p:nvPr/>
            </p:nvSpPr>
            <p:spPr>
              <a:xfrm>
                <a:off x="5559847" y="5206159"/>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25" name="组合 24"/>
          <p:cNvGrpSpPr/>
          <p:nvPr userDrawn="1"/>
        </p:nvGrpSpPr>
        <p:grpSpPr>
          <a:xfrm>
            <a:off x="10757221" y="5846823"/>
            <a:ext cx="767416" cy="433219"/>
            <a:chOff x="4468761" y="1799303"/>
            <a:chExt cx="914400" cy="516194"/>
          </a:xfrm>
          <a:solidFill>
            <a:schemeClr val="accent1">
              <a:lumMod val="20000"/>
              <a:lumOff val="80000"/>
            </a:schemeClr>
          </a:solidFill>
        </p:grpSpPr>
        <p:sp>
          <p:nvSpPr>
            <p:cNvPr id="26" name="矩形 25"/>
            <p:cNvSpPr/>
            <p:nvPr/>
          </p:nvSpPr>
          <p:spPr>
            <a:xfrm>
              <a:off x="4468761" y="1799303"/>
              <a:ext cx="914400" cy="114917"/>
            </a:xfrm>
            <a:prstGeom prst="rect">
              <a:avLst/>
            </a:prstGeom>
            <a:solidFill>
              <a:srgbClr val="BAE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7" name="矩形 26"/>
            <p:cNvSpPr/>
            <p:nvPr/>
          </p:nvSpPr>
          <p:spPr>
            <a:xfrm>
              <a:off x="4468761" y="1999942"/>
              <a:ext cx="914400" cy="114917"/>
            </a:xfrm>
            <a:prstGeom prst="rect">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8" name="矩形 27"/>
            <p:cNvSpPr/>
            <p:nvPr/>
          </p:nvSpPr>
          <p:spPr>
            <a:xfrm>
              <a:off x="4468761" y="2200580"/>
              <a:ext cx="914400" cy="114917"/>
            </a:xfrm>
            <a:prstGeom prst="rect">
              <a:avLst/>
            </a:prstGeom>
            <a:solidFill>
              <a:srgbClr val="BAE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45" name="图片 44" descr="1"/>
          <p:cNvPicPr>
            <a:picLocks noChangeAspect="1"/>
          </p:cNvPicPr>
          <p:nvPr/>
        </p:nvPicPr>
        <p:blipFill>
          <a:blip r:embed="rId5"/>
          <a:stretch>
            <a:fillRect/>
          </a:stretch>
        </p:blipFill>
        <p:spPr>
          <a:xfrm>
            <a:off x="631825" y="565785"/>
            <a:ext cx="2464435" cy="707390"/>
          </a:xfrm>
          <a:prstGeom prst="rect">
            <a:avLst/>
          </a:prstGeom>
        </p:spPr>
      </p:pic>
      <p:sp>
        <p:nvSpPr>
          <p:cNvPr id="2" name="矩形: 圆角 4"/>
          <p:cNvSpPr/>
          <p:nvPr>
            <p:custDataLst>
              <p:tags r:id="rId1"/>
            </p:custDataLst>
          </p:nvPr>
        </p:nvSpPr>
        <p:spPr>
          <a:xfrm>
            <a:off x="921385" y="2152650"/>
            <a:ext cx="10354945" cy="2596515"/>
          </a:xfrm>
          <a:prstGeom prst="roundRect">
            <a:avLst>
              <a:gd name="adj" fmla="val 0"/>
            </a:avLst>
          </a:prstGeom>
          <a:solidFill>
            <a:srgbClr val="FFFFFF">
              <a:alpha val="79000"/>
            </a:srgbClr>
          </a:solidFill>
          <a:ln w="28575" cmpd="sng">
            <a:noFill/>
            <a:prstDash val="solid"/>
          </a:ln>
          <a:effectLst>
            <a:outerShdw blurRad="127000" dist="25400" dir="2700000" algn="tl"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dk1"/>
              </a:solidFill>
              <a:sym typeface="+mn-ea"/>
            </a:endParaRPr>
          </a:p>
        </p:txBody>
      </p:sp>
      <p:sp>
        <p:nvSpPr>
          <p:cNvPr id="3" name="矩形 2"/>
          <p:cNvSpPr/>
          <p:nvPr/>
        </p:nvSpPr>
        <p:spPr>
          <a:xfrm>
            <a:off x="2294317" y="2395837"/>
            <a:ext cx="7603367" cy="1066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dist"/>
            <a:r>
              <a:rPr lang="zh-CN" altLang="en-US" sz="5400" b="1" dirty="0">
                <a:solidFill>
                  <a:schemeClr val="tx1"/>
                </a:solidFill>
                <a:latin typeface="微软雅黑" panose="020B0503020204020204" pitchFamily="34" charset="-122"/>
                <a:ea typeface="微软雅黑" panose="020B0503020204020204" pitchFamily="34" charset="-122"/>
                <a:cs typeface="+mn-ea"/>
                <a:sym typeface="+mn-lt"/>
              </a:rPr>
              <a:t>全球海洋生态系统气候变化信号出现时间研究</a:t>
            </a:r>
          </a:p>
        </p:txBody>
      </p:sp>
      <p:sp>
        <p:nvSpPr>
          <p:cNvPr id="4" name="文本框 21"/>
          <p:cNvSpPr txBox="1"/>
          <p:nvPr/>
        </p:nvSpPr>
        <p:spPr>
          <a:xfrm>
            <a:off x="2584635" y="3618212"/>
            <a:ext cx="7425319" cy="447174"/>
          </a:xfrm>
          <a:prstGeom prst="rect">
            <a:avLst/>
          </a:prstGeom>
          <a:noFill/>
          <a:ln>
            <a:noFill/>
          </a:ln>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000"/>
              </a:lnSpc>
            </a:pPr>
            <a:r>
              <a:rPr lang="zh-CN" altLang="en-US" sz="2000" spc="600">
                <a:solidFill>
                  <a:srgbClr val="005FA5"/>
                </a:solidFill>
                <a:latin typeface="微软雅黑" panose="020B0503020204020204" pitchFamily="34" charset="-122"/>
                <a:ea typeface="微软雅黑" panose="020B0503020204020204" pitchFamily="34" charset="-122"/>
                <a:cs typeface="+mn-ea"/>
                <a:sym typeface="+mn-lt"/>
              </a:rPr>
              <a:t>海洋与地球学院</a:t>
            </a:r>
            <a:r>
              <a:rPr lang="en-US" altLang="zh-CN" sz="2000" spc="600">
                <a:solidFill>
                  <a:srgbClr val="005FA5"/>
                </a:solidFill>
                <a:latin typeface="微软雅黑" panose="020B0503020204020204" pitchFamily="34" charset="-122"/>
                <a:ea typeface="微软雅黑" panose="020B0503020204020204" pitchFamily="34" charset="-122"/>
                <a:cs typeface="+mn-ea"/>
                <a:sym typeface="+mn-lt"/>
              </a:rPr>
              <a:t>/22</a:t>
            </a:r>
            <a:r>
              <a:rPr lang="zh-CN" altLang="en-US" sz="2000" spc="600">
                <a:solidFill>
                  <a:srgbClr val="005FA5"/>
                </a:solidFill>
                <a:latin typeface="微软雅黑" panose="020B0503020204020204" pitchFamily="34" charset="-122"/>
                <a:ea typeface="微软雅黑" panose="020B0503020204020204" pitchFamily="34" charset="-122"/>
                <a:cs typeface="+mn-ea"/>
                <a:sym typeface="+mn-lt"/>
              </a:rPr>
              <a:t>级</a:t>
            </a:r>
            <a:r>
              <a:rPr lang="en-US" altLang="zh-CN" sz="2000" spc="600">
                <a:solidFill>
                  <a:srgbClr val="005FA5"/>
                </a:solidFill>
                <a:latin typeface="微软雅黑" panose="020B0503020204020204" pitchFamily="34" charset="-122"/>
                <a:ea typeface="微软雅黑" panose="020B0503020204020204" pitchFamily="34" charset="-122"/>
                <a:cs typeface="+mn-ea"/>
                <a:sym typeface="+mn-lt"/>
              </a:rPr>
              <a:t>5</a:t>
            </a:r>
            <a:r>
              <a:rPr lang="zh-CN" altLang="en-US" sz="2000" spc="600">
                <a:solidFill>
                  <a:srgbClr val="005FA5"/>
                </a:solidFill>
                <a:latin typeface="微软雅黑" panose="020B0503020204020204" pitchFamily="34" charset="-122"/>
                <a:ea typeface="微软雅黑" panose="020B0503020204020204" pitchFamily="34" charset="-122"/>
                <a:cs typeface="+mn-ea"/>
                <a:sym typeface="+mn-lt"/>
              </a:rPr>
              <a:t>班</a:t>
            </a:r>
            <a:r>
              <a:rPr lang="en-US" altLang="zh-CN" sz="2000" spc="600">
                <a:solidFill>
                  <a:srgbClr val="005FA5"/>
                </a:solidFill>
                <a:latin typeface="微软雅黑" panose="020B0503020204020204" pitchFamily="34" charset="-122"/>
                <a:ea typeface="微软雅黑" panose="020B0503020204020204" pitchFamily="34" charset="-122"/>
                <a:cs typeface="+mn-ea"/>
                <a:sym typeface="+mn-lt"/>
              </a:rPr>
              <a:t>/</a:t>
            </a:r>
            <a:r>
              <a:rPr lang="zh-CN" altLang="en-US" sz="2000" spc="600">
                <a:solidFill>
                  <a:srgbClr val="005FA5"/>
                </a:solidFill>
                <a:latin typeface="微软雅黑" panose="020B0503020204020204" pitchFamily="34" charset="-122"/>
                <a:ea typeface="微软雅黑" panose="020B0503020204020204" pitchFamily="34" charset="-122"/>
                <a:cs typeface="+mn-ea"/>
                <a:sym typeface="+mn-lt"/>
              </a:rPr>
              <a:t>海洋科学</a:t>
            </a:r>
          </a:p>
        </p:txBody>
      </p:sp>
      <p:sp>
        <p:nvSpPr>
          <p:cNvPr id="5" name="矩形 4"/>
          <p:cNvSpPr/>
          <p:nvPr/>
        </p:nvSpPr>
        <p:spPr>
          <a:xfrm>
            <a:off x="3488811" y="4270504"/>
            <a:ext cx="2922944" cy="338554"/>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a:latin typeface="微软雅黑" panose="020B0503020204020204" pitchFamily="34" charset="-122"/>
                <a:ea typeface="微软雅黑" panose="020B0503020204020204" pitchFamily="34" charset="-122"/>
                <a:cs typeface="+mn-ea"/>
                <a:sym typeface="+mn-lt"/>
              </a:rPr>
              <a:t>指导老师：王杉霖 教授</a:t>
            </a:r>
          </a:p>
        </p:txBody>
      </p:sp>
      <p:sp>
        <p:nvSpPr>
          <p:cNvPr id="10" name="图形"/>
          <p:cNvSpPr>
            <a:spLocks noChangeAspect="1"/>
          </p:cNvSpPr>
          <p:nvPr/>
        </p:nvSpPr>
        <p:spPr bwMode="auto">
          <a:xfrm>
            <a:off x="3581830" y="4268111"/>
            <a:ext cx="226864" cy="254198"/>
          </a:xfrm>
          <a:custGeom>
            <a:avLst/>
            <a:gdLst>
              <a:gd name="T0" fmla="*/ 1931 w 2597"/>
              <a:gd name="T1" fmla="*/ 807 h 2914"/>
              <a:gd name="T2" fmla="*/ 1741 w 2597"/>
              <a:gd name="T3" fmla="*/ 141 h 2914"/>
              <a:gd name="T4" fmla="*/ 1037 w 2597"/>
              <a:gd name="T5" fmla="*/ 90 h 2914"/>
              <a:gd name="T6" fmla="*/ 646 w 2597"/>
              <a:gd name="T7" fmla="*/ 436 h 2914"/>
              <a:gd name="T8" fmla="*/ 665 w 2597"/>
              <a:gd name="T9" fmla="*/ 807 h 2914"/>
              <a:gd name="T10" fmla="*/ 593 w 2597"/>
              <a:gd name="T11" fmla="*/ 1085 h 2914"/>
              <a:gd name="T12" fmla="*/ 989 w 2597"/>
              <a:gd name="T13" fmla="*/ 1588 h 2914"/>
              <a:gd name="T14" fmla="*/ 1298 w 2597"/>
              <a:gd name="T15" fmla="*/ 1696 h 2914"/>
              <a:gd name="T16" fmla="*/ 1608 w 2597"/>
              <a:gd name="T17" fmla="*/ 1588 h 2914"/>
              <a:gd name="T18" fmla="*/ 2003 w 2597"/>
              <a:gd name="T19" fmla="*/ 1085 h 2914"/>
              <a:gd name="T20" fmla="*/ 1874 w 2597"/>
              <a:gd name="T21" fmla="*/ 1052 h 2914"/>
              <a:gd name="T22" fmla="*/ 1766 w 2597"/>
              <a:gd name="T23" fmla="*/ 1173 h 2914"/>
              <a:gd name="T24" fmla="*/ 1517 w 2597"/>
              <a:gd name="T25" fmla="*/ 1490 h 2914"/>
              <a:gd name="T26" fmla="*/ 1156 w 2597"/>
              <a:gd name="T27" fmla="*/ 1536 h 2914"/>
              <a:gd name="T28" fmla="*/ 903 w 2597"/>
              <a:gd name="T29" fmla="*/ 1210 h 2914"/>
              <a:gd name="T30" fmla="*/ 830 w 2597"/>
              <a:gd name="T31" fmla="*/ 1173 h 2914"/>
              <a:gd name="T32" fmla="*/ 722 w 2597"/>
              <a:gd name="T33" fmla="*/ 1052 h 2914"/>
              <a:gd name="T34" fmla="*/ 745 w 2597"/>
              <a:gd name="T35" fmla="*/ 916 h 2914"/>
              <a:gd name="T36" fmla="*/ 800 w 2597"/>
              <a:gd name="T37" fmla="*/ 765 h 2914"/>
              <a:gd name="T38" fmla="*/ 1052 w 2597"/>
              <a:gd name="T39" fmla="*/ 526 h 2914"/>
              <a:gd name="T40" fmla="*/ 1795 w 2597"/>
              <a:gd name="T41" fmla="*/ 746 h 2914"/>
              <a:gd name="T42" fmla="*/ 1851 w 2597"/>
              <a:gd name="T43" fmla="*/ 916 h 2914"/>
              <a:gd name="T44" fmla="*/ 1874 w 2597"/>
              <a:gd name="T45" fmla="*/ 1052 h 2914"/>
              <a:gd name="T46" fmla="*/ 1719 w 2597"/>
              <a:gd name="T47" fmla="*/ 1709 h 2914"/>
              <a:gd name="T48" fmla="*/ 1632 w 2597"/>
              <a:gd name="T49" fmla="*/ 1748 h 2914"/>
              <a:gd name="T50" fmla="*/ 1456 w 2597"/>
              <a:gd name="T51" fmla="*/ 2070 h 2914"/>
              <a:gd name="T52" fmla="*/ 1496 w 2597"/>
              <a:gd name="T53" fmla="*/ 1895 h 2914"/>
              <a:gd name="T54" fmla="*/ 1156 w 2597"/>
              <a:gd name="T55" fmla="*/ 1865 h 2914"/>
              <a:gd name="T56" fmla="*/ 1094 w 2597"/>
              <a:gd name="T57" fmla="*/ 1957 h 2914"/>
              <a:gd name="T58" fmla="*/ 1111 w 2597"/>
              <a:gd name="T59" fmla="*/ 2153 h 2914"/>
              <a:gd name="T60" fmla="*/ 929 w 2597"/>
              <a:gd name="T61" fmla="*/ 1710 h 2914"/>
              <a:gd name="T62" fmla="*/ 294 w 2597"/>
              <a:gd name="T63" fmla="*/ 1942 h 2914"/>
              <a:gd name="T64" fmla="*/ 0 w 2597"/>
              <a:gd name="T65" fmla="*/ 2848 h 2914"/>
              <a:gd name="T66" fmla="*/ 2530 w 2597"/>
              <a:gd name="T67" fmla="*/ 2914 h 2914"/>
              <a:gd name="T68" fmla="*/ 2597 w 2597"/>
              <a:gd name="T69" fmla="*/ 2377 h 2914"/>
              <a:gd name="T70" fmla="*/ 2282 w 2597"/>
              <a:gd name="T71" fmla="*/ 2570 h 2914"/>
              <a:gd name="T72" fmla="*/ 1767 w 2597"/>
              <a:gd name="T73" fmla="*/ 2636 h 2914"/>
              <a:gd name="T74" fmla="*/ 1701 w 2597"/>
              <a:gd name="T75" fmla="*/ 2362 h 2914"/>
              <a:gd name="T76" fmla="*/ 2215 w 2597"/>
              <a:gd name="T77" fmla="*/ 2295 h 2914"/>
              <a:gd name="T78" fmla="*/ 2282 w 2597"/>
              <a:gd name="T79" fmla="*/ 2570 h 2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97" h="2914">
                <a:moveTo>
                  <a:pt x="1985" y="861"/>
                </a:moveTo>
                <a:cubicBezTo>
                  <a:pt x="1969" y="836"/>
                  <a:pt x="1949" y="819"/>
                  <a:pt x="1931" y="807"/>
                </a:cubicBezTo>
                <a:cubicBezTo>
                  <a:pt x="1931" y="776"/>
                  <a:pt x="1929" y="732"/>
                  <a:pt x="1922" y="682"/>
                </a:cubicBezTo>
                <a:cubicBezTo>
                  <a:pt x="1927" y="622"/>
                  <a:pt x="1944" y="290"/>
                  <a:pt x="1741" y="141"/>
                </a:cubicBezTo>
                <a:cubicBezTo>
                  <a:pt x="1616" y="49"/>
                  <a:pt x="1477" y="0"/>
                  <a:pt x="1338" y="0"/>
                </a:cubicBezTo>
                <a:cubicBezTo>
                  <a:pt x="1226" y="0"/>
                  <a:pt x="1119" y="32"/>
                  <a:pt x="1037" y="90"/>
                </a:cubicBezTo>
                <a:cubicBezTo>
                  <a:pt x="963" y="142"/>
                  <a:pt x="922" y="199"/>
                  <a:pt x="900" y="239"/>
                </a:cubicBezTo>
                <a:cubicBezTo>
                  <a:pt x="837" y="241"/>
                  <a:pt x="705" y="267"/>
                  <a:pt x="646" y="436"/>
                </a:cubicBezTo>
                <a:cubicBezTo>
                  <a:pt x="591" y="595"/>
                  <a:pt x="636" y="693"/>
                  <a:pt x="668" y="739"/>
                </a:cubicBezTo>
                <a:cubicBezTo>
                  <a:pt x="666" y="765"/>
                  <a:pt x="665" y="789"/>
                  <a:pt x="665" y="807"/>
                </a:cubicBezTo>
                <a:cubicBezTo>
                  <a:pt x="647" y="819"/>
                  <a:pt x="628" y="836"/>
                  <a:pt x="611" y="861"/>
                </a:cubicBezTo>
                <a:cubicBezTo>
                  <a:pt x="575" y="917"/>
                  <a:pt x="569" y="993"/>
                  <a:pt x="593" y="1085"/>
                </a:cubicBezTo>
                <a:cubicBezTo>
                  <a:pt x="638" y="1259"/>
                  <a:pt x="744" y="1297"/>
                  <a:pt x="801" y="1305"/>
                </a:cubicBezTo>
                <a:cubicBezTo>
                  <a:pt x="836" y="1374"/>
                  <a:pt x="912" y="1516"/>
                  <a:pt x="989" y="1588"/>
                </a:cubicBezTo>
                <a:cubicBezTo>
                  <a:pt x="1019" y="1616"/>
                  <a:pt x="1059" y="1641"/>
                  <a:pt x="1107" y="1659"/>
                </a:cubicBezTo>
                <a:cubicBezTo>
                  <a:pt x="1168" y="1684"/>
                  <a:pt x="1232" y="1696"/>
                  <a:pt x="1298" y="1696"/>
                </a:cubicBezTo>
                <a:cubicBezTo>
                  <a:pt x="1364" y="1696"/>
                  <a:pt x="1429" y="1684"/>
                  <a:pt x="1490" y="1659"/>
                </a:cubicBezTo>
                <a:cubicBezTo>
                  <a:pt x="1538" y="1641"/>
                  <a:pt x="1577" y="1616"/>
                  <a:pt x="1608" y="1588"/>
                </a:cubicBezTo>
                <a:cubicBezTo>
                  <a:pt x="1684" y="1516"/>
                  <a:pt x="1761" y="1374"/>
                  <a:pt x="1796" y="1305"/>
                </a:cubicBezTo>
                <a:cubicBezTo>
                  <a:pt x="1852" y="1297"/>
                  <a:pt x="1958" y="1259"/>
                  <a:pt x="2003" y="1085"/>
                </a:cubicBezTo>
                <a:cubicBezTo>
                  <a:pt x="2028" y="993"/>
                  <a:pt x="2022" y="917"/>
                  <a:pt x="1985" y="861"/>
                </a:cubicBezTo>
                <a:close/>
                <a:moveTo>
                  <a:pt x="1874" y="1052"/>
                </a:moveTo>
                <a:cubicBezTo>
                  <a:pt x="1847" y="1157"/>
                  <a:pt x="1797" y="1173"/>
                  <a:pt x="1770" y="1173"/>
                </a:cubicBezTo>
                <a:cubicBezTo>
                  <a:pt x="1768" y="1173"/>
                  <a:pt x="1767" y="1173"/>
                  <a:pt x="1766" y="1173"/>
                </a:cubicBezTo>
                <a:cubicBezTo>
                  <a:pt x="1735" y="1165"/>
                  <a:pt x="1707" y="1181"/>
                  <a:pt x="1693" y="1210"/>
                </a:cubicBezTo>
                <a:cubicBezTo>
                  <a:pt x="1667" y="1267"/>
                  <a:pt x="1584" y="1428"/>
                  <a:pt x="1517" y="1490"/>
                </a:cubicBezTo>
                <a:cubicBezTo>
                  <a:pt x="1499" y="1508"/>
                  <a:pt x="1473" y="1523"/>
                  <a:pt x="1441" y="1536"/>
                </a:cubicBezTo>
                <a:cubicBezTo>
                  <a:pt x="1350" y="1572"/>
                  <a:pt x="1246" y="1572"/>
                  <a:pt x="1156" y="1536"/>
                </a:cubicBezTo>
                <a:cubicBezTo>
                  <a:pt x="1124" y="1523"/>
                  <a:pt x="1098" y="1508"/>
                  <a:pt x="1080" y="1490"/>
                </a:cubicBezTo>
                <a:cubicBezTo>
                  <a:pt x="1013" y="1428"/>
                  <a:pt x="930" y="1267"/>
                  <a:pt x="903" y="1210"/>
                </a:cubicBezTo>
                <a:cubicBezTo>
                  <a:pt x="892" y="1186"/>
                  <a:pt x="870" y="1171"/>
                  <a:pt x="846" y="1171"/>
                </a:cubicBezTo>
                <a:cubicBezTo>
                  <a:pt x="841" y="1171"/>
                  <a:pt x="835" y="1172"/>
                  <a:pt x="830" y="1173"/>
                </a:cubicBezTo>
                <a:cubicBezTo>
                  <a:pt x="829" y="1173"/>
                  <a:pt x="828" y="1173"/>
                  <a:pt x="826" y="1173"/>
                </a:cubicBezTo>
                <a:cubicBezTo>
                  <a:pt x="799" y="1173"/>
                  <a:pt x="750" y="1157"/>
                  <a:pt x="722" y="1052"/>
                </a:cubicBezTo>
                <a:cubicBezTo>
                  <a:pt x="708" y="1000"/>
                  <a:pt x="708" y="958"/>
                  <a:pt x="722" y="935"/>
                </a:cubicBezTo>
                <a:cubicBezTo>
                  <a:pt x="730" y="921"/>
                  <a:pt x="742" y="917"/>
                  <a:pt x="745" y="916"/>
                </a:cubicBezTo>
                <a:cubicBezTo>
                  <a:pt x="781" y="912"/>
                  <a:pt x="803" y="880"/>
                  <a:pt x="800" y="844"/>
                </a:cubicBezTo>
                <a:cubicBezTo>
                  <a:pt x="800" y="843"/>
                  <a:pt x="797" y="812"/>
                  <a:pt x="800" y="765"/>
                </a:cubicBezTo>
                <a:cubicBezTo>
                  <a:pt x="846" y="745"/>
                  <a:pt x="920" y="707"/>
                  <a:pt x="981" y="640"/>
                </a:cubicBezTo>
                <a:cubicBezTo>
                  <a:pt x="1013" y="606"/>
                  <a:pt x="1036" y="564"/>
                  <a:pt x="1052" y="526"/>
                </a:cubicBezTo>
                <a:cubicBezTo>
                  <a:pt x="1097" y="562"/>
                  <a:pt x="1160" y="605"/>
                  <a:pt x="1244" y="642"/>
                </a:cubicBezTo>
                <a:cubicBezTo>
                  <a:pt x="1387" y="706"/>
                  <a:pt x="1674" y="736"/>
                  <a:pt x="1795" y="746"/>
                </a:cubicBezTo>
                <a:cubicBezTo>
                  <a:pt x="1800" y="804"/>
                  <a:pt x="1797" y="843"/>
                  <a:pt x="1797" y="844"/>
                </a:cubicBezTo>
                <a:cubicBezTo>
                  <a:pt x="1793" y="880"/>
                  <a:pt x="1815" y="912"/>
                  <a:pt x="1851" y="916"/>
                </a:cubicBezTo>
                <a:cubicBezTo>
                  <a:pt x="1855" y="917"/>
                  <a:pt x="1866" y="921"/>
                  <a:pt x="1874" y="935"/>
                </a:cubicBezTo>
                <a:cubicBezTo>
                  <a:pt x="1888" y="958"/>
                  <a:pt x="1888" y="1000"/>
                  <a:pt x="1874" y="1052"/>
                </a:cubicBezTo>
                <a:close/>
                <a:moveTo>
                  <a:pt x="2302" y="1942"/>
                </a:moveTo>
                <a:lnTo>
                  <a:pt x="1719" y="1709"/>
                </a:lnTo>
                <a:cubicBezTo>
                  <a:pt x="1702" y="1702"/>
                  <a:pt x="1684" y="1703"/>
                  <a:pt x="1667" y="1710"/>
                </a:cubicBezTo>
                <a:cubicBezTo>
                  <a:pt x="1651" y="1717"/>
                  <a:pt x="1638" y="1731"/>
                  <a:pt x="1632" y="1748"/>
                </a:cubicBezTo>
                <a:lnTo>
                  <a:pt x="1485" y="2153"/>
                </a:lnTo>
                <a:lnTo>
                  <a:pt x="1456" y="2070"/>
                </a:lnTo>
                <a:lnTo>
                  <a:pt x="1502" y="1957"/>
                </a:lnTo>
                <a:cubicBezTo>
                  <a:pt x="1511" y="1936"/>
                  <a:pt x="1508" y="1913"/>
                  <a:pt x="1496" y="1895"/>
                </a:cubicBezTo>
                <a:cubicBezTo>
                  <a:pt x="1484" y="1876"/>
                  <a:pt x="1463" y="1865"/>
                  <a:pt x="1441" y="1865"/>
                </a:cubicBezTo>
                <a:lnTo>
                  <a:pt x="1156" y="1865"/>
                </a:lnTo>
                <a:cubicBezTo>
                  <a:pt x="1134" y="1865"/>
                  <a:pt x="1113" y="1876"/>
                  <a:pt x="1101" y="1895"/>
                </a:cubicBezTo>
                <a:cubicBezTo>
                  <a:pt x="1088" y="1913"/>
                  <a:pt x="1086" y="1936"/>
                  <a:pt x="1094" y="1957"/>
                </a:cubicBezTo>
                <a:lnTo>
                  <a:pt x="1140" y="2070"/>
                </a:lnTo>
                <a:lnTo>
                  <a:pt x="1111" y="2153"/>
                </a:lnTo>
                <a:lnTo>
                  <a:pt x="965" y="1748"/>
                </a:lnTo>
                <a:cubicBezTo>
                  <a:pt x="959" y="1731"/>
                  <a:pt x="946" y="1717"/>
                  <a:pt x="929" y="1710"/>
                </a:cubicBezTo>
                <a:cubicBezTo>
                  <a:pt x="913" y="1703"/>
                  <a:pt x="894" y="1702"/>
                  <a:pt x="877" y="1709"/>
                </a:cubicBezTo>
                <a:lnTo>
                  <a:pt x="294" y="1942"/>
                </a:lnTo>
                <a:cubicBezTo>
                  <a:pt x="115" y="2014"/>
                  <a:pt x="0" y="2184"/>
                  <a:pt x="0" y="2377"/>
                </a:cubicBezTo>
                <a:lnTo>
                  <a:pt x="0" y="2848"/>
                </a:lnTo>
                <a:cubicBezTo>
                  <a:pt x="0" y="2885"/>
                  <a:pt x="30" y="2914"/>
                  <a:pt x="66" y="2914"/>
                </a:cubicBezTo>
                <a:lnTo>
                  <a:pt x="2530" y="2914"/>
                </a:lnTo>
                <a:cubicBezTo>
                  <a:pt x="2567" y="2914"/>
                  <a:pt x="2597" y="2885"/>
                  <a:pt x="2597" y="2848"/>
                </a:cubicBezTo>
                <a:lnTo>
                  <a:pt x="2597" y="2377"/>
                </a:lnTo>
                <a:cubicBezTo>
                  <a:pt x="2597" y="2184"/>
                  <a:pt x="2481" y="2014"/>
                  <a:pt x="2302" y="1942"/>
                </a:cubicBezTo>
                <a:close/>
                <a:moveTo>
                  <a:pt x="2282" y="2570"/>
                </a:moveTo>
                <a:cubicBezTo>
                  <a:pt x="2282" y="2606"/>
                  <a:pt x="2252" y="2636"/>
                  <a:pt x="2215" y="2636"/>
                </a:cubicBezTo>
                <a:lnTo>
                  <a:pt x="1767" y="2636"/>
                </a:lnTo>
                <a:cubicBezTo>
                  <a:pt x="1731" y="2636"/>
                  <a:pt x="1701" y="2606"/>
                  <a:pt x="1701" y="2570"/>
                </a:cubicBezTo>
                <a:lnTo>
                  <a:pt x="1701" y="2362"/>
                </a:lnTo>
                <a:cubicBezTo>
                  <a:pt x="1701" y="2325"/>
                  <a:pt x="1731" y="2295"/>
                  <a:pt x="1767" y="2295"/>
                </a:cubicBezTo>
                <a:lnTo>
                  <a:pt x="2215" y="2295"/>
                </a:lnTo>
                <a:cubicBezTo>
                  <a:pt x="2252" y="2295"/>
                  <a:pt x="2282" y="2325"/>
                  <a:pt x="2282" y="2362"/>
                </a:cubicBezTo>
                <a:lnTo>
                  <a:pt x="2282" y="2570"/>
                </a:ln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a:cs typeface="+mn-ea"/>
              <a:sym typeface="+mn-lt"/>
            </a:endParaRPr>
          </a:p>
        </p:txBody>
      </p:sp>
      <p:sp>
        <p:nvSpPr>
          <p:cNvPr id="29" name="矩形 28"/>
          <p:cNvSpPr/>
          <p:nvPr/>
        </p:nvSpPr>
        <p:spPr>
          <a:xfrm>
            <a:off x="6503409" y="4237998"/>
            <a:ext cx="1988037" cy="338554"/>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dirty="0">
                <a:latin typeface="微软雅黑" panose="020B0503020204020204" pitchFamily="34" charset="-122"/>
                <a:ea typeface="微软雅黑" panose="020B0503020204020204" pitchFamily="34" charset="-122"/>
                <a:cs typeface="+mn-ea"/>
                <a:sym typeface="+mn-lt"/>
              </a:rPr>
              <a:t>答辩人：吴锴烨</a:t>
            </a:r>
          </a:p>
        </p:txBody>
      </p:sp>
      <p:sp>
        <p:nvSpPr>
          <p:cNvPr id="31" name="图形"/>
          <p:cNvSpPr>
            <a:spLocks noChangeAspect="1"/>
          </p:cNvSpPr>
          <p:nvPr/>
        </p:nvSpPr>
        <p:spPr bwMode="auto">
          <a:xfrm>
            <a:off x="6411755" y="4272898"/>
            <a:ext cx="254198" cy="249411"/>
          </a:xfrm>
          <a:custGeom>
            <a:avLst/>
            <a:gdLst>
              <a:gd name="T0" fmla="*/ 10234 w 10586"/>
              <a:gd name="T1" fmla="*/ 8579 h 10403"/>
              <a:gd name="T2" fmla="*/ 7877 w 10586"/>
              <a:gd name="T3" fmla="*/ 7605 h 10403"/>
              <a:gd name="T4" fmla="*/ 7647 w 10586"/>
              <a:gd name="T5" fmla="*/ 5423 h 10403"/>
              <a:gd name="T6" fmla="*/ 7758 w 10586"/>
              <a:gd name="T7" fmla="*/ 3791 h 10403"/>
              <a:gd name="T8" fmla="*/ 7679 w 10586"/>
              <a:gd name="T9" fmla="*/ 2943 h 10403"/>
              <a:gd name="T10" fmla="*/ 8116 w 10586"/>
              <a:gd name="T11" fmla="*/ 1246 h 10403"/>
              <a:gd name="T12" fmla="*/ 7943 w 10586"/>
              <a:gd name="T13" fmla="*/ 2955 h 10403"/>
              <a:gd name="T14" fmla="*/ 9242 w 10586"/>
              <a:gd name="T15" fmla="*/ 3318 h 10403"/>
              <a:gd name="T16" fmla="*/ 8888 w 10586"/>
              <a:gd name="T17" fmla="*/ 1967 h 10403"/>
              <a:gd name="T18" fmla="*/ 9573 w 10586"/>
              <a:gd name="T19" fmla="*/ 1246 h 10403"/>
              <a:gd name="T20" fmla="*/ 8421 w 10586"/>
              <a:gd name="T21" fmla="*/ 233 h 10403"/>
              <a:gd name="T22" fmla="*/ 5631 w 10586"/>
              <a:gd name="T23" fmla="*/ 0 h 10403"/>
              <a:gd name="T24" fmla="*/ 1013 w 10586"/>
              <a:gd name="T25" fmla="*/ 233 h 10403"/>
              <a:gd name="T26" fmla="*/ 2907 w 10586"/>
              <a:gd name="T27" fmla="*/ 1246 h 10403"/>
              <a:gd name="T28" fmla="*/ 2984 w 10586"/>
              <a:gd name="T29" fmla="*/ 2943 h 10403"/>
              <a:gd name="T30" fmla="*/ 2510 w 10586"/>
              <a:gd name="T31" fmla="*/ 4799 h 10403"/>
              <a:gd name="T32" fmla="*/ 3672 w 10586"/>
              <a:gd name="T33" fmla="*/ 7122 h 10403"/>
              <a:gd name="T34" fmla="*/ 826 w 10586"/>
              <a:gd name="T35" fmla="*/ 8270 h 10403"/>
              <a:gd name="T36" fmla="*/ 0 w 10586"/>
              <a:gd name="T37" fmla="*/ 10403 h 10403"/>
              <a:gd name="T38" fmla="*/ 10586 w 10586"/>
              <a:gd name="T39" fmla="*/ 10066 h 10403"/>
              <a:gd name="T40" fmla="*/ 937 w 10586"/>
              <a:gd name="T41" fmla="*/ 8940 h 10403"/>
              <a:gd name="T42" fmla="*/ 4360 w 10586"/>
              <a:gd name="T43" fmla="*/ 7212 h 10403"/>
              <a:gd name="T44" fmla="*/ 3604 w 10586"/>
              <a:gd name="T45" fmla="*/ 5223 h 10403"/>
              <a:gd name="T46" fmla="*/ 3417 w 10586"/>
              <a:gd name="T47" fmla="*/ 4921 h 10403"/>
              <a:gd name="T48" fmla="*/ 3400 w 10586"/>
              <a:gd name="T49" fmla="*/ 4158 h 10403"/>
              <a:gd name="T50" fmla="*/ 3490 w 10586"/>
              <a:gd name="T51" fmla="*/ 3960 h 10403"/>
              <a:gd name="T52" fmla="*/ 6902 w 10586"/>
              <a:gd name="T53" fmla="*/ 2943 h 10403"/>
              <a:gd name="T54" fmla="*/ 7107 w 10586"/>
              <a:gd name="T55" fmla="*/ 4074 h 10403"/>
              <a:gd name="T56" fmla="*/ 7410 w 10586"/>
              <a:gd name="T57" fmla="*/ 4679 h 10403"/>
              <a:gd name="T58" fmla="*/ 6982 w 10586"/>
              <a:gd name="T59" fmla="*/ 5014 h 10403"/>
              <a:gd name="T60" fmla="*/ 6433 w 10586"/>
              <a:gd name="T61" fmla="*/ 6649 h 10403"/>
              <a:gd name="T62" fmla="*/ 7658 w 10586"/>
              <a:gd name="T63" fmla="*/ 8245 h 10403"/>
              <a:gd name="T64" fmla="*/ 9649 w 10586"/>
              <a:gd name="T65" fmla="*/ 8940 h 10403"/>
              <a:gd name="T66" fmla="*/ 688 w 10586"/>
              <a:gd name="T67" fmla="*/ 9728 h 10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86" h="10403">
                <a:moveTo>
                  <a:pt x="10586" y="10066"/>
                </a:moveTo>
                <a:cubicBezTo>
                  <a:pt x="10586" y="9382"/>
                  <a:pt x="10468" y="8882"/>
                  <a:pt x="10234" y="8579"/>
                </a:cubicBezTo>
                <a:cubicBezTo>
                  <a:pt x="10084" y="8384"/>
                  <a:pt x="9904" y="8294"/>
                  <a:pt x="9762" y="8270"/>
                </a:cubicBezTo>
                <a:lnTo>
                  <a:pt x="7877" y="7605"/>
                </a:lnTo>
                <a:cubicBezTo>
                  <a:pt x="7193" y="7377"/>
                  <a:pt x="6978" y="7196"/>
                  <a:pt x="6914" y="7122"/>
                </a:cubicBezTo>
                <a:cubicBezTo>
                  <a:pt x="7474" y="6578"/>
                  <a:pt x="7613" y="5789"/>
                  <a:pt x="7647" y="5423"/>
                </a:cubicBezTo>
                <a:cubicBezTo>
                  <a:pt x="7940" y="5222"/>
                  <a:pt x="8043" y="4979"/>
                  <a:pt x="8075" y="4799"/>
                </a:cubicBezTo>
                <a:cubicBezTo>
                  <a:pt x="8153" y="4366"/>
                  <a:pt x="7897" y="3968"/>
                  <a:pt x="7758" y="3791"/>
                </a:cubicBezTo>
                <a:cubicBezTo>
                  <a:pt x="7725" y="3484"/>
                  <a:pt x="7671" y="3203"/>
                  <a:pt x="7602" y="2943"/>
                </a:cubicBezTo>
                <a:lnTo>
                  <a:pt x="7679" y="2943"/>
                </a:lnTo>
                <a:lnTo>
                  <a:pt x="7679" y="1246"/>
                </a:lnTo>
                <a:lnTo>
                  <a:pt x="8116" y="1246"/>
                </a:lnTo>
                <a:cubicBezTo>
                  <a:pt x="8151" y="1413"/>
                  <a:pt x="8182" y="1625"/>
                  <a:pt x="8205" y="1894"/>
                </a:cubicBezTo>
                <a:cubicBezTo>
                  <a:pt x="8105" y="2037"/>
                  <a:pt x="7989" y="2328"/>
                  <a:pt x="7943" y="2955"/>
                </a:cubicBezTo>
                <a:lnTo>
                  <a:pt x="7916" y="3318"/>
                </a:lnTo>
                <a:lnTo>
                  <a:pt x="9242" y="3318"/>
                </a:lnTo>
                <a:lnTo>
                  <a:pt x="9212" y="2952"/>
                </a:lnTo>
                <a:cubicBezTo>
                  <a:pt x="9173" y="2474"/>
                  <a:pt x="9006" y="2146"/>
                  <a:pt x="8888" y="1967"/>
                </a:cubicBezTo>
                <a:cubicBezTo>
                  <a:pt x="8868" y="1689"/>
                  <a:pt x="8838" y="1453"/>
                  <a:pt x="8801" y="1246"/>
                </a:cubicBezTo>
                <a:lnTo>
                  <a:pt x="9573" y="1246"/>
                </a:lnTo>
                <a:lnTo>
                  <a:pt x="9573" y="233"/>
                </a:lnTo>
                <a:lnTo>
                  <a:pt x="8421" y="233"/>
                </a:lnTo>
                <a:cubicBezTo>
                  <a:pt x="8272" y="51"/>
                  <a:pt x="8113" y="0"/>
                  <a:pt x="7986" y="0"/>
                </a:cubicBezTo>
                <a:lnTo>
                  <a:pt x="5631" y="0"/>
                </a:lnTo>
                <a:lnTo>
                  <a:pt x="5631" y="233"/>
                </a:lnTo>
                <a:lnTo>
                  <a:pt x="1013" y="233"/>
                </a:lnTo>
                <a:lnTo>
                  <a:pt x="1013" y="1246"/>
                </a:lnTo>
                <a:lnTo>
                  <a:pt x="2907" y="1246"/>
                </a:lnTo>
                <a:lnTo>
                  <a:pt x="2907" y="2943"/>
                </a:lnTo>
                <a:lnTo>
                  <a:pt x="2984" y="2943"/>
                </a:lnTo>
                <a:cubicBezTo>
                  <a:pt x="2915" y="3203"/>
                  <a:pt x="2861" y="3484"/>
                  <a:pt x="2828" y="3791"/>
                </a:cubicBezTo>
                <a:cubicBezTo>
                  <a:pt x="2689" y="3968"/>
                  <a:pt x="2433" y="4366"/>
                  <a:pt x="2510" y="4799"/>
                </a:cubicBezTo>
                <a:cubicBezTo>
                  <a:pt x="2543" y="4979"/>
                  <a:pt x="2646" y="5222"/>
                  <a:pt x="2939" y="5423"/>
                </a:cubicBezTo>
                <a:cubicBezTo>
                  <a:pt x="2974" y="5788"/>
                  <a:pt x="3112" y="6575"/>
                  <a:pt x="3672" y="7122"/>
                </a:cubicBezTo>
                <a:cubicBezTo>
                  <a:pt x="3608" y="7195"/>
                  <a:pt x="3392" y="7378"/>
                  <a:pt x="2703" y="7607"/>
                </a:cubicBezTo>
                <a:lnTo>
                  <a:pt x="826" y="8270"/>
                </a:lnTo>
                <a:cubicBezTo>
                  <a:pt x="586" y="8306"/>
                  <a:pt x="0" y="8550"/>
                  <a:pt x="0" y="10066"/>
                </a:cubicBezTo>
                <a:lnTo>
                  <a:pt x="0" y="10403"/>
                </a:lnTo>
                <a:lnTo>
                  <a:pt x="10586" y="10403"/>
                </a:lnTo>
                <a:lnTo>
                  <a:pt x="10586" y="10066"/>
                </a:lnTo>
                <a:close/>
                <a:moveTo>
                  <a:pt x="688" y="9728"/>
                </a:moveTo>
                <a:cubicBezTo>
                  <a:pt x="731" y="9184"/>
                  <a:pt x="872" y="8979"/>
                  <a:pt x="937" y="8940"/>
                </a:cubicBezTo>
                <a:lnTo>
                  <a:pt x="2922" y="8247"/>
                </a:lnTo>
                <a:cubicBezTo>
                  <a:pt x="3832" y="7943"/>
                  <a:pt x="4288" y="7615"/>
                  <a:pt x="4360" y="7212"/>
                </a:cubicBezTo>
                <a:cubicBezTo>
                  <a:pt x="4406" y="6955"/>
                  <a:pt x="4277" y="6748"/>
                  <a:pt x="4170" y="6663"/>
                </a:cubicBezTo>
                <a:cubicBezTo>
                  <a:pt x="3615" y="6155"/>
                  <a:pt x="3604" y="5232"/>
                  <a:pt x="3604" y="5223"/>
                </a:cubicBezTo>
                <a:lnTo>
                  <a:pt x="3604" y="5014"/>
                </a:lnTo>
                <a:lnTo>
                  <a:pt x="3417" y="4921"/>
                </a:lnTo>
                <a:cubicBezTo>
                  <a:pt x="3273" y="4849"/>
                  <a:pt x="3192" y="4768"/>
                  <a:pt x="3176" y="4680"/>
                </a:cubicBezTo>
                <a:cubicBezTo>
                  <a:pt x="3144" y="4506"/>
                  <a:pt x="3314" y="4253"/>
                  <a:pt x="3400" y="4158"/>
                </a:cubicBezTo>
                <a:lnTo>
                  <a:pt x="3479" y="4074"/>
                </a:lnTo>
                <a:lnTo>
                  <a:pt x="3490" y="3960"/>
                </a:lnTo>
                <a:cubicBezTo>
                  <a:pt x="3526" y="3578"/>
                  <a:pt x="3591" y="3237"/>
                  <a:pt x="3684" y="2943"/>
                </a:cubicBezTo>
                <a:lnTo>
                  <a:pt x="6902" y="2943"/>
                </a:lnTo>
                <a:cubicBezTo>
                  <a:pt x="6995" y="3237"/>
                  <a:pt x="7060" y="3578"/>
                  <a:pt x="7096" y="3960"/>
                </a:cubicBezTo>
                <a:lnTo>
                  <a:pt x="7107" y="4074"/>
                </a:lnTo>
                <a:lnTo>
                  <a:pt x="7186" y="4158"/>
                </a:lnTo>
                <a:cubicBezTo>
                  <a:pt x="7269" y="4248"/>
                  <a:pt x="7442" y="4504"/>
                  <a:pt x="7410" y="4679"/>
                </a:cubicBezTo>
                <a:cubicBezTo>
                  <a:pt x="7394" y="4767"/>
                  <a:pt x="7313" y="4849"/>
                  <a:pt x="7169" y="4921"/>
                </a:cubicBezTo>
                <a:lnTo>
                  <a:pt x="6982" y="5014"/>
                </a:lnTo>
                <a:lnTo>
                  <a:pt x="6982" y="5223"/>
                </a:lnTo>
                <a:cubicBezTo>
                  <a:pt x="6982" y="5232"/>
                  <a:pt x="6967" y="6159"/>
                  <a:pt x="6433" y="6649"/>
                </a:cubicBezTo>
                <a:cubicBezTo>
                  <a:pt x="6309" y="6748"/>
                  <a:pt x="6180" y="6955"/>
                  <a:pt x="6226" y="7212"/>
                </a:cubicBezTo>
                <a:cubicBezTo>
                  <a:pt x="6298" y="7615"/>
                  <a:pt x="6754" y="7943"/>
                  <a:pt x="7658" y="8245"/>
                </a:cubicBezTo>
                <a:lnTo>
                  <a:pt x="9627" y="8940"/>
                </a:lnTo>
                <a:lnTo>
                  <a:pt x="9649" y="8940"/>
                </a:lnTo>
                <a:cubicBezTo>
                  <a:pt x="9714" y="8979"/>
                  <a:pt x="9855" y="9184"/>
                  <a:pt x="9898" y="9728"/>
                </a:cubicBezTo>
                <a:lnTo>
                  <a:pt x="688" y="9728"/>
                </a:lnTo>
                <a:lnTo>
                  <a:pt x="688" y="9728"/>
                </a:ln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a:cs typeface="+mn-ea"/>
              <a:sym typeface="+mn-lt"/>
            </a:endParaRPr>
          </a:p>
        </p:txBody>
      </p:sp>
      <p:cxnSp>
        <p:nvCxnSpPr>
          <p:cNvPr id="32" name="直接连接符 31"/>
          <p:cNvCxnSpPr/>
          <p:nvPr/>
        </p:nvCxnSpPr>
        <p:spPr>
          <a:xfrm>
            <a:off x="2383341" y="4137651"/>
            <a:ext cx="7425319" cy="0"/>
          </a:xfrm>
          <a:prstGeom prst="line">
            <a:avLst/>
          </a:prstGeom>
        </p:spPr>
        <p:style>
          <a:lnRef idx="1">
            <a:schemeClr val="accent1"/>
          </a:lnRef>
          <a:fillRef idx="0">
            <a:schemeClr val="accent1"/>
          </a:fillRef>
          <a:effectRef idx="0">
            <a:schemeClr val="accent1"/>
          </a:effectRef>
          <a:fontRef idx="minor">
            <a:schemeClr val="tx1"/>
          </a:fontRef>
        </p:style>
      </p:cxnSp>
      <p:pic>
        <p:nvPicPr>
          <p:cNvPr id="34" name="图片 33">
            <a:extLst>
              <a:ext uri="{FF2B5EF4-FFF2-40B4-BE49-F238E27FC236}">
                <a16:creationId xmlns:a16="http://schemas.microsoft.com/office/drawing/2014/main" id="{90F98B54-C8C1-0EDA-EE98-1CD079DA305D}"/>
              </a:ext>
            </a:extLst>
          </p:cNvPr>
          <p:cNvPicPr>
            <a:picLocks noChangeAspect="1"/>
          </p:cNvPicPr>
          <p:nvPr/>
        </p:nvPicPr>
        <p:blipFill>
          <a:blip r:embed="rId6"/>
          <a:stretch>
            <a:fillRect/>
          </a:stretch>
        </p:blipFill>
        <p:spPr>
          <a:xfrm>
            <a:off x="3372832" y="565785"/>
            <a:ext cx="775241" cy="775667"/>
          </a:xfrm>
          <a:prstGeom prst="rect">
            <a:avLst/>
          </a:prstGeom>
        </p:spPr>
      </p:pic>
      <p:sp>
        <p:nvSpPr>
          <p:cNvPr id="39" name="文本框 38">
            <a:extLst>
              <a:ext uri="{FF2B5EF4-FFF2-40B4-BE49-F238E27FC236}">
                <a16:creationId xmlns:a16="http://schemas.microsoft.com/office/drawing/2014/main" id="{93902A2A-ED00-4C50-DA86-A139936710EE}"/>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96954"/>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655" y="49390"/>
            <a:ext cx="11155680" cy="646331"/>
          </a:xfrm>
          <a:prstGeom prst="rect">
            <a:avLst/>
          </a:prstGeom>
          <a:noFill/>
        </p:spPr>
        <p:txBody>
          <a:bodyPr wrap="square">
            <a:spAutoFit/>
          </a:bodyPr>
          <a:lstStyle/>
          <a:p>
            <a:r>
              <a:rPr lang="zh-CN" altLang="en-US" sz="3600" b="1">
                <a:solidFill>
                  <a:schemeClr val="bg1"/>
                </a:solidFill>
                <a:latin typeface="微软雅黑" panose="020B0503020204020204" pitchFamily="34" charset="-122"/>
                <a:ea typeface="微软雅黑" panose="020B0503020204020204" pitchFamily="34" charset="-122"/>
              </a:rPr>
              <a:t>目录</a:t>
            </a:r>
            <a:endParaRPr sz="3600" b="1">
              <a:solidFill>
                <a:schemeClr val="bg1"/>
              </a:solidFill>
              <a:latin typeface="微软雅黑" panose="020B0503020204020204" pitchFamily="34" charset="-122"/>
              <a:ea typeface="微软雅黑" panose="020B0503020204020204" pitchFamily="34" charset="-122"/>
            </a:endParaRPr>
          </a:p>
        </p:txBody>
      </p:sp>
      <p:grpSp>
        <p:nvGrpSpPr>
          <p:cNvPr id="25" name="组合 24">
            <a:extLst>
              <a:ext uri="{FF2B5EF4-FFF2-40B4-BE49-F238E27FC236}">
                <a16:creationId xmlns:a16="http://schemas.microsoft.com/office/drawing/2014/main" id="{39A7C6B1-3FAB-E91C-A2F4-F073C7A76327}"/>
              </a:ext>
            </a:extLst>
          </p:cNvPr>
          <p:cNvGrpSpPr/>
          <p:nvPr/>
        </p:nvGrpSpPr>
        <p:grpSpPr>
          <a:xfrm>
            <a:off x="1091184" y="1232571"/>
            <a:ext cx="9601200" cy="646331"/>
            <a:chOff x="1091184" y="1232571"/>
            <a:chExt cx="9601200" cy="646331"/>
          </a:xfrm>
        </p:grpSpPr>
        <p:sp>
          <p:nvSpPr>
            <p:cNvPr id="9" name="Oval 8"/>
            <p:cNvSpPr/>
            <p:nvPr/>
          </p:nvSpPr>
          <p:spPr>
            <a:xfrm>
              <a:off x="1091184" y="1280045"/>
              <a:ext cx="600456" cy="584775"/>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04125" y="1334797"/>
              <a:ext cx="182880" cy="461665"/>
            </a:xfrm>
            <a:prstGeom prst="rect">
              <a:avLst/>
            </a:prstGeom>
            <a:noFill/>
          </p:spPr>
          <p:txBody>
            <a:bodyPr wrap="square" lIns="45720" rIns="45720" anchor="ctr">
              <a:spAutoFit/>
            </a:bodyPr>
            <a:lstStyle/>
            <a:p>
              <a:pPr algn="ctr"/>
              <a:r>
                <a:rPr sz="2400" b="1">
                  <a:solidFill>
                    <a:srgbClr val="FFFFFF"/>
                  </a:solidFill>
                  <a:latin typeface="Microsoft YaHei"/>
                </a:rPr>
                <a:t>1</a:t>
              </a:r>
            </a:p>
          </p:txBody>
        </p:sp>
        <p:sp>
          <p:nvSpPr>
            <p:cNvPr id="11" name="TextBox 10"/>
            <p:cNvSpPr txBox="1"/>
            <p:nvPr/>
          </p:nvSpPr>
          <p:spPr>
            <a:xfrm>
              <a:off x="1731264" y="1232571"/>
              <a:ext cx="8961120" cy="646331"/>
            </a:xfrm>
            <a:prstGeom prst="rect">
              <a:avLst/>
            </a:prstGeom>
            <a:noFill/>
          </p:spPr>
          <p:txBody>
            <a:bodyPr wrap="square" lIns="45720" rIns="45720">
              <a:spAutoFit/>
            </a:bodyPr>
            <a:lstStyle/>
            <a:p>
              <a:r>
                <a:rPr sz="3600" b="1" err="1">
                  <a:solidFill>
                    <a:srgbClr val="002D4F"/>
                  </a:solidFill>
                  <a:latin typeface="微软雅黑" panose="020B0503020204020204" pitchFamily="34" charset="-122"/>
                  <a:ea typeface="微软雅黑" panose="020B0503020204020204" pitchFamily="34" charset="-122"/>
                </a:rPr>
                <a:t>研究背景与</a:t>
              </a:r>
              <a:r>
                <a:rPr lang="zh-CN" altLang="en-US" sz="3600" b="1">
                  <a:solidFill>
                    <a:srgbClr val="002D4F"/>
                  </a:solidFill>
                  <a:latin typeface="微软雅黑" panose="020B0503020204020204" pitchFamily="34" charset="-122"/>
                  <a:ea typeface="微软雅黑" panose="020B0503020204020204" pitchFamily="34" charset="-122"/>
                </a:rPr>
                <a:t>国内外研究进展</a:t>
              </a:r>
              <a:endParaRPr sz="3600" b="1">
                <a:solidFill>
                  <a:srgbClr val="002D4F"/>
                </a:solidFill>
                <a:latin typeface="微软雅黑" panose="020B0503020204020204" pitchFamily="34" charset="-122"/>
                <a:ea typeface="微软雅黑" panose="020B0503020204020204" pitchFamily="34" charset="-122"/>
              </a:endParaRPr>
            </a:p>
          </p:txBody>
        </p:sp>
      </p:grpSp>
      <p:sp>
        <p:nvSpPr>
          <p:cNvPr id="13" name="TextBox 12"/>
          <p:cNvSpPr txBox="1"/>
          <p:nvPr/>
        </p:nvSpPr>
        <p:spPr>
          <a:xfrm>
            <a:off x="1152144" y="2505456"/>
            <a:ext cx="234696" cy="276999"/>
          </a:xfrm>
          <a:prstGeom prst="rect">
            <a:avLst/>
          </a:prstGeom>
          <a:noFill/>
        </p:spPr>
        <p:txBody>
          <a:bodyPr wrap="square" lIns="45720" rIns="45720">
            <a:spAutoFit/>
          </a:bodyPr>
          <a:lstStyle/>
          <a:p>
            <a:pPr algn="ctr"/>
            <a:r>
              <a:rPr sz="1200" b="1">
                <a:solidFill>
                  <a:srgbClr val="FFFFFF"/>
                </a:solidFill>
                <a:latin typeface="Microsoft YaHei"/>
              </a:rPr>
              <a:t>2</a:t>
            </a:r>
            <a:endParaRPr sz="1000" b="1">
              <a:solidFill>
                <a:srgbClr val="FFFFFF"/>
              </a:solidFill>
              <a:latin typeface="Microsoft YaHei"/>
            </a:endParaRPr>
          </a:p>
        </p:txBody>
      </p:sp>
      <p:sp>
        <p:nvSpPr>
          <p:cNvPr id="16" name="TextBox 15"/>
          <p:cNvSpPr txBox="1"/>
          <p:nvPr/>
        </p:nvSpPr>
        <p:spPr>
          <a:xfrm>
            <a:off x="1152144" y="3255264"/>
            <a:ext cx="182880" cy="182880"/>
          </a:xfrm>
          <a:prstGeom prst="rect">
            <a:avLst/>
          </a:prstGeom>
          <a:noFill/>
        </p:spPr>
        <p:txBody>
          <a:bodyPr wrap="square" lIns="45720" rIns="45720">
            <a:spAutoFit/>
          </a:bodyPr>
          <a:lstStyle/>
          <a:p>
            <a:pPr algn="ctr"/>
            <a:r>
              <a:rPr sz="1000" b="1">
                <a:solidFill>
                  <a:srgbClr val="FFFFFF"/>
                </a:solidFill>
                <a:latin typeface="Microsoft YaHei"/>
              </a:rPr>
              <a:t>3</a:t>
            </a:r>
          </a:p>
        </p:txBody>
      </p:sp>
      <p:sp>
        <p:nvSpPr>
          <p:cNvPr id="19" name="TextBox 18"/>
          <p:cNvSpPr txBox="1"/>
          <p:nvPr/>
        </p:nvSpPr>
        <p:spPr>
          <a:xfrm>
            <a:off x="1152144" y="4005072"/>
            <a:ext cx="182880" cy="182880"/>
          </a:xfrm>
          <a:prstGeom prst="rect">
            <a:avLst/>
          </a:prstGeom>
          <a:noFill/>
        </p:spPr>
        <p:txBody>
          <a:bodyPr wrap="square" lIns="45720" rIns="45720">
            <a:spAutoFit/>
          </a:bodyPr>
          <a:lstStyle/>
          <a:p>
            <a:pPr algn="ctr"/>
            <a:r>
              <a:rPr sz="1000" b="1">
                <a:solidFill>
                  <a:srgbClr val="FFFFFF"/>
                </a:solidFill>
                <a:latin typeface="Microsoft YaHei"/>
              </a:rPr>
              <a:t>4</a:t>
            </a:r>
          </a:p>
        </p:txBody>
      </p:sp>
      <p:sp>
        <p:nvSpPr>
          <p:cNvPr id="22" name="TextBox 21"/>
          <p:cNvSpPr txBox="1"/>
          <p:nvPr/>
        </p:nvSpPr>
        <p:spPr>
          <a:xfrm>
            <a:off x="1152144" y="4754880"/>
            <a:ext cx="182880" cy="182880"/>
          </a:xfrm>
          <a:prstGeom prst="rect">
            <a:avLst/>
          </a:prstGeom>
          <a:noFill/>
        </p:spPr>
        <p:txBody>
          <a:bodyPr wrap="square" lIns="45720" rIns="45720">
            <a:spAutoFit/>
          </a:bodyPr>
          <a:lstStyle/>
          <a:p>
            <a:pPr algn="ctr"/>
            <a:r>
              <a:rPr sz="1000" b="1">
                <a:solidFill>
                  <a:srgbClr val="FFFFFF"/>
                </a:solidFill>
                <a:latin typeface="Microsoft YaHei"/>
              </a:rPr>
              <a:t>5</a:t>
            </a:r>
          </a:p>
        </p:txBody>
      </p:sp>
      <p:grpSp>
        <p:nvGrpSpPr>
          <p:cNvPr id="33" name="组合 32">
            <a:extLst>
              <a:ext uri="{FF2B5EF4-FFF2-40B4-BE49-F238E27FC236}">
                <a16:creationId xmlns:a16="http://schemas.microsoft.com/office/drawing/2014/main" id="{F44ACD1F-7E28-FE28-5A21-A17AF6A2A5B8}"/>
              </a:ext>
            </a:extLst>
          </p:cNvPr>
          <p:cNvGrpSpPr/>
          <p:nvPr/>
        </p:nvGrpSpPr>
        <p:grpSpPr>
          <a:xfrm>
            <a:off x="1091184" y="3404681"/>
            <a:ext cx="9601200" cy="646331"/>
            <a:chOff x="1091184" y="1218489"/>
            <a:chExt cx="9601200" cy="646331"/>
          </a:xfrm>
        </p:grpSpPr>
        <p:sp>
          <p:nvSpPr>
            <p:cNvPr id="34" name="Oval 8">
              <a:extLst>
                <a:ext uri="{FF2B5EF4-FFF2-40B4-BE49-F238E27FC236}">
                  <a16:creationId xmlns:a16="http://schemas.microsoft.com/office/drawing/2014/main" id="{D3EEF2D1-4EA6-DE0E-2CA8-9BC6CA0CB9BC}"/>
                </a:ext>
              </a:extLst>
            </p:cNvPr>
            <p:cNvSpPr/>
            <p:nvPr/>
          </p:nvSpPr>
          <p:spPr>
            <a:xfrm>
              <a:off x="1091184" y="1280045"/>
              <a:ext cx="600456" cy="584775"/>
            </a:xfrm>
            <a:prstGeom prst="ellipse">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9">
              <a:extLst>
                <a:ext uri="{FF2B5EF4-FFF2-40B4-BE49-F238E27FC236}">
                  <a16:creationId xmlns:a16="http://schemas.microsoft.com/office/drawing/2014/main" id="{CD2D29F6-FBA9-6C26-14A9-AA545E210D13}"/>
                </a:ext>
              </a:extLst>
            </p:cNvPr>
            <p:cNvSpPr txBox="1"/>
            <p:nvPr/>
          </p:nvSpPr>
          <p:spPr>
            <a:xfrm>
              <a:off x="1304125" y="1334797"/>
              <a:ext cx="182880" cy="461665"/>
            </a:xfrm>
            <a:prstGeom prst="rect">
              <a:avLst/>
            </a:prstGeom>
            <a:noFill/>
          </p:spPr>
          <p:txBody>
            <a:bodyPr wrap="square" lIns="45720" rIns="45720" anchor="ctr">
              <a:spAutoFit/>
            </a:bodyPr>
            <a:lstStyle/>
            <a:p>
              <a:pPr algn="ctr"/>
              <a:r>
                <a:rPr lang="en-US" altLang="zh-CN" sz="2400" b="1">
                  <a:solidFill>
                    <a:srgbClr val="FFFFFF"/>
                  </a:solidFill>
                  <a:latin typeface="Microsoft YaHei"/>
                </a:rPr>
                <a:t>3</a:t>
              </a:r>
              <a:endParaRPr sz="2400" b="1">
                <a:solidFill>
                  <a:srgbClr val="FFFFFF"/>
                </a:solidFill>
                <a:latin typeface="Microsoft YaHei"/>
              </a:endParaRPr>
            </a:p>
          </p:txBody>
        </p:sp>
        <p:sp>
          <p:nvSpPr>
            <p:cNvPr id="36" name="TextBox 10">
              <a:extLst>
                <a:ext uri="{FF2B5EF4-FFF2-40B4-BE49-F238E27FC236}">
                  <a16:creationId xmlns:a16="http://schemas.microsoft.com/office/drawing/2014/main" id="{CC3615BC-0FC2-8318-24A0-6E1767A41330}"/>
                </a:ext>
              </a:extLst>
            </p:cNvPr>
            <p:cNvSpPr txBox="1"/>
            <p:nvPr/>
          </p:nvSpPr>
          <p:spPr>
            <a:xfrm>
              <a:off x="1731264" y="1218489"/>
              <a:ext cx="8961120" cy="646331"/>
            </a:xfrm>
            <a:prstGeom prst="rect">
              <a:avLst/>
            </a:prstGeom>
            <a:noFill/>
          </p:spPr>
          <p:txBody>
            <a:bodyPr wrap="square" lIns="45720" rIns="45720">
              <a:spAutoFit/>
            </a:bodyPr>
            <a:lstStyle/>
            <a:p>
              <a:r>
                <a:rPr lang="zh-CN" altLang="en-US" sz="3600" b="1">
                  <a:solidFill>
                    <a:srgbClr val="002D4F"/>
                  </a:solidFill>
                  <a:latin typeface="微软雅黑" panose="020B0503020204020204" pitchFamily="34" charset="-122"/>
                  <a:ea typeface="微软雅黑" panose="020B0503020204020204" pitchFamily="34" charset="-122"/>
                </a:rPr>
                <a:t>气候变化信号出现时间及其信噪比特征</a:t>
              </a:r>
            </a:p>
          </p:txBody>
        </p:sp>
      </p:grpSp>
      <p:grpSp>
        <p:nvGrpSpPr>
          <p:cNvPr id="37" name="组合 36">
            <a:extLst>
              <a:ext uri="{FF2B5EF4-FFF2-40B4-BE49-F238E27FC236}">
                <a16:creationId xmlns:a16="http://schemas.microsoft.com/office/drawing/2014/main" id="{5547CC1D-130A-51FD-5D96-D5340E0050B1}"/>
              </a:ext>
            </a:extLst>
          </p:cNvPr>
          <p:cNvGrpSpPr/>
          <p:nvPr/>
        </p:nvGrpSpPr>
        <p:grpSpPr>
          <a:xfrm>
            <a:off x="1091184" y="2404281"/>
            <a:ext cx="9601200" cy="646331"/>
            <a:chOff x="1091184" y="1244687"/>
            <a:chExt cx="9601200" cy="646331"/>
          </a:xfrm>
        </p:grpSpPr>
        <p:sp>
          <p:nvSpPr>
            <p:cNvPr id="38" name="Oval 8">
              <a:extLst>
                <a:ext uri="{FF2B5EF4-FFF2-40B4-BE49-F238E27FC236}">
                  <a16:creationId xmlns:a16="http://schemas.microsoft.com/office/drawing/2014/main" id="{699171EB-412A-0031-02BE-EA667539BAD2}"/>
                </a:ext>
              </a:extLst>
            </p:cNvPr>
            <p:cNvSpPr/>
            <p:nvPr/>
          </p:nvSpPr>
          <p:spPr>
            <a:xfrm>
              <a:off x="1091184" y="1280045"/>
              <a:ext cx="600456" cy="584775"/>
            </a:xfrm>
            <a:prstGeom prst="ellipse">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9">
              <a:extLst>
                <a:ext uri="{FF2B5EF4-FFF2-40B4-BE49-F238E27FC236}">
                  <a16:creationId xmlns:a16="http://schemas.microsoft.com/office/drawing/2014/main" id="{54252626-DF30-A1CC-8B52-9E342BCA5C15}"/>
                </a:ext>
              </a:extLst>
            </p:cNvPr>
            <p:cNvSpPr txBox="1"/>
            <p:nvPr/>
          </p:nvSpPr>
          <p:spPr>
            <a:xfrm>
              <a:off x="1304125" y="1334797"/>
              <a:ext cx="182880" cy="461665"/>
            </a:xfrm>
            <a:prstGeom prst="rect">
              <a:avLst/>
            </a:prstGeom>
            <a:noFill/>
          </p:spPr>
          <p:txBody>
            <a:bodyPr wrap="square" lIns="45720" rIns="45720" anchor="ctr">
              <a:spAutoFit/>
            </a:bodyPr>
            <a:lstStyle/>
            <a:p>
              <a:pPr algn="ctr"/>
              <a:r>
                <a:rPr lang="en-US" altLang="zh-CN" sz="2400" b="1">
                  <a:solidFill>
                    <a:srgbClr val="FFFFFF"/>
                  </a:solidFill>
                  <a:latin typeface="Microsoft YaHei"/>
                </a:rPr>
                <a:t>2</a:t>
              </a:r>
              <a:endParaRPr sz="2400" b="1">
                <a:solidFill>
                  <a:srgbClr val="FFFFFF"/>
                </a:solidFill>
                <a:latin typeface="Microsoft YaHei"/>
              </a:endParaRPr>
            </a:p>
          </p:txBody>
        </p:sp>
        <p:sp>
          <p:nvSpPr>
            <p:cNvPr id="40" name="TextBox 10">
              <a:extLst>
                <a:ext uri="{FF2B5EF4-FFF2-40B4-BE49-F238E27FC236}">
                  <a16:creationId xmlns:a16="http://schemas.microsoft.com/office/drawing/2014/main" id="{E8126402-2E2B-274B-BC09-848A010C4741}"/>
                </a:ext>
              </a:extLst>
            </p:cNvPr>
            <p:cNvSpPr txBox="1"/>
            <p:nvPr/>
          </p:nvSpPr>
          <p:spPr>
            <a:xfrm>
              <a:off x="1731264" y="1244687"/>
              <a:ext cx="8961120" cy="646331"/>
            </a:xfrm>
            <a:prstGeom prst="rect">
              <a:avLst/>
            </a:prstGeom>
            <a:noFill/>
          </p:spPr>
          <p:txBody>
            <a:bodyPr wrap="square" lIns="45720" rIns="45720">
              <a:spAutoFit/>
            </a:bodyPr>
            <a:lstStyle/>
            <a:p>
              <a:r>
                <a:rPr lang="zh-CN" altLang="en-US" sz="3600" b="1">
                  <a:solidFill>
                    <a:srgbClr val="002D4F"/>
                  </a:solidFill>
                  <a:latin typeface="微软雅黑" panose="020B0503020204020204" pitchFamily="34" charset="-122"/>
                  <a:ea typeface="微软雅黑" panose="020B0503020204020204" pitchFamily="34" charset="-122"/>
                </a:rPr>
                <a:t>数据与研究方法</a:t>
              </a:r>
              <a:endParaRPr sz="3600" b="1">
                <a:solidFill>
                  <a:srgbClr val="002D4F"/>
                </a:solidFill>
                <a:latin typeface="微软雅黑" panose="020B0503020204020204" pitchFamily="34" charset="-122"/>
                <a:ea typeface="微软雅黑" panose="020B0503020204020204" pitchFamily="34" charset="-122"/>
              </a:endParaRPr>
            </a:p>
          </p:txBody>
        </p:sp>
      </p:grpSp>
      <p:grpSp>
        <p:nvGrpSpPr>
          <p:cNvPr id="41" name="组合 40">
            <a:extLst>
              <a:ext uri="{FF2B5EF4-FFF2-40B4-BE49-F238E27FC236}">
                <a16:creationId xmlns:a16="http://schemas.microsoft.com/office/drawing/2014/main" id="{C2123F92-9F54-EA42-528C-B6027B768262}"/>
              </a:ext>
            </a:extLst>
          </p:cNvPr>
          <p:cNvGrpSpPr/>
          <p:nvPr/>
        </p:nvGrpSpPr>
        <p:grpSpPr>
          <a:xfrm>
            <a:off x="1091184" y="4476278"/>
            <a:ext cx="9601200" cy="646331"/>
            <a:chOff x="1091184" y="1280045"/>
            <a:chExt cx="9601200" cy="646331"/>
          </a:xfrm>
        </p:grpSpPr>
        <p:sp>
          <p:nvSpPr>
            <p:cNvPr id="42" name="Oval 8">
              <a:extLst>
                <a:ext uri="{FF2B5EF4-FFF2-40B4-BE49-F238E27FC236}">
                  <a16:creationId xmlns:a16="http://schemas.microsoft.com/office/drawing/2014/main" id="{B8D54F4D-8B3A-C91C-9B00-C318865444D4}"/>
                </a:ext>
              </a:extLst>
            </p:cNvPr>
            <p:cNvSpPr/>
            <p:nvPr/>
          </p:nvSpPr>
          <p:spPr>
            <a:xfrm>
              <a:off x="1091184" y="1280045"/>
              <a:ext cx="600456" cy="584775"/>
            </a:xfrm>
            <a:prstGeom prst="ellipse">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9">
              <a:extLst>
                <a:ext uri="{FF2B5EF4-FFF2-40B4-BE49-F238E27FC236}">
                  <a16:creationId xmlns:a16="http://schemas.microsoft.com/office/drawing/2014/main" id="{E692B97A-19AA-C8C3-4ACC-566EF2DD2462}"/>
                </a:ext>
              </a:extLst>
            </p:cNvPr>
            <p:cNvSpPr txBox="1"/>
            <p:nvPr/>
          </p:nvSpPr>
          <p:spPr>
            <a:xfrm>
              <a:off x="1304125" y="1334797"/>
              <a:ext cx="182880" cy="461665"/>
            </a:xfrm>
            <a:prstGeom prst="rect">
              <a:avLst/>
            </a:prstGeom>
            <a:noFill/>
          </p:spPr>
          <p:txBody>
            <a:bodyPr wrap="square" lIns="45720" rIns="45720" anchor="ctr">
              <a:spAutoFit/>
            </a:bodyPr>
            <a:lstStyle/>
            <a:p>
              <a:pPr algn="ctr"/>
              <a:r>
                <a:rPr lang="en-US" altLang="zh-CN" sz="2400" b="1">
                  <a:solidFill>
                    <a:srgbClr val="FFFFFF"/>
                  </a:solidFill>
                  <a:latin typeface="Microsoft YaHei"/>
                </a:rPr>
                <a:t>4</a:t>
              </a:r>
              <a:endParaRPr sz="2400" b="1">
                <a:solidFill>
                  <a:srgbClr val="FFFFFF"/>
                </a:solidFill>
                <a:latin typeface="Microsoft YaHei"/>
              </a:endParaRPr>
            </a:p>
          </p:txBody>
        </p:sp>
        <p:sp>
          <p:nvSpPr>
            <p:cNvPr id="44" name="TextBox 10">
              <a:extLst>
                <a:ext uri="{FF2B5EF4-FFF2-40B4-BE49-F238E27FC236}">
                  <a16:creationId xmlns:a16="http://schemas.microsoft.com/office/drawing/2014/main" id="{D350C6DE-335D-4FD5-41AE-54EF3235BE5F}"/>
                </a:ext>
              </a:extLst>
            </p:cNvPr>
            <p:cNvSpPr txBox="1"/>
            <p:nvPr/>
          </p:nvSpPr>
          <p:spPr>
            <a:xfrm>
              <a:off x="1731264" y="1280045"/>
              <a:ext cx="8961120" cy="646331"/>
            </a:xfrm>
            <a:prstGeom prst="rect">
              <a:avLst/>
            </a:prstGeom>
            <a:noFill/>
          </p:spPr>
          <p:txBody>
            <a:bodyPr wrap="square" lIns="45720" rIns="45720">
              <a:spAutoFit/>
            </a:bodyPr>
            <a:lstStyle/>
            <a:p>
              <a:r>
                <a:rPr lang="zh-CN" altLang="en-US" sz="3600" b="1">
                  <a:solidFill>
                    <a:srgbClr val="002D4F"/>
                  </a:solidFill>
                  <a:latin typeface="微软雅黑" panose="020B0503020204020204" pitchFamily="34" charset="-122"/>
                  <a:ea typeface="微软雅黑" panose="020B0503020204020204" pitchFamily="34" charset="-122"/>
                </a:rPr>
                <a:t>结论与不足</a:t>
              </a:r>
            </a:p>
          </p:txBody>
        </p:sp>
      </p:grpSp>
      <p:sp>
        <p:nvSpPr>
          <p:cNvPr id="4" name="文本框 3">
            <a:extLst>
              <a:ext uri="{FF2B5EF4-FFF2-40B4-BE49-F238E27FC236}">
                <a16:creationId xmlns:a16="http://schemas.microsoft.com/office/drawing/2014/main" id="{CC2D5FDA-274D-A8EC-FB6C-37644630FB64}"/>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0</a:t>
            </a:r>
            <a:r>
              <a:rPr lang="en-US" altLang="zh-CN" sz="1200">
                <a:solidFill>
                  <a:srgbClr val="556370"/>
                </a:solidFill>
                <a:latin typeface="Microsoft YaHei"/>
              </a:rPr>
              <a:t>2</a:t>
            </a:r>
            <a:endParaRPr lang="en-US" altLang="zh-CN" sz="1200" b="0">
              <a:solidFill>
                <a:srgbClr val="556370"/>
              </a:solidFill>
              <a:latin typeface="Microsoft YaHe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
            <a:ext cx="12191695" cy="679781"/>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435" y="56534"/>
            <a:ext cx="2031325" cy="646331"/>
          </a:xfrm>
          <a:prstGeom prst="rect">
            <a:avLst/>
          </a:prstGeom>
          <a:noFill/>
        </p:spPr>
        <p:txBody>
          <a:bodyPr wrap="none">
            <a:spAutoFit/>
          </a:bodyPr>
          <a:lstStyle/>
          <a:p>
            <a:r>
              <a:rPr sz="3600" b="1" err="1">
                <a:solidFill>
                  <a:schemeClr val="bg1"/>
                </a:solidFill>
                <a:latin typeface="Microsoft YaHei"/>
              </a:rPr>
              <a:t>研究背景</a:t>
            </a:r>
            <a:endParaRPr sz="3600" b="1">
              <a:solidFill>
                <a:schemeClr val="bg1"/>
              </a:solidFill>
              <a:latin typeface="Microsoft YaHei"/>
            </a:endParaRPr>
          </a:p>
        </p:txBody>
      </p:sp>
      <p:sp>
        <p:nvSpPr>
          <p:cNvPr id="11" name="TextBox 10"/>
          <p:cNvSpPr txBox="1"/>
          <p:nvPr/>
        </p:nvSpPr>
        <p:spPr>
          <a:xfrm>
            <a:off x="7862554" y="963892"/>
            <a:ext cx="4039360" cy="1754326"/>
          </a:xfrm>
          <a:prstGeom prst="rect">
            <a:avLst/>
          </a:prstGeom>
          <a:noFill/>
        </p:spPr>
        <p:txBody>
          <a:bodyPr wrap="square">
            <a:spAutoFit/>
          </a:bodyPr>
          <a:lstStyle/>
          <a:p>
            <a:pPr>
              <a:spcAft>
                <a:spcPts val="500"/>
              </a:spcAft>
            </a:pPr>
            <a:r>
              <a:rPr lang="zh-CN" altLang="en-US" sz="3600">
                <a:solidFill>
                  <a:schemeClr val="accent5"/>
                </a:solidFill>
                <a:latin typeface="微软雅黑" panose="020B0503020204020204" pitchFamily="34" charset="-122"/>
                <a:ea typeface="微软雅黑" panose="020B0503020204020204" pitchFamily="34" charset="-122"/>
              </a:rPr>
              <a:t>人为气候变化信号何时从内部自然变率背景中显现出来？</a:t>
            </a:r>
            <a:endParaRPr lang="zh-CN" altLang="en-US" sz="2400" b="0">
              <a:solidFill>
                <a:schemeClr val="accent5"/>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D2EC4DD8-65FD-DBF2-B9B5-92FEFE33ACB5}"/>
              </a:ext>
            </a:extLst>
          </p:cNvPr>
          <p:cNvSpPr txBox="1"/>
          <p:nvPr/>
        </p:nvSpPr>
        <p:spPr>
          <a:xfrm>
            <a:off x="7945675" y="3341794"/>
            <a:ext cx="3956239" cy="2677656"/>
          </a:xfrm>
          <a:prstGeom prst="rect">
            <a:avLst/>
          </a:prstGeom>
          <a:noFill/>
        </p:spPr>
        <p:txBody>
          <a:bodyPr wrap="square">
            <a:spAutoFit/>
          </a:bodyPr>
          <a:lstStyle/>
          <a:p>
            <a:pPr algn="just"/>
            <a:r>
              <a:rPr lang="en-US" altLang="zh-CN" sz="2400">
                <a:latin typeface="微软雅黑" panose="020B0503020204020204" pitchFamily="34" charset="-122"/>
                <a:ea typeface="微软雅黑" panose="020B0503020204020204" pitchFamily="34" charset="-122"/>
              </a:rPr>
              <a:t>Hawkins</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Sutton</a:t>
            </a:r>
            <a:r>
              <a:rPr lang="zh-CN" altLang="en-US" sz="2400">
                <a:latin typeface="微软雅黑" panose="020B0503020204020204" pitchFamily="34" charset="-122"/>
                <a:ea typeface="微软雅黑" panose="020B0503020204020204" pitchFamily="34" charset="-122"/>
              </a:rPr>
              <a:t>提出了</a:t>
            </a:r>
            <a:r>
              <a:rPr lang="zh-CN" altLang="en-US" sz="2400">
                <a:solidFill>
                  <a:schemeClr val="accent2"/>
                </a:solidFill>
                <a:latin typeface="微软雅黑" panose="020B0503020204020204" pitchFamily="34" charset="-122"/>
                <a:ea typeface="微软雅黑" panose="020B0503020204020204" pitchFamily="34" charset="-122"/>
              </a:rPr>
              <a:t>气候变化信号的出现时间</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Time of Emergence</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ToE</a:t>
            </a:r>
            <a:r>
              <a:rPr lang="zh-CN" altLang="en-US" sz="2400">
                <a:latin typeface="微软雅黑" panose="020B0503020204020204" pitchFamily="34" charset="-122"/>
                <a:ea typeface="微软雅黑" panose="020B0503020204020204" pitchFamily="34" charset="-122"/>
              </a:rPr>
              <a:t>）概念来描述外部强迫信号相对于内部自然变率变得可识别的时间</a:t>
            </a:r>
            <a:r>
              <a:rPr lang="en-US" altLang="zh-CN" sz="2400">
                <a:latin typeface="微软雅黑" panose="020B0503020204020204" pitchFamily="34" charset="-122"/>
                <a:ea typeface="微软雅黑" panose="020B0503020204020204" pitchFamily="34" charset="-122"/>
              </a:rPr>
              <a:t>(Hawkins &amp; Sutton, 2012)</a:t>
            </a:r>
            <a:endParaRPr lang="zh-CN" altLang="en-US" sz="2400">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44F0AE68-4C05-B603-8826-9B7E8EA27118}"/>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0</a:t>
            </a:r>
            <a:r>
              <a:rPr lang="en-US" altLang="zh-CN" sz="1200">
                <a:solidFill>
                  <a:srgbClr val="556370"/>
                </a:solidFill>
                <a:latin typeface="Microsoft YaHei"/>
              </a:rPr>
              <a:t>3</a:t>
            </a:r>
            <a:endParaRPr lang="en-US" altLang="zh-CN" sz="1200" b="0">
              <a:solidFill>
                <a:srgbClr val="556370"/>
              </a:solidFill>
              <a:latin typeface="Microsoft YaHei"/>
            </a:endParaRPr>
          </a:p>
        </p:txBody>
      </p:sp>
      <p:pic>
        <p:nvPicPr>
          <p:cNvPr id="5" name="图片 4">
            <a:extLst>
              <a:ext uri="{FF2B5EF4-FFF2-40B4-BE49-F238E27FC236}">
                <a16:creationId xmlns:a16="http://schemas.microsoft.com/office/drawing/2014/main" id="{B463A41D-F6B1-4FBB-A80A-C23A85826EB1}"/>
              </a:ext>
            </a:extLst>
          </p:cNvPr>
          <p:cNvPicPr>
            <a:picLocks noChangeAspect="1"/>
          </p:cNvPicPr>
          <p:nvPr/>
        </p:nvPicPr>
        <p:blipFill>
          <a:blip r:embed="rId3"/>
          <a:stretch>
            <a:fillRect/>
          </a:stretch>
        </p:blipFill>
        <p:spPr>
          <a:xfrm>
            <a:off x="108434" y="742896"/>
            <a:ext cx="7614270" cy="4283027"/>
          </a:xfrm>
          <a:prstGeom prst="rect">
            <a:avLst/>
          </a:prstGeom>
        </p:spPr>
      </p:pic>
      <p:sp>
        <p:nvSpPr>
          <p:cNvPr id="7" name="文本框 6">
            <a:extLst>
              <a:ext uri="{FF2B5EF4-FFF2-40B4-BE49-F238E27FC236}">
                <a16:creationId xmlns:a16="http://schemas.microsoft.com/office/drawing/2014/main" id="{9D6006CB-FD42-2C45-7B8D-0A95D3EAB9CA}"/>
              </a:ext>
            </a:extLst>
          </p:cNvPr>
          <p:cNvSpPr txBox="1"/>
          <p:nvPr/>
        </p:nvSpPr>
        <p:spPr>
          <a:xfrm>
            <a:off x="2139760" y="5093935"/>
            <a:ext cx="3956239" cy="338554"/>
          </a:xfrm>
          <a:prstGeom prst="rect">
            <a:avLst/>
          </a:prstGeom>
          <a:noFill/>
        </p:spPr>
        <p:txBody>
          <a:bodyPr wrap="square" rtlCol="0">
            <a:spAutoFit/>
          </a:bodyPr>
          <a:lstStyle/>
          <a:p>
            <a:r>
              <a:rPr lang="zh-CN" altLang="en-US" sz="1600"/>
              <a:t>图</a:t>
            </a:r>
            <a:r>
              <a:rPr lang="en-US" altLang="zh-CN" sz="1600"/>
              <a:t>1-1 </a:t>
            </a:r>
            <a:r>
              <a:rPr lang="zh-CN" altLang="en-US" sz="1600"/>
              <a:t>气候变化影响海洋生态系统示意图</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12A45-8DA2-203A-1DB7-5B71CDD1EC3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C97FE7A-82FE-F8BD-BD0B-2C2CE8C72191}"/>
              </a:ext>
            </a:extLst>
          </p:cNvPr>
          <p:cNvSpPr/>
          <p:nvPr/>
        </p:nvSpPr>
        <p:spPr>
          <a:xfrm>
            <a:off x="0" y="-1"/>
            <a:ext cx="12191695" cy="748729"/>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19928B9-AAF4-CA23-EB1D-C28748681253}"/>
              </a:ext>
            </a:extLst>
          </p:cNvPr>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E302877-D883-16BB-9409-BDF090F3B0B7}"/>
              </a:ext>
            </a:extLst>
          </p:cNvPr>
          <p:cNvSpPr txBox="1"/>
          <p:nvPr/>
        </p:nvSpPr>
        <p:spPr>
          <a:xfrm>
            <a:off x="-364610" y="51197"/>
            <a:ext cx="11613436" cy="646331"/>
          </a:xfrm>
          <a:prstGeom prst="rect">
            <a:avLst/>
          </a:prstGeom>
          <a:noFill/>
        </p:spPr>
        <p:txBody>
          <a:bodyPr wrap="none">
            <a:spAutoFit/>
          </a:bodyPr>
          <a:lstStyle/>
          <a:p>
            <a:pPr lvl="1"/>
            <a:r>
              <a:rPr lang="zh-CN" altLang="en-US" sz="3600" b="1">
                <a:solidFill>
                  <a:schemeClr val="bg1"/>
                </a:solidFill>
                <a:latin typeface="微软雅黑" panose="020B0503020204020204" pitchFamily="34" charset="-122"/>
                <a:ea typeface="微软雅黑" panose="020B0503020204020204" pitchFamily="34" charset="-122"/>
              </a:rPr>
              <a:t>国内外研究进展：</a:t>
            </a:r>
            <a:r>
              <a:rPr lang="en-US" altLang="zh-CN" sz="3600" b="1">
                <a:solidFill>
                  <a:schemeClr val="bg1"/>
                </a:solidFill>
                <a:latin typeface="微软雅黑" panose="020B0503020204020204" pitchFamily="34" charset="-122"/>
                <a:ea typeface="微软雅黑" panose="020B0503020204020204" pitchFamily="34" charset="-122"/>
              </a:rPr>
              <a:t>ToE</a:t>
            </a:r>
            <a:r>
              <a:rPr lang="zh-CN" altLang="en-US" sz="3600" b="1">
                <a:solidFill>
                  <a:schemeClr val="bg1"/>
                </a:solidFill>
                <a:latin typeface="微软雅黑" panose="020B0503020204020204" pitchFamily="34" charset="-122"/>
                <a:ea typeface="微软雅黑" panose="020B0503020204020204" pitchFamily="34" charset="-122"/>
              </a:rPr>
              <a:t>方法在海洋生物地球化学中应用</a:t>
            </a:r>
          </a:p>
        </p:txBody>
      </p:sp>
      <p:sp>
        <p:nvSpPr>
          <p:cNvPr id="4" name="文本框 3">
            <a:extLst>
              <a:ext uri="{FF2B5EF4-FFF2-40B4-BE49-F238E27FC236}">
                <a16:creationId xmlns:a16="http://schemas.microsoft.com/office/drawing/2014/main" id="{E61EB415-8CBE-FD52-D954-E8BB830EBE8B}"/>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04</a:t>
            </a:r>
          </a:p>
        </p:txBody>
      </p:sp>
      <p:pic>
        <p:nvPicPr>
          <p:cNvPr id="9" name="图片 8">
            <a:extLst>
              <a:ext uri="{FF2B5EF4-FFF2-40B4-BE49-F238E27FC236}">
                <a16:creationId xmlns:a16="http://schemas.microsoft.com/office/drawing/2014/main" id="{FC7D6FF5-7C23-9F84-A59B-6B48F15BB0D7}"/>
              </a:ext>
            </a:extLst>
          </p:cNvPr>
          <p:cNvPicPr>
            <a:picLocks noChangeAspect="1"/>
          </p:cNvPicPr>
          <p:nvPr/>
        </p:nvPicPr>
        <p:blipFill>
          <a:blip r:embed="rId3"/>
          <a:stretch>
            <a:fillRect/>
          </a:stretch>
        </p:blipFill>
        <p:spPr>
          <a:xfrm>
            <a:off x="2937446" y="934817"/>
            <a:ext cx="4207977" cy="3179983"/>
          </a:xfrm>
          <a:prstGeom prst="rect">
            <a:avLst/>
          </a:prstGeom>
        </p:spPr>
      </p:pic>
      <p:pic>
        <p:nvPicPr>
          <p:cNvPr id="13" name="图片 12">
            <a:extLst>
              <a:ext uri="{FF2B5EF4-FFF2-40B4-BE49-F238E27FC236}">
                <a16:creationId xmlns:a16="http://schemas.microsoft.com/office/drawing/2014/main" id="{A22E2871-F20F-F37E-3DCD-22A2BB5381AF}"/>
              </a:ext>
            </a:extLst>
          </p:cNvPr>
          <p:cNvPicPr>
            <a:picLocks noChangeAspect="1"/>
          </p:cNvPicPr>
          <p:nvPr/>
        </p:nvPicPr>
        <p:blipFill>
          <a:blip r:embed="rId4"/>
          <a:stretch>
            <a:fillRect/>
          </a:stretch>
        </p:blipFill>
        <p:spPr>
          <a:xfrm>
            <a:off x="7320297" y="916086"/>
            <a:ext cx="4840011" cy="1895416"/>
          </a:xfrm>
          <a:prstGeom prst="rect">
            <a:avLst/>
          </a:prstGeom>
        </p:spPr>
      </p:pic>
      <p:sp>
        <p:nvSpPr>
          <p:cNvPr id="14" name="文本框 13">
            <a:extLst>
              <a:ext uri="{FF2B5EF4-FFF2-40B4-BE49-F238E27FC236}">
                <a16:creationId xmlns:a16="http://schemas.microsoft.com/office/drawing/2014/main" id="{F0A17A30-DDCA-48AF-7754-CEEC833D0E0D}"/>
              </a:ext>
            </a:extLst>
          </p:cNvPr>
          <p:cNvSpPr txBox="1"/>
          <p:nvPr/>
        </p:nvSpPr>
        <p:spPr>
          <a:xfrm>
            <a:off x="229926" y="6257933"/>
            <a:ext cx="2806576" cy="461665"/>
          </a:xfrm>
          <a:prstGeom prst="rect">
            <a:avLst/>
          </a:prstGeom>
          <a:noFill/>
        </p:spPr>
        <p:txBody>
          <a:bodyPr wrap="square" rtlCol="0">
            <a:spAutoFit/>
          </a:bodyPr>
          <a:lstStyle/>
          <a:p>
            <a:pPr algn="ctr"/>
            <a:r>
              <a:rPr lang="zh-CN" altLang="en-US" sz="1200">
                <a:latin typeface="微软雅黑" panose="020B0503020204020204" pitchFamily="34" charset="-122"/>
                <a:ea typeface="微软雅黑" panose="020B0503020204020204" pitchFamily="34" charset="-122"/>
              </a:rPr>
              <a:t>图</a:t>
            </a:r>
            <a:r>
              <a:rPr lang="en-US" altLang="zh-CN" sz="1200">
                <a:latin typeface="微软雅黑" panose="020B0503020204020204" pitchFamily="34" charset="-122"/>
                <a:ea typeface="微软雅黑" panose="020B0503020204020204" pitchFamily="34" charset="-122"/>
              </a:rPr>
              <a:t>1-2 </a:t>
            </a:r>
            <a:r>
              <a:rPr lang="zh-CN" altLang="en-US" sz="1200">
                <a:latin typeface="微软雅黑" panose="020B0503020204020204" pitchFamily="34" charset="-122"/>
                <a:ea typeface="微软雅黑" panose="020B0503020204020204" pitchFamily="34" charset="-122"/>
              </a:rPr>
              <a:t>生态系统驱动因子</a:t>
            </a:r>
            <a:r>
              <a:rPr lang="en-US" altLang="zh-CN" sz="1200">
                <a:latin typeface="微软雅黑" panose="020B0503020204020204" pitchFamily="34" charset="-122"/>
                <a:ea typeface="微软雅黑" panose="020B0503020204020204" pitchFamily="34" charset="-122"/>
              </a:rPr>
              <a:t>ToE</a:t>
            </a:r>
            <a:r>
              <a:rPr lang="zh-CN" altLang="en-US" sz="1200">
                <a:latin typeface="微软雅黑" panose="020B0503020204020204" pitchFamily="34" charset="-122"/>
                <a:ea typeface="微软雅黑" panose="020B0503020204020204" pitchFamily="34" charset="-122"/>
              </a:rPr>
              <a:t>分布图</a:t>
            </a:r>
            <a:endParaRPr lang="en-US" altLang="zh-CN" sz="1200">
              <a:latin typeface="微软雅黑" panose="020B0503020204020204" pitchFamily="34" charset="-122"/>
              <a:ea typeface="微软雅黑" panose="020B0503020204020204" pitchFamily="34" charset="-122"/>
            </a:endParaRPr>
          </a:p>
          <a:p>
            <a:pPr algn="ctr"/>
            <a:r>
              <a:rPr lang="zh-CN" altLang="en-US" sz="1200">
                <a:latin typeface="微软雅黑" panose="020B0503020204020204" pitchFamily="34" charset="-122"/>
                <a:ea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rPr>
              <a:t>(Henson et al., 2017) </a:t>
            </a:r>
            <a:endParaRPr lang="zh-CN" altLang="en-US" sz="1200">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D0B42C3A-4CDC-4DEB-7D71-9B97DD1AC675}"/>
              </a:ext>
            </a:extLst>
          </p:cNvPr>
          <p:cNvPicPr>
            <a:picLocks noChangeAspect="1"/>
          </p:cNvPicPr>
          <p:nvPr/>
        </p:nvPicPr>
        <p:blipFill>
          <a:blip r:embed="rId5"/>
          <a:stretch>
            <a:fillRect/>
          </a:stretch>
        </p:blipFill>
        <p:spPr>
          <a:xfrm>
            <a:off x="229926" y="830368"/>
            <a:ext cx="2641853" cy="5402091"/>
          </a:xfrm>
          <a:prstGeom prst="rect">
            <a:avLst/>
          </a:prstGeom>
        </p:spPr>
      </p:pic>
      <p:sp>
        <p:nvSpPr>
          <p:cNvPr id="17" name="文本框 16">
            <a:extLst>
              <a:ext uri="{FF2B5EF4-FFF2-40B4-BE49-F238E27FC236}">
                <a16:creationId xmlns:a16="http://schemas.microsoft.com/office/drawing/2014/main" id="{DAA4585C-2DCA-12FA-B478-142169425C2E}"/>
              </a:ext>
            </a:extLst>
          </p:cNvPr>
          <p:cNvSpPr txBox="1"/>
          <p:nvPr/>
        </p:nvSpPr>
        <p:spPr>
          <a:xfrm>
            <a:off x="3036502" y="4223833"/>
            <a:ext cx="3920889" cy="461665"/>
          </a:xfrm>
          <a:prstGeom prst="rect">
            <a:avLst/>
          </a:prstGeom>
          <a:noFill/>
        </p:spPr>
        <p:txBody>
          <a:bodyPr wrap="square" rtlCol="0">
            <a:spAutoFit/>
          </a:bodyPr>
          <a:lstStyle/>
          <a:p>
            <a:pPr algn="ctr"/>
            <a:r>
              <a:rPr lang="zh-CN" altLang="en-US" sz="1200">
                <a:latin typeface="微软雅黑" panose="020B0503020204020204" pitchFamily="34" charset="-122"/>
                <a:ea typeface="微软雅黑" panose="020B0503020204020204" pitchFamily="34" charset="-122"/>
              </a:rPr>
              <a:t>图</a:t>
            </a:r>
            <a:r>
              <a:rPr lang="en-US" altLang="zh-CN" sz="1200">
                <a:latin typeface="微软雅黑" panose="020B0503020204020204" pitchFamily="34" charset="-122"/>
                <a:ea typeface="微软雅黑" panose="020B0503020204020204" pitchFamily="34" charset="-122"/>
              </a:rPr>
              <a:t>1-3 </a:t>
            </a:r>
            <a:r>
              <a:rPr lang="zh-CN" altLang="en-US" sz="1200">
                <a:latin typeface="微软雅黑" panose="020B0503020204020204" pitchFamily="34" charset="-122"/>
                <a:ea typeface="微软雅黑" panose="020B0503020204020204" pitchFamily="34" charset="-122"/>
              </a:rPr>
              <a:t>各鱼类生物量</a:t>
            </a:r>
            <a:r>
              <a:rPr lang="en-US" altLang="zh-CN" sz="1200">
                <a:latin typeface="微软雅黑" panose="020B0503020204020204" pitchFamily="34" charset="-122"/>
                <a:ea typeface="微软雅黑" panose="020B0503020204020204" pitchFamily="34" charset="-122"/>
              </a:rPr>
              <a:t>ToE</a:t>
            </a:r>
            <a:r>
              <a:rPr lang="zh-CN" altLang="en-US" sz="1200">
                <a:latin typeface="微软雅黑" panose="020B0503020204020204" pitchFamily="34" charset="-122"/>
                <a:ea typeface="微软雅黑" panose="020B0503020204020204" pitchFamily="34" charset="-122"/>
              </a:rPr>
              <a:t>分布及相对信号变化图</a:t>
            </a:r>
            <a:endParaRPr lang="en-US" altLang="zh-CN" sz="1200">
              <a:latin typeface="微软雅黑" panose="020B0503020204020204" pitchFamily="34" charset="-122"/>
              <a:ea typeface="微软雅黑" panose="020B0503020204020204" pitchFamily="34" charset="-122"/>
            </a:endParaRPr>
          </a:p>
          <a:p>
            <a:pPr algn="ctr"/>
            <a:r>
              <a:rPr lang="en-US" altLang="zh-CN" sz="1200">
                <a:latin typeface="微软雅黑" panose="020B0503020204020204" pitchFamily="34" charset="-122"/>
                <a:ea typeface="微软雅黑" panose="020B0503020204020204" pitchFamily="34" charset="-122"/>
              </a:rPr>
              <a:t>(Barrier et al., 2025)</a:t>
            </a:r>
            <a:endParaRPr lang="zh-CN" altLang="en-US" sz="120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932FAB0A-B8CE-281A-5232-E46056AE2F37}"/>
              </a:ext>
            </a:extLst>
          </p:cNvPr>
          <p:cNvSpPr txBox="1"/>
          <p:nvPr/>
        </p:nvSpPr>
        <p:spPr>
          <a:xfrm>
            <a:off x="8095377" y="2817958"/>
            <a:ext cx="3289852" cy="461665"/>
          </a:xfrm>
          <a:prstGeom prst="rect">
            <a:avLst/>
          </a:prstGeom>
          <a:noFill/>
        </p:spPr>
        <p:txBody>
          <a:bodyPr wrap="square" rtlCol="0">
            <a:spAutoFit/>
          </a:bodyPr>
          <a:lstStyle/>
          <a:p>
            <a:pPr algn="ctr"/>
            <a:r>
              <a:rPr lang="zh-CN" altLang="en-US" sz="1200">
                <a:latin typeface="微软雅黑" panose="020B0503020204020204" pitchFamily="34" charset="-122"/>
                <a:ea typeface="微软雅黑" panose="020B0503020204020204" pitchFamily="34" charset="-122"/>
              </a:rPr>
              <a:t>图</a:t>
            </a:r>
            <a:r>
              <a:rPr lang="en-US" altLang="zh-CN" sz="1200">
                <a:latin typeface="微软雅黑" panose="020B0503020204020204" pitchFamily="34" charset="-122"/>
                <a:ea typeface="微软雅黑" panose="020B0503020204020204" pitchFamily="34" charset="-122"/>
              </a:rPr>
              <a:t>1-4 pCO</a:t>
            </a:r>
            <a:r>
              <a:rPr lang="en-US" altLang="zh-CN" sz="1200" baseline="-25000">
                <a:latin typeface="微软雅黑" panose="020B0503020204020204" pitchFamily="34" charset="-122"/>
                <a:ea typeface="微软雅黑" panose="020B0503020204020204" pitchFamily="34" charset="-122"/>
              </a:rPr>
              <a:t>2</a:t>
            </a:r>
            <a:r>
              <a:rPr lang="zh-CN" altLang="en-US" sz="1200">
                <a:latin typeface="微软雅黑" panose="020B0503020204020204" pitchFamily="34" charset="-122"/>
                <a:ea typeface="微软雅黑" panose="020B0503020204020204" pitchFamily="34" charset="-122"/>
              </a:rPr>
              <a:t>的出现时间估计图</a:t>
            </a:r>
            <a:endParaRPr lang="en-US" altLang="zh-CN" sz="1200">
              <a:latin typeface="微软雅黑" panose="020B0503020204020204" pitchFamily="34" charset="-122"/>
              <a:ea typeface="微软雅黑" panose="020B0503020204020204" pitchFamily="34" charset="-122"/>
            </a:endParaRPr>
          </a:p>
          <a:p>
            <a:pPr algn="ctr"/>
            <a:r>
              <a:rPr lang="en-US" altLang="zh-CN" sz="1200">
                <a:latin typeface="微软雅黑" panose="020B0503020204020204" pitchFamily="34" charset="-122"/>
                <a:ea typeface="微软雅黑" panose="020B0503020204020204" pitchFamily="34" charset="-122"/>
              </a:rPr>
              <a:t>(Sutton et al., 2019)</a:t>
            </a:r>
            <a:endParaRPr lang="zh-CN" altLang="en-US" sz="12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0987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7508E-CCF7-5034-5143-1EC47A7171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6BE19E-62B3-D5F7-0EF8-45E1141F025B}"/>
              </a:ext>
            </a:extLst>
          </p:cNvPr>
          <p:cNvSpPr/>
          <p:nvPr/>
        </p:nvSpPr>
        <p:spPr>
          <a:xfrm>
            <a:off x="0" y="-1"/>
            <a:ext cx="12191695" cy="748729"/>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10FE7F8-DDF7-BF7B-78C2-E9E6829D3E38}"/>
              </a:ext>
            </a:extLst>
          </p:cNvPr>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090057D-9D09-13A0-879C-AA7369CD9129}"/>
              </a:ext>
            </a:extLst>
          </p:cNvPr>
          <p:cNvSpPr txBox="1"/>
          <p:nvPr/>
        </p:nvSpPr>
        <p:spPr>
          <a:xfrm>
            <a:off x="-376442" y="51197"/>
            <a:ext cx="12075100" cy="646331"/>
          </a:xfrm>
          <a:prstGeom prst="rect">
            <a:avLst/>
          </a:prstGeom>
          <a:noFill/>
        </p:spPr>
        <p:txBody>
          <a:bodyPr wrap="none">
            <a:spAutoFit/>
          </a:bodyPr>
          <a:lstStyle/>
          <a:p>
            <a:pPr lvl="1"/>
            <a:r>
              <a:rPr lang="zh-CN" altLang="en-US" sz="3600" b="1">
                <a:solidFill>
                  <a:schemeClr val="bg1"/>
                </a:solidFill>
                <a:latin typeface="微软雅黑" panose="020B0503020204020204" pitchFamily="34" charset="-122"/>
                <a:ea typeface="微软雅黑" panose="020B0503020204020204" pitchFamily="34" charset="-122"/>
              </a:rPr>
              <a:t>国内外研究进展：基于通用地球系统模式的</a:t>
            </a:r>
            <a:r>
              <a:rPr lang="en-US" altLang="zh-CN" sz="3600" b="1">
                <a:solidFill>
                  <a:schemeClr val="bg1"/>
                </a:solidFill>
                <a:latin typeface="微软雅黑" panose="020B0503020204020204" pitchFamily="34" charset="-122"/>
                <a:ea typeface="微软雅黑" panose="020B0503020204020204" pitchFamily="34" charset="-122"/>
              </a:rPr>
              <a:t>ToE</a:t>
            </a:r>
            <a:r>
              <a:rPr lang="zh-CN" altLang="en-US" sz="3600" b="1">
                <a:solidFill>
                  <a:schemeClr val="bg1"/>
                </a:solidFill>
                <a:latin typeface="微软雅黑" panose="020B0503020204020204" pitchFamily="34" charset="-122"/>
                <a:ea typeface="微软雅黑" panose="020B0503020204020204" pitchFamily="34" charset="-122"/>
              </a:rPr>
              <a:t>方法研究</a:t>
            </a:r>
          </a:p>
        </p:txBody>
      </p:sp>
      <p:sp>
        <p:nvSpPr>
          <p:cNvPr id="4" name="文本框 3">
            <a:extLst>
              <a:ext uri="{FF2B5EF4-FFF2-40B4-BE49-F238E27FC236}">
                <a16:creationId xmlns:a16="http://schemas.microsoft.com/office/drawing/2014/main" id="{E481ED75-87C8-49C3-D679-76635852DBEF}"/>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05</a:t>
            </a:r>
          </a:p>
        </p:txBody>
      </p:sp>
      <p:graphicFrame>
        <p:nvGraphicFramePr>
          <p:cNvPr id="9" name="表格 8">
            <a:extLst>
              <a:ext uri="{FF2B5EF4-FFF2-40B4-BE49-F238E27FC236}">
                <a16:creationId xmlns:a16="http://schemas.microsoft.com/office/drawing/2014/main" id="{BD5DDCC7-3EF8-6558-740C-FBA69399E0D3}"/>
              </a:ext>
            </a:extLst>
          </p:cNvPr>
          <p:cNvGraphicFramePr>
            <a:graphicFrameLocks noGrp="1"/>
          </p:cNvGraphicFramePr>
          <p:nvPr>
            <p:extLst>
              <p:ext uri="{D42A27DB-BD31-4B8C-83A1-F6EECF244321}">
                <p14:modId xmlns:p14="http://schemas.microsoft.com/office/powerpoint/2010/main" val="3331357054"/>
              </p:ext>
            </p:extLst>
          </p:nvPr>
        </p:nvGraphicFramePr>
        <p:xfrm>
          <a:off x="383926" y="1083791"/>
          <a:ext cx="11588334" cy="5375992"/>
        </p:xfrm>
        <a:graphic>
          <a:graphicData uri="http://schemas.openxmlformats.org/drawingml/2006/table">
            <a:tbl>
              <a:tblPr firstRow="1" bandRow="1">
                <a:tableStyleId>{17292A2E-F333-43FB-9621-5CBBE7FDCDCB}</a:tableStyleId>
              </a:tblPr>
              <a:tblGrid>
                <a:gridCol w="2223243">
                  <a:extLst>
                    <a:ext uri="{9D8B030D-6E8A-4147-A177-3AD203B41FA5}">
                      <a16:colId xmlns:a16="http://schemas.microsoft.com/office/drawing/2014/main" val="3304137075"/>
                    </a:ext>
                  </a:extLst>
                </a:gridCol>
                <a:gridCol w="3463077">
                  <a:extLst>
                    <a:ext uri="{9D8B030D-6E8A-4147-A177-3AD203B41FA5}">
                      <a16:colId xmlns:a16="http://schemas.microsoft.com/office/drawing/2014/main" val="314595084"/>
                    </a:ext>
                  </a:extLst>
                </a:gridCol>
                <a:gridCol w="5902014">
                  <a:extLst>
                    <a:ext uri="{9D8B030D-6E8A-4147-A177-3AD203B41FA5}">
                      <a16:colId xmlns:a16="http://schemas.microsoft.com/office/drawing/2014/main" val="2597226827"/>
                    </a:ext>
                  </a:extLst>
                </a:gridCol>
              </a:tblGrid>
              <a:tr h="309869">
                <a:tc>
                  <a:txBody>
                    <a:bodyPr/>
                    <a:lstStyle/>
                    <a:p>
                      <a:pPr algn="ctr"/>
                      <a:r>
                        <a:rPr lang="zh-CN" altLang="en-US" sz="1400">
                          <a:latin typeface="微软雅黑" panose="020B0503020204020204" pitchFamily="34" charset="-122"/>
                          <a:ea typeface="微软雅黑" panose="020B0503020204020204" pitchFamily="34" charset="-122"/>
                        </a:rPr>
                        <a:t>研究方向</a:t>
                      </a:r>
                    </a:p>
                  </a:txBody>
                  <a:tcPr anchor="ctr">
                    <a:lnL w="12700" cap="flat" cmpd="sng" algn="ctr">
                      <a:no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CN" altLang="en-US" sz="1400">
                          <a:latin typeface="微软雅黑" panose="020B0503020204020204" pitchFamily="34" charset="-122"/>
                          <a:ea typeface="微软雅黑" panose="020B0503020204020204" pitchFamily="34" charset="-122"/>
                        </a:rPr>
                        <a:t>作者及年份</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zh-CN" altLang="en-US" sz="1400">
                          <a:latin typeface="微软雅黑" panose="020B0503020204020204" pitchFamily="34" charset="-122"/>
                          <a:ea typeface="微软雅黑" panose="020B0503020204020204" pitchFamily="34" charset="-122"/>
                        </a:rPr>
                        <a:t>文献题目</a:t>
                      </a:r>
                    </a:p>
                  </a:txBody>
                  <a:tcPr anchor="ctr">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406501034"/>
                  </a:ext>
                </a:extLst>
              </a:tr>
              <a:tr h="287055">
                <a:tc rowSpan="5">
                  <a:txBody>
                    <a:bodyPr/>
                    <a:lstStyle/>
                    <a:p>
                      <a:pPr algn="ctr"/>
                      <a:r>
                        <a:rPr lang="zh-CN" altLang="en-US" sz="2000" b="1">
                          <a:solidFill>
                            <a:schemeClr val="tx1"/>
                          </a:solidFill>
                          <a:latin typeface="微软雅黑" panose="020B0503020204020204" pitchFamily="34" charset="-122"/>
                          <a:ea typeface="微软雅黑" panose="020B0503020204020204" pitchFamily="34" charset="-122"/>
                        </a:rPr>
                        <a:t>海洋脱氧</a:t>
                      </a:r>
                    </a:p>
                  </a:txBody>
                  <a:tcPr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0" u="none" baseline="0">
                          <a:latin typeface="微软雅黑" panose="020B0503020204020204" pitchFamily="34" charset="-122"/>
                          <a:ea typeface="微软雅黑" panose="020B0503020204020204" pitchFamily="34" charset="-122"/>
                        </a:rPr>
                        <a:t>Long et al., 2016</a:t>
                      </a:r>
                      <a:endParaRPr lang="zh-CN" altLang="en-US" sz="1400" b="0" i="0" u="none" baseline="0">
                        <a:latin typeface="微软雅黑" panose="020B0503020204020204" pitchFamily="34" charset="-122"/>
                        <a:ea typeface="微软雅黑" panose="020B0503020204020204" pitchFamily="34" charset="-122"/>
                      </a:endParaRPr>
                    </a:p>
                  </a:txBody>
                  <a:tcPr anchor="ctr">
                    <a:lnL>
                      <a:noFill/>
                    </a:lnL>
                    <a:lnR>
                      <a:noFill/>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algn="ctr"/>
                      <a:r>
                        <a:rPr lang="en-US" altLang="zh-CN" sz="1400">
                          <a:latin typeface="微软雅黑" panose="020B0503020204020204" pitchFamily="34" charset="-122"/>
                          <a:ea typeface="微软雅黑" panose="020B0503020204020204" pitchFamily="34" charset="-122"/>
                        </a:rPr>
                        <a:t>Finding forced trends in oceanic oxygen</a:t>
                      </a: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067888627"/>
                  </a:ext>
                </a:extLst>
              </a:tr>
              <a:tr h="697205">
                <a:tc vMerge="1">
                  <a:txBody>
                    <a:bodyPr/>
                    <a:lstStyle/>
                    <a:p>
                      <a:pPr algn="ctr"/>
                      <a:endParaRPr lang="zh-CN" altLang="en-US">
                        <a:latin typeface="微软雅黑" panose="020B0503020204020204" pitchFamily="34" charset="-122"/>
                        <a:ea typeface="微软雅黑" panose="020B0503020204020204" pitchFamily="34" charset="-122"/>
                      </a:endParaRPr>
                    </a:p>
                  </a:txBody>
                  <a:tcPr/>
                </a:tc>
                <a:tc>
                  <a:txBody>
                    <a:bodyPr/>
                    <a:lstStyle/>
                    <a:p>
                      <a:pPr algn="ctr"/>
                      <a:r>
                        <a:rPr lang="en-US" altLang="zh-CN" sz="1400" b="0" u="none" baseline="0">
                          <a:latin typeface="微软雅黑" panose="020B0503020204020204" pitchFamily="34" charset="-122"/>
                          <a:ea typeface="微软雅黑" panose="020B0503020204020204" pitchFamily="34" charset="-122"/>
                        </a:rPr>
                        <a:t>Hameau et al., 2019</a:t>
                      </a:r>
                      <a:endParaRPr lang="zh-CN" altLang="en-US" sz="1400" b="0" i="0" u="none" baseline="0">
                        <a:latin typeface="微软雅黑" panose="020B0503020204020204" pitchFamily="34" charset="-122"/>
                        <a:ea typeface="微软雅黑" panose="020B0503020204020204" pitchFamily="34" charset="-122"/>
                      </a:endParaRPr>
                    </a:p>
                  </a:txBody>
                  <a:tcPr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altLang="zh-CN" sz="1400">
                          <a:latin typeface="微软雅黑" panose="020B0503020204020204" pitchFamily="34" charset="-122"/>
                          <a:ea typeface="微软雅黑" panose="020B0503020204020204" pitchFamily="34" charset="-122"/>
                        </a:rPr>
                        <a:t>Assessment of time of emergence of anthropogenic deoxygenation and warming: insights from a CESM simulation from 850 to 2100 CE</a:t>
                      </a:r>
                    </a:p>
                  </a:txBody>
                  <a:tcPr anchor="ctr">
                    <a:lnL>
                      <a:noFill/>
                    </a:lnL>
                    <a:lnR w="12700" cap="flat" cmpd="sng" algn="ctr">
                      <a:no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208118666"/>
                  </a:ext>
                </a:extLst>
              </a:tr>
              <a:tr h="490625">
                <a:tc vMerge="1">
                  <a:txBody>
                    <a:bodyPr/>
                    <a:lstStyle/>
                    <a:p>
                      <a:pPr algn="ctr"/>
                      <a:endParaRPr lang="zh-CN" altLang="en-US">
                        <a:latin typeface="微软雅黑" panose="020B0503020204020204" pitchFamily="34" charset="-122"/>
                        <a:ea typeface="微软雅黑" panose="020B0503020204020204" pitchFamily="34" charset="-122"/>
                      </a:endParaRPr>
                    </a:p>
                  </a:txBody>
                  <a:tcPr/>
                </a:tc>
                <a:tc>
                  <a:txBody>
                    <a:bodyPr/>
                    <a:lstStyle/>
                    <a:p>
                      <a:pPr algn="ctr"/>
                      <a:r>
                        <a:rPr lang="en-US" altLang="zh-CN" sz="1400" b="0" u="none" baseline="0">
                          <a:latin typeface="微软雅黑" panose="020B0503020204020204" pitchFamily="34" charset="-122"/>
                          <a:ea typeface="微软雅黑" panose="020B0503020204020204" pitchFamily="34" charset="-122"/>
                        </a:rPr>
                        <a:t>Hameau et al., 2020</a:t>
                      </a:r>
                      <a:endParaRPr lang="zh-CN" altLang="en-US" sz="1400" b="0" i="0" u="none" baseline="0">
                        <a:latin typeface="微软雅黑" panose="020B0503020204020204" pitchFamily="34" charset="-122"/>
                        <a:ea typeface="微软雅黑" panose="020B0503020204020204" pitchFamily="34" charset="-122"/>
                      </a:endParaRPr>
                    </a:p>
                  </a:txBody>
                  <a:tcPr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altLang="zh-CN" sz="1400">
                          <a:latin typeface="微软雅黑" panose="020B0503020204020204" pitchFamily="34" charset="-122"/>
                          <a:ea typeface="微软雅黑" panose="020B0503020204020204" pitchFamily="34" charset="-122"/>
                        </a:rPr>
                        <a:t>Is deoxygenation detectable before warming in the thermocline?</a:t>
                      </a:r>
                      <a:endParaRPr lang="zh-CN" altLang="en-US" sz="1400">
                        <a:latin typeface="微软雅黑" panose="020B0503020204020204" pitchFamily="34" charset="-122"/>
                        <a:ea typeface="微软雅黑" panose="020B0503020204020204" pitchFamily="34" charset="-122"/>
                      </a:endParaRPr>
                    </a:p>
                  </a:txBody>
                  <a:tcPr anchor="ctr">
                    <a:lnL>
                      <a:noFill/>
                    </a:lnL>
                    <a:lnR w="12700" cap="flat" cmpd="sng" algn="ctr">
                      <a:no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557531203"/>
                  </a:ext>
                </a:extLst>
              </a:tr>
              <a:tr h="490625">
                <a:tc vMerge="1">
                  <a:txBody>
                    <a:bodyPr/>
                    <a:lstStyle/>
                    <a:p>
                      <a:pPr algn="ctr"/>
                      <a:endParaRPr lang="zh-CN" altLang="en-US">
                        <a:latin typeface="微软雅黑" panose="020B0503020204020204" pitchFamily="34" charset="-122"/>
                        <a:ea typeface="微软雅黑" panose="020B0503020204020204" pitchFamily="34" charset="-122"/>
                      </a:endParaRPr>
                    </a:p>
                  </a:txBody>
                  <a:tcPr/>
                </a:tc>
                <a:tc>
                  <a:txBody>
                    <a:bodyPr/>
                    <a:lstStyle/>
                    <a:p>
                      <a:pPr algn="ctr"/>
                      <a:r>
                        <a:rPr lang="en-US" altLang="zh-CN" sz="1400" b="0" u="none" baseline="0">
                          <a:latin typeface="微软雅黑" panose="020B0503020204020204" pitchFamily="34" charset="-122"/>
                          <a:ea typeface="微软雅黑" panose="020B0503020204020204" pitchFamily="34" charset="-122"/>
                        </a:rPr>
                        <a:t>Tjiputra et al., 2023</a:t>
                      </a:r>
                      <a:endParaRPr lang="zh-CN" altLang="en-US" sz="1400" b="0" i="0" u="none" baseline="0">
                        <a:latin typeface="微软雅黑" panose="020B0503020204020204" pitchFamily="34" charset="-122"/>
                        <a:ea typeface="微软雅黑" panose="020B0503020204020204" pitchFamily="34" charset="-122"/>
                      </a:endParaRPr>
                    </a:p>
                  </a:txBody>
                  <a:tcPr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altLang="zh-CN" sz="1400">
                          <a:latin typeface="微软雅黑" panose="020B0503020204020204" pitchFamily="34" charset="-122"/>
                          <a:ea typeface="微软雅黑" panose="020B0503020204020204" pitchFamily="34" charset="-122"/>
                        </a:rPr>
                        <a:t>Early detection of anthropogenic climate change signals in the ocean interior</a:t>
                      </a:r>
                      <a:endParaRPr lang="zh-CN" altLang="en-US" sz="1400">
                        <a:latin typeface="微软雅黑" panose="020B0503020204020204" pitchFamily="34" charset="-122"/>
                        <a:ea typeface="微软雅黑" panose="020B0503020204020204" pitchFamily="34" charset="-122"/>
                      </a:endParaRPr>
                    </a:p>
                  </a:txBody>
                  <a:tcPr anchor="ctr">
                    <a:lnL>
                      <a:noFill/>
                    </a:lnL>
                    <a:lnR w="12700" cap="flat" cmpd="sng" algn="ctr">
                      <a:no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436967187"/>
                  </a:ext>
                </a:extLst>
              </a:tr>
              <a:tr h="490625">
                <a:tc vMerge="1">
                  <a:txBody>
                    <a:bodyPr/>
                    <a:lstStyle/>
                    <a:p>
                      <a:pPr algn="ctr"/>
                      <a:endParaRPr lang="zh-CN" altLang="en-US">
                        <a:latin typeface="微软雅黑" panose="020B0503020204020204" pitchFamily="34" charset="-122"/>
                        <a:ea typeface="微软雅黑" panose="020B0503020204020204" pitchFamily="34" charset="-122"/>
                      </a:endParaRPr>
                    </a:p>
                  </a:txBody>
                  <a:tcPr/>
                </a:tc>
                <a:tc>
                  <a:txBody>
                    <a:bodyPr/>
                    <a:lstStyle/>
                    <a:p>
                      <a:pPr algn="ctr"/>
                      <a:r>
                        <a:rPr lang="en-US" altLang="zh-CN" sz="1400" b="0" u="none" baseline="0">
                          <a:latin typeface="微软雅黑" panose="020B0503020204020204" pitchFamily="34" charset="-122"/>
                          <a:ea typeface="微软雅黑" panose="020B0503020204020204" pitchFamily="34" charset="-122"/>
                        </a:rPr>
                        <a:t>Gong et al., 2021</a:t>
                      </a:r>
                      <a:endParaRPr lang="zh-CN" altLang="en-US" sz="1400" b="0" i="0" u="none" baseline="0">
                        <a:latin typeface="微软雅黑" panose="020B0503020204020204" pitchFamily="34" charset="-122"/>
                        <a:ea typeface="微软雅黑" panose="020B0503020204020204" pitchFamily="34" charset="-122"/>
                      </a:endParaRPr>
                    </a:p>
                  </a:txBody>
                  <a:tcPr anchor="ctr">
                    <a:lnL>
                      <a:noFill/>
                    </a:lnL>
                    <a:lnR>
                      <a:noFill/>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latin typeface="微软雅黑" panose="020B0503020204020204" pitchFamily="34" charset="-122"/>
                          <a:ea typeface="微软雅黑" panose="020B0503020204020204" pitchFamily="34" charset="-122"/>
                        </a:rPr>
                        <a:t>Emerging Global Ocean Deoxygenation Across the 21st Century</a:t>
                      </a:r>
                      <a:endParaRPr lang="zh-CN" altLang="en-US" sz="1400">
                        <a:latin typeface="微软雅黑" panose="020B0503020204020204" pitchFamily="34" charset="-122"/>
                        <a:ea typeface="微软雅黑" panose="020B0503020204020204" pitchFamily="34" charset="-122"/>
                      </a:endParaRPr>
                    </a:p>
                  </a:txBody>
                  <a:tcPr anchor="ctr">
                    <a:lnL>
                      <a:noFill/>
                    </a:lnL>
                    <a:lnR w="12700" cap="flat" cmpd="sng" algn="ctr">
                      <a:noFill/>
                      <a:prstDash val="solid"/>
                      <a:round/>
                      <a:headEnd type="none" w="med" len="med"/>
                      <a:tailEnd type="none" w="med" len="me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1060475"/>
                  </a:ext>
                </a:extLst>
              </a:tr>
              <a:tr h="461178">
                <a:tc rowSpan="2">
                  <a:txBody>
                    <a:bodyPr/>
                    <a:lstStyle/>
                    <a:p>
                      <a:pPr algn="ctr"/>
                      <a:r>
                        <a:rPr lang="zh-CN" altLang="en-US" sz="2000" b="1">
                          <a:solidFill>
                            <a:schemeClr val="tx1"/>
                          </a:solidFill>
                          <a:latin typeface="微软雅黑" panose="020B0503020204020204" pitchFamily="34" charset="-122"/>
                          <a:ea typeface="微软雅黑" panose="020B0503020204020204" pitchFamily="34" charset="-122"/>
                        </a:rPr>
                        <a:t>海洋碳循环和酸化</a:t>
                      </a:r>
                    </a:p>
                  </a:txBody>
                  <a:tcPr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b="0" u="none" baseline="0">
                          <a:latin typeface="微软雅黑" panose="020B0503020204020204" pitchFamily="34" charset="-122"/>
                          <a:ea typeface="微软雅黑" panose="020B0503020204020204" pitchFamily="34" charset="-122"/>
                        </a:rPr>
                        <a:t>McKinley et al., 2016</a:t>
                      </a:r>
                      <a:endParaRPr lang="zh-CN" altLang="en-US" sz="1400" b="0" i="0" u="none" baseline="0">
                        <a:latin typeface="微软雅黑" panose="020B0503020204020204" pitchFamily="34" charset="-122"/>
                        <a:ea typeface="微软雅黑" panose="020B0503020204020204" pitchFamily="34" charset="-122"/>
                      </a:endParaRPr>
                    </a:p>
                  </a:txBody>
                  <a:tcPr anchor="ctr">
                    <a:lnL>
                      <a:noFill/>
                    </a:lnL>
                    <a:lnR>
                      <a:noFill/>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algn="ctr"/>
                      <a:r>
                        <a:rPr lang="en-US" altLang="zh-CN" sz="1400">
                          <a:latin typeface="微软雅黑" panose="020B0503020204020204" pitchFamily="34" charset="-122"/>
                          <a:ea typeface="微软雅黑" panose="020B0503020204020204" pitchFamily="34" charset="-122"/>
                        </a:rPr>
                        <a:t>Timescales for detection of trends in the ocean carbon sink</a:t>
                      </a:r>
                      <a:endParaRPr lang="zh-CN" altLang="en-US" sz="1400">
                        <a:latin typeface="微软雅黑" panose="020B0503020204020204" pitchFamily="34" charset="-122"/>
                        <a:ea typeface="微软雅黑" panose="020B0503020204020204" pitchFamily="34" charset="-122"/>
                      </a:endParaRP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767645626"/>
                  </a:ext>
                </a:extLst>
              </a:tr>
              <a:tr h="490625">
                <a:tc vMerge="1">
                  <a:txBody>
                    <a:bodyPr/>
                    <a:lstStyle/>
                    <a:p>
                      <a:pPr algn="ctr"/>
                      <a:endParaRPr lang="zh-CN" altLang="en-US">
                        <a:latin typeface="微软雅黑" panose="020B0503020204020204" pitchFamily="34" charset="-122"/>
                        <a:ea typeface="微软雅黑" panose="020B0503020204020204" pitchFamily="34" charset="-122"/>
                      </a:endParaRPr>
                    </a:p>
                  </a:txBody>
                  <a:tcPr/>
                </a:tc>
                <a:tc>
                  <a:txBody>
                    <a:bodyPr/>
                    <a:lstStyle/>
                    <a:p>
                      <a:pPr algn="ctr"/>
                      <a:r>
                        <a:rPr lang="en-US" altLang="zh-CN" sz="1400" b="0" u="none" baseline="0">
                          <a:latin typeface="微软雅黑" panose="020B0503020204020204" pitchFamily="34" charset="-122"/>
                          <a:ea typeface="微软雅黑" panose="020B0503020204020204" pitchFamily="34" charset="-122"/>
                        </a:rPr>
                        <a:t>Schlunegger et al., 2019</a:t>
                      </a:r>
                      <a:endParaRPr lang="zh-CN" altLang="en-US" sz="1400" b="0" i="0" u="none" baseline="0">
                        <a:latin typeface="微软雅黑" panose="020B0503020204020204" pitchFamily="34" charset="-122"/>
                        <a:ea typeface="微软雅黑" panose="020B0503020204020204" pitchFamily="34" charset="-122"/>
                      </a:endParaRPr>
                    </a:p>
                  </a:txBody>
                  <a:tcPr anchor="ctr">
                    <a:lnL>
                      <a:noFill/>
                    </a:lnL>
                    <a:lnR>
                      <a:noFill/>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latin typeface="微软雅黑" panose="020B0503020204020204" pitchFamily="34" charset="-122"/>
                          <a:ea typeface="微软雅黑" panose="020B0503020204020204" pitchFamily="34" charset="-122"/>
                        </a:rPr>
                        <a:t>Time of Emergence and Large Ensemble Intercomparison for Ocean Biogeochemical Trends</a:t>
                      </a:r>
                      <a:endParaRPr lang="zh-CN" altLang="en-US" sz="1400">
                        <a:latin typeface="微软雅黑" panose="020B0503020204020204" pitchFamily="34" charset="-122"/>
                        <a:ea typeface="微软雅黑" panose="020B0503020204020204" pitchFamily="34" charset="-122"/>
                      </a:endParaRPr>
                    </a:p>
                  </a:txBody>
                  <a:tcPr anchor="ctr">
                    <a:lnL>
                      <a:noFill/>
                    </a:lnL>
                    <a:lnR w="12700" cap="flat" cmpd="sng" algn="ctr">
                      <a:noFill/>
                      <a:prstDash val="solid"/>
                      <a:round/>
                      <a:headEnd type="none" w="med" len="med"/>
                      <a:tailEnd type="none" w="med" len="me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7811350"/>
                  </a:ext>
                </a:extLst>
              </a:tr>
              <a:tr h="490625">
                <a:tc rowSpan="3">
                  <a:txBody>
                    <a:bodyPr/>
                    <a:lstStyle/>
                    <a:p>
                      <a:pPr algn="ctr"/>
                      <a:r>
                        <a:rPr lang="zh-CN" altLang="en-US" sz="2000" b="1">
                          <a:solidFill>
                            <a:schemeClr val="tx1"/>
                          </a:solidFill>
                          <a:latin typeface="微软雅黑" panose="020B0503020204020204" pitchFamily="34" charset="-122"/>
                          <a:ea typeface="微软雅黑" panose="020B0503020204020204" pitchFamily="34" charset="-122"/>
                        </a:rPr>
                        <a:t>海洋生态系统气候变化信号的传播过程及生态响应</a:t>
                      </a:r>
                    </a:p>
                    <a:p>
                      <a:pPr algn="ctr"/>
                      <a:endParaRPr lang="zh-CN" altLang="en-US" sz="2000">
                        <a:solidFill>
                          <a:schemeClr val="accent5"/>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n-US" altLang="zh-CN" sz="1400" b="0" u="none" baseline="0">
                          <a:latin typeface="微软雅黑" panose="020B0503020204020204" pitchFamily="34" charset="-122"/>
                          <a:ea typeface="微软雅黑" panose="020B0503020204020204" pitchFamily="34" charset="-122"/>
                        </a:rPr>
                        <a:t>Sreeush et al., 2024</a:t>
                      </a:r>
                      <a:endParaRPr lang="zh-CN" altLang="en-US" sz="1400" b="0" i="0" u="none" baseline="0">
                        <a:latin typeface="微软雅黑" panose="020B0503020204020204" pitchFamily="34" charset="-122"/>
                        <a:ea typeface="微软雅黑" panose="020B0503020204020204" pitchFamily="34" charset="-122"/>
                      </a:endParaRPr>
                    </a:p>
                  </a:txBody>
                  <a:tcPr anchor="ctr">
                    <a:lnL>
                      <a:noFill/>
                    </a:lnL>
                    <a:lnR>
                      <a:noFill/>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tc>
                  <a:txBody>
                    <a:bodyPr/>
                    <a:lstStyle/>
                    <a:p>
                      <a:pPr algn="ctr"/>
                      <a:r>
                        <a:rPr lang="en-US" altLang="zh-CN" sz="1400">
                          <a:latin typeface="微软雅黑" panose="020B0503020204020204" pitchFamily="34" charset="-122"/>
                          <a:ea typeface="微软雅黑" panose="020B0503020204020204" pitchFamily="34" charset="-122"/>
                        </a:rPr>
                        <a:t>Anthropogenically Driven Changes in the Carbon to Phosphorus Ratio of Marine Dissolved Organic Matter</a:t>
                      </a:r>
                      <a:endParaRPr lang="zh-CN" altLang="en-US" sz="1400">
                        <a:latin typeface="微软雅黑" panose="020B0503020204020204" pitchFamily="34" charset="-122"/>
                        <a:ea typeface="微软雅黑" panose="020B0503020204020204" pitchFamily="34" charset="-122"/>
                      </a:endParaRP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176481290"/>
                  </a:ext>
                </a:extLst>
              </a:tr>
              <a:tr h="490625">
                <a:tc vMerge="1">
                  <a:txBody>
                    <a:bodyPr/>
                    <a:lstStyle/>
                    <a:p>
                      <a:pPr algn="ctr"/>
                      <a:endParaRPr lang="zh-CN" altLang="en-US">
                        <a:latin typeface="微软雅黑" panose="020B0503020204020204" pitchFamily="34" charset="-122"/>
                        <a:ea typeface="微软雅黑" panose="020B0503020204020204" pitchFamily="34" charset="-122"/>
                      </a:endParaRPr>
                    </a:p>
                  </a:txBody>
                  <a:tcPr/>
                </a:tc>
                <a:tc>
                  <a:txBody>
                    <a:bodyPr/>
                    <a:lstStyle/>
                    <a:p>
                      <a:pPr algn="ctr"/>
                      <a:r>
                        <a:rPr lang="en-US" altLang="zh-CN" sz="1400" b="0" u="none" baseline="0">
                          <a:latin typeface="微软雅黑" panose="020B0503020204020204" pitchFamily="34" charset="-122"/>
                          <a:ea typeface="微软雅黑" panose="020B0503020204020204" pitchFamily="34" charset="-122"/>
                        </a:rPr>
                        <a:t>Sylvester et al., 2021</a:t>
                      </a:r>
                      <a:endParaRPr lang="zh-CN" altLang="en-US" sz="1400" b="0" i="0" u="none" baseline="0">
                        <a:latin typeface="微软雅黑" panose="020B0503020204020204" pitchFamily="34" charset="-122"/>
                        <a:ea typeface="微软雅黑" panose="020B0503020204020204" pitchFamily="34" charset="-122"/>
                      </a:endParaRPr>
                    </a:p>
                  </a:txBody>
                  <a:tcPr anchor="ct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algn="ctr"/>
                      <a:r>
                        <a:rPr lang="en-US" altLang="zh-CN" sz="1400">
                          <a:latin typeface="微软雅黑" panose="020B0503020204020204" pitchFamily="34" charset="-122"/>
                          <a:ea typeface="微软雅黑" panose="020B0503020204020204" pitchFamily="34" charset="-122"/>
                        </a:rPr>
                        <a:t>Detecting Climate Signals in Southern Ocean Krill Growth Habitat</a:t>
                      </a:r>
                      <a:endParaRPr lang="zh-CN" altLang="en-US" sz="1400">
                        <a:latin typeface="微软雅黑" panose="020B0503020204020204" pitchFamily="34" charset="-122"/>
                        <a:ea typeface="微软雅黑" panose="020B0503020204020204" pitchFamily="34" charset="-122"/>
                      </a:endParaRPr>
                    </a:p>
                  </a:txBody>
                  <a:tcPr anchor="ctr">
                    <a:lnL>
                      <a:noFill/>
                    </a:lnL>
                    <a:lnR w="12700" cap="flat" cmpd="sng" algn="ctr">
                      <a:no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723628028"/>
                  </a:ext>
                </a:extLst>
              </a:tr>
              <a:tr h="542270">
                <a:tc vMerge="1">
                  <a:txBody>
                    <a:bodyPr/>
                    <a:lstStyle/>
                    <a:p>
                      <a:pPr algn="ctr"/>
                      <a:endParaRPr lang="zh-CN" altLang="en-US">
                        <a:latin typeface="微软雅黑" panose="020B0503020204020204" pitchFamily="34" charset="-122"/>
                        <a:ea typeface="微软雅黑" panose="020B0503020204020204" pitchFamily="34" charset="-122"/>
                      </a:endParaRPr>
                    </a:p>
                  </a:txBody>
                  <a:tcPr/>
                </a:tc>
                <a:tc>
                  <a:txBody>
                    <a:bodyPr/>
                    <a:lstStyle/>
                    <a:p>
                      <a:pPr algn="ctr"/>
                      <a:r>
                        <a:rPr lang="en-US" altLang="zh-CN" sz="1400" b="0" u="none" baseline="0">
                          <a:latin typeface="微软雅黑" panose="020B0503020204020204" pitchFamily="34" charset="-122"/>
                          <a:ea typeface="微软雅黑" panose="020B0503020204020204" pitchFamily="34" charset="-122"/>
                        </a:rPr>
                        <a:t>Krumhardt et al., 2026</a:t>
                      </a:r>
                      <a:endParaRPr lang="zh-CN" altLang="en-US" sz="1400" b="0" i="0" u="none" baseline="0">
                        <a:latin typeface="微软雅黑" panose="020B0503020204020204" pitchFamily="34" charset="-122"/>
                        <a:ea typeface="微软雅黑" panose="020B0503020204020204" pitchFamily="34" charset="-122"/>
                      </a:endParaRPr>
                    </a:p>
                  </a:txBody>
                  <a:tcPr anchor="ctr">
                    <a:lnT w="9525" cap="flat" cmpd="sng" algn="ctr">
                      <a:noFill/>
                      <a:prstDash val="solid"/>
                    </a:lnT>
                    <a:lnB w="19050" cap="flat" cmpd="sng" algn="ctr">
                      <a:solidFill>
                        <a:schemeClr val="tx1"/>
                      </a:solidFill>
                      <a:prstDash val="solid"/>
                      <a:round/>
                      <a:headEnd type="none" w="med" len="med"/>
                      <a:tailEnd type="none" w="med" len="med"/>
                    </a:lnB>
                  </a:tcPr>
                </a:tc>
                <a:tc>
                  <a:txBody>
                    <a:bodyPr/>
                    <a:lstStyle/>
                    <a:p>
                      <a:pPr algn="ctr"/>
                      <a:r>
                        <a:rPr lang="en-US" altLang="zh-CN" sz="1400">
                          <a:latin typeface="微软雅黑" panose="020B0503020204020204" pitchFamily="34" charset="-122"/>
                          <a:ea typeface="微软雅黑" panose="020B0503020204020204" pitchFamily="34" charset="-122"/>
                        </a:rPr>
                        <a:t>Emergent climate change signals within Antarctic sea ice and associated ecosystems</a:t>
                      </a:r>
                      <a:endParaRPr lang="zh-CN" altLang="en-US" sz="1400">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9525" cap="flat" cmpd="sng" algn="ctr">
                      <a:noFill/>
                      <a:prstDash val="soli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9306738"/>
                  </a:ext>
                </a:extLst>
              </a:tr>
            </a:tbl>
          </a:graphicData>
        </a:graphic>
      </p:graphicFrame>
      <p:sp>
        <p:nvSpPr>
          <p:cNvPr id="11" name="文本框 10">
            <a:extLst>
              <a:ext uri="{FF2B5EF4-FFF2-40B4-BE49-F238E27FC236}">
                <a16:creationId xmlns:a16="http://schemas.microsoft.com/office/drawing/2014/main" id="{9902BE14-A711-5D06-E30E-06CFA79099A4}"/>
              </a:ext>
            </a:extLst>
          </p:cNvPr>
          <p:cNvSpPr txBox="1"/>
          <p:nvPr/>
        </p:nvSpPr>
        <p:spPr>
          <a:xfrm>
            <a:off x="3564101" y="755141"/>
            <a:ext cx="5227983" cy="338554"/>
          </a:xfrm>
          <a:prstGeom prst="rect">
            <a:avLst/>
          </a:prstGeom>
          <a:noFill/>
        </p:spPr>
        <p:txBody>
          <a:bodyPr wrap="square" rtlCol="0">
            <a:spAutoFit/>
          </a:bodyPr>
          <a:lstStyle/>
          <a:p>
            <a:r>
              <a:rPr lang="zh-CN" altLang="en-US" sz="1600">
                <a:latin typeface="微软雅黑" panose="020B0503020204020204" pitchFamily="34" charset="-122"/>
                <a:ea typeface="微软雅黑" panose="020B0503020204020204" pitchFamily="34" charset="-122"/>
              </a:rPr>
              <a:t>表</a:t>
            </a:r>
            <a:r>
              <a:rPr lang="en-US" altLang="zh-CN" sz="1600">
                <a:latin typeface="微软雅黑" panose="020B0503020204020204" pitchFamily="34" charset="-122"/>
                <a:ea typeface="微软雅黑" panose="020B0503020204020204" pitchFamily="34" charset="-122"/>
              </a:rPr>
              <a:t>1-1 </a:t>
            </a:r>
            <a:r>
              <a:rPr lang="zh-CN" altLang="en-US" sz="1600">
                <a:latin typeface="微软雅黑" panose="020B0503020204020204" pitchFamily="34" charset="-122"/>
                <a:ea typeface="微软雅黑" panose="020B0503020204020204" pitchFamily="34" charset="-122"/>
              </a:rPr>
              <a:t>基于通用地球系统模式的</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方法研究汇总表</a:t>
            </a:r>
          </a:p>
        </p:txBody>
      </p:sp>
    </p:spTree>
    <p:extLst>
      <p:ext uri="{BB962C8B-B14F-4D97-AF65-F5344CB8AC3E}">
        <p14:creationId xmlns:p14="http://schemas.microsoft.com/office/powerpoint/2010/main" val="823290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76AB3-428F-B450-6441-B35D9F84F4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1FA41AC-F38E-1DA8-EB62-AFC2C2E1749C}"/>
              </a:ext>
            </a:extLst>
          </p:cNvPr>
          <p:cNvSpPr/>
          <p:nvPr/>
        </p:nvSpPr>
        <p:spPr>
          <a:xfrm>
            <a:off x="0" y="-1"/>
            <a:ext cx="12191695" cy="748729"/>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C6BB373-BDFE-2165-7E1A-D3ED522254C6}"/>
              </a:ext>
            </a:extLst>
          </p:cNvPr>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943F0AD-77DB-57CB-5BA8-E45F294A31A2}"/>
              </a:ext>
            </a:extLst>
          </p:cNvPr>
          <p:cNvSpPr txBox="1"/>
          <p:nvPr/>
        </p:nvSpPr>
        <p:spPr>
          <a:xfrm>
            <a:off x="-376442" y="51197"/>
            <a:ext cx="4801314" cy="646331"/>
          </a:xfrm>
          <a:prstGeom prst="rect">
            <a:avLst/>
          </a:prstGeom>
          <a:noFill/>
        </p:spPr>
        <p:txBody>
          <a:bodyPr wrap="none">
            <a:spAutoFit/>
          </a:bodyPr>
          <a:lstStyle/>
          <a:p>
            <a:pPr lvl="1"/>
            <a:r>
              <a:rPr lang="zh-CN" altLang="en-US" sz="3600" b="1">
                <a:solidFill>
                  <a:schemeClr val="bg1"/>
                </a:solidFill>
                <a:latin typeface="微软雅黑" panose="020B0503020204020204" pitchFamily="34" charset="-122"/>
                <a:ea typeface="微软雅黑" panose="020B0503020204020204" pitchFamily="34" charset="-122"/>
              </a:rPr>
              <a:t>研究思路和科学问题</a:t>
            </a:r>
          </a:p>
        </p:txBody>
      </p:sp>
      <p:cxnSp>
        <p:nvCxnSpPr>
          <p:cNvPr id="23" name="直接箭头连接符 22">
            <a:extLst>
              <a:ext uri="{FF2B5EF4-FFF2-40B4-BE49-F238E27FC236}">
                <a16:creationId xmlns:a16="http://schemas.microsoft.com/office/drawing/2014/main" id="{E9F165A8-8883-4E0C-0E79-B66EE70B6239}"/>
              </a:ext>
            </a:extLst>
          </p:cNvPr>
          <p:cNvCxnSpPr>
            <a:cxnSpLocks/>
            <a:stCxn id="9" idx="2"/>
            <a:endCxn id="11" idx="0"/>
          </p:cNvCxnSpPr>
          <p:nvPr/>
        </p:nvCxnSpPr>
        <p:spPr>
          <a:xfrm>
            <a:off x="1525398" y="2773703"/>
            <a:ext cx="1" cy="5856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57" name="组合 56">
            <a:extLst>
              <a:ext uri="{FF2B5EF4-FFF2-40B4-BE49-F238E27FC236}">
                <a16:creationId xmlns:a16="http://schemas.microsoft.com/office/drawing/2014/main" id="{399586B9-7F58-A6DB-2629-5EBC722D58C0}"/>
              </a:ext>
            </a:extLst>
          </p:cNvPr>
          <p:cNvGrpSpPr/>
          <p:nvPr/>
        </p:nvGrpSpPr>
        <p:grpSpPr>
          <a:xfrm>
            <a:off x="192492" y="886970"/>
            <a:ext cx="10585531" cy="3701374"/>
            <a:chOff x="470335" y="3664247"/>
            <a:chExt cx="8985668" cy="2976505"/>
          </a:xfrm>
        </p:grpSpPr>
        <p:grpSp>
          <p:nvGrpSpPr>
            <p:cNvPr id="55" name="组合 54">
              <a:extLst>
                <a:ext uri="{FF2B5EF4-FFF2-40B4-BE49-F238E27FC236}">
                  <a16:creationId xmlns:a16="http://schemas.microsoft.com/office/drawing/2014/main" id="{B93476E2-D982-AA45-6EA8-EB743ABB8949}"/>
                </a:ext>
              </a:extLst>
            </p:cNvPr>
            <p:cNvGrpSpPr/>
            <p:nvPr/>
          </p:nvGrpSpPr>
          <p:grpSpPr>
            <a:xfrm>
              <a:off x="470335" y="4184544"/>
              <a:ext cx="8985668" cy="2456208"/>
              <a:chOff x="757380" y="4043883"/>
              <a:chExt cx="8985668" cy="2456208"/>
            </a:xfrm>
          </p:grpSpPr>
          <p:cxnSp>
            <p:nvCxnSpPr>
              <p:cNvPr id="34" name="直接箭头连接符 33">
                <a:extLst>
                  <a:ext uri="{FF2B5EF4-FFF2-40B4-BE49-F238E27FC236}">
                    <a16:creationId xmlns:a16="http://schemas.microsoft.com/office/drawing/2014/main" id="{516DDFC4-26A3-E7F0-1D65-01F4120C3D80}"/>
                  </a:ext>
                </a:extLst>
              </p:cNvPr>
              <p:cNvCxnSpPr>
                <a:cxnSpLocks/>
                <a:stCxn id="9" idx="3"/>
                <a:endCxn id="13" idx="1"/>
              </p:cNvCxnSpPr>
              <p:nvPr/>
            </p:nvCxnSpPr>
            <p:spPr>
              <a:xfrm flipV="1">
                <a:off x="3020289" y="4538028"/>
                <a:ext cx="1080856" cy="86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直接箭头连接符 41">
                <a:extLst>
                  <a:ext uri="{FF2B5EF4-FFF2-40B4-BE49-F238E27FC236}">
                    <a16:creationId xmlns:a16="http://schemas.microsoft.com/office/drawing/2014/main" id="{DC2F3071-1394-50A9-630E-A5B6ADDDBDE2}"/>
                  </a:ext>
                </a:extLst>
              </p:cNvPr>
              <p:cNvCxnSpPr>
                <a:cxnSpLocks/>
                <a:stCxn id="11" idx="3"/>
                <a:endCxn id="18" idx="1"/>
              </p:cNvCxnSpPr>
              <p:nvPr/>
            </p:nvCxnSpPr>
            <p:spPr>
              <a:xfrm flipV="1">
                <a:off x="3020289" y="5999181"/>
                <a:ext cx="1080856" cy="6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连接符: 肘形 47">
                <a:extLst>
                  <a:ext uri="{FF2B5EF4-FFF2-40B4-BE49-F238E27FC236}">
                    <a16:creationId xmlns:a16="http://schemas.microsoft.com/office/drawing/2014/main" id="{84899F2D-5ECF-0CEC-4849-87FD241266C9}"/>
                  </a:ext>
                </a:extLst>
              </p:cNvPr>
              <p:cNvCxnSpPr>
                <a:stCxn id="13" idx="3"/>
                <a:endCxn id="46" idx="1"/>
              </p:cNvCxnSpPr>
              <p:nvPr/>
            </p:nvCxnSpPr>
            <p:spPr>
              <a:xfrm>
                <a:off x="6197799" y="4538028"/>
                <a:ext cx="1448598" cy="715945"/>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54" name="组合 53">
                <a:extLst>
                  <a:ext uri="{FF2B5EF4-FFF2-40B4-BE49-F238E27FC236}">
                    <a16:creationId xmlns:a16="http://schemas.microsoft.com/office/drawing/2014/main" id="{0C962ED6-0BA5-B3B5-2401-20F065C3D2D7}"/>
                  </a:ext>
                </a:extLst>
              </p:cNvPr>
              <p:cNvGrpSpPr/>
              <p:nvPr/>
            </p:nvGrpSpPr>
            <p:grpSpPr>
              <a:xfrm>
                <a:off x="757380" y="4043883"/>
                <a:ext cx="8985668" cy="2456208"/>
                <a:chOff x="757380" y="4043883"/>
                <a:chExt cx="8985668" cy="2456208"/>
              </a:xfrm>
            </p:grpSpPr>
            <p:sp>
              <p:nvSpPr>
                <p:cNvPr id="9" name="矩形: 圆角 8">
                  <a:extLst>
                    <a:ext uri="{FF2B5EF4-FFF2-40B4-BE49-F238E27FC236}">
                      <a16:creationId xmlns:a16="http://schemas.microsoft.com/office/drawing/2014/main" id="{BEAEC82E-934C-ACEE-8773-8B365EB72BCD}"/>
                    </a:ext>
                  </a:extLst>
                </p:cNvPr>
                <p:cNvSpPr/>
                <p:nvPr/>
              </p:nvSpPr>
              <p:spPr>
                <a:xfrm>
                  <a:off x="757380" y="4052534"/>
                  <a:ext cx="2262909" cy="988291"/>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2000">
                      <a:solidFill>
                        <a:schemeClr val="tx1"/>
                      </a:solidFill>
                      <a:latin typeface="微软雅黑" panose="020B0503020204020204" pitchFamily="34" charset="-122"/>
                      <a:ea typeface="微软雅黑" panose="020B0503020204020204" pitchFamily="34" charset="-122"/>
                    </a:rPr>
                    <a:t>CESM2-LE</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F11BA47E-BD9B-02EA-3C68-9C2473F83F46}"/>
                    </a:ext>
                  </a:extLst>
                </p:cNvPr>
                <p:cNvSpPr/>
                <p:nvPr/>
              </p:nvSpPr>
              <p:spPr>
                <a:xfrm>
                  <a:off x="757382" y="5511800"/>
                  <a:ext cx="2262907" cy="988291"/>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2000">
                      <a:solidFill>
                        <a:schemeClr val="tx1"/>
                      </a:solidFill>
                      <a:latin typeface="微软雅黑" panose="020B0503020204020204" pitchFamily="34" charset="-122"/>
                      <a:ea typeface="微软雅黑" panose="020B0503020204020204" pitchFamily="34" charset="-122"/>
                    </a:rPr>
                    <a:t>CESM2-FEISTY</a:t>
                  </a:r>
                  <a:endParaRPr lang="zh-CN" altLang="en-US" sz="2000">
                    <a:solidFill>
                      <a:schemeClr val="tx1"/>
                    </a:solidFill>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28F00C04-548E-21C3-195E-27D4D9BB3E4F}"/>
                    </a:ext>
                  </a:extLst>
                </p:cNvPr>
                <p:cNvSpPr/>
                <p:nvPr/>
              </p:nvSpPr>
              <p:spPr>
                <a:xfrm>
                  <a:off x="4101145" y="4043883"/>
                  <a:ext cx="2096654" cy="988290"/>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环境变量</a:t>
                  </a:r>
                  <a:endParaRPr lang="en-US" altLang="zh-CN" sz="2000">
                    <a:solidFill>
                      <a:schemeClr val="tx1"/>
                    </a:solidFill>
                    <a:latin typeface="微软雅黑" panose="020B0503020204020204" pitchFamily="34" charset="-122"/>
                    <a:ea typeface="微软雅黑" panose="020B0503020204020204" pitchFamily="34" charset="-122"/>
                  </a:endParaRPr>
                </a:p>
                <a:p>
                  <a:pPr algn="ctr"/>
                  <a:r>
                    <a:rPr lang="zh-CN" altLang="en-US" sz="2000">
                      <a:solidFill>
                        <a:schemeClr val="tx1"/>
                      </a:solidFill>
                      <a:latin typeface="微软雅黑" panose="020B0503020204020204" pitchFamily="34" charset="-122"/>
                      <a:ea typeface="微软雅黑" panose="020B0503020204020204" pitchFamily="34" charset="-122"/>
                    </a:rPr>
                    <a:t>低营养级变量</a:t>
                  </a:r>
                </a:p>
              </p:txBody>
            </p:sp>
            <p:sp>
              <p:nvSpPr>
                <p:cNvPr id="18" name="矩形: 圆角 17">
                  <a:extLst>
                    <a:ext uri="{FF2B5EF4-FFF2-40B4-BE49-F238E27FC236}">
                      <a16:creationId xmlns:a16="http://schemas.microsoft.com/office/drawing/2014/main" id="{B20D23CC-A220-37FA-FB85-D645B5CE4D65}"/>
                    </a:ext>
                  </a:extLst>
                </p:cNvPr>
                <p:cNvSpPr/>
                <p:nvPr/>
              </p:nvSpPr>
              <p:spPr>
                <a:xfrm>
                  <a:off x="4101146" y="5505035"/>
                  <a:ext cx="2096654" cy="988291"/>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鱼类功能群变量</a:t>
                  </a:r>
                </a:p>
              </p:txBody>
            </p:sp>
            <p:sp>
              <p:nvSpPr>
                <p:cNvPr id="27" name="文本框 26">
                  <a:extLst>
                    <a:ext uri="{FF2B5EF4-FFF2-40B4-BE49-F238E27FC236}">
                      <a16:creationId xmlns:a16="http://schemas.microsoft.com/office/drawing/2014/main" id="{4B0CF7C3-5E45-B39C-C546-2CEF070E28D5}"/>
                    </a:ext>
                  </a:extLst>
                </p:cNvPr>
                <p:cNvSpPr txBox="1"/>
                <p:nvPr/>
              </p:nvSpPr>
              <p:spPr>
                <a:xfrm>
                  <a:off x="1446226" y="5149605"/>
                  <a:ext cx="1320797" cy="253416"/>
                </a:xfrm>
                <a:prstGeom prst="rect">
                  <a:avLst/>
                </a:prstGeom>
                <a:noFill/>
              </p:spPr>
              <p:txBody>
                <a:bodyPr wrap="square" rtlCol="0">
                  <a:spAutoFit/>
                </a:bodyPr>
                <a:lstStyle/>
                <a:p>
                  <a:r>
                    <a:rPr lang="zh-CN" altLang="en-US" sz="1600">
                      <a:latin typeface="微软雅黑" panose="020B0503020204020204" pitchFamily="34" charset="-122"/>
                      <a:ea typeface="微软雅黑" panose="020B0503020204020204" pitchFamily="34" charset="-122"/>
                    </a:rPr>
                    <a:t>强迫  输入</a:t>
                  </a:r>
                </a:p>
              </p:txBody>
            </p:sp>
            <p:sp>
              <p:nvSpPr>
                <p:cNvPr id="40" name="文本框 39">
                  <a:extLst>
                    <a:ext uri="{FF2B5EF4-FFF2-40B4-BE49-F238E27FC236}">
                      <a16:creationId xmlns:a16="http://schemas.microsoft.com/office/drawing/2014/main" id="{47525C28-8E76-AEB1-B7D0-66354B02B337}"/>
                    </a:ext>
                  </a:extLst>
                </p:cNvPr>
                <p:cNvSpPr txBox="1"/>
                <p:nvPr/>
              </p:nvSpPr>
              <p:spPr>
                <a:xfrm>
                  <a:off x="3327382" y="4245230"/>
                  <a:ext cx="663569" cy="589481"/>
                </a:xfrm>
                <a:prstGeom prst="rect">
                  <a:avLst/>
                </a:prstGeom>
                <a:noFill/>
              </p:spPr>
              <p:txBody>
                <a:bodyPr wrap="square" rtlCol="0">
                  <a:spAutoFit/>
                </a:bodyPr>
                <a:lstStyle/>
                <a:p>
                  <a:pPr>
                    <a:lnSpc>
                      <a:spcPct val="150000"/>
                    </a:lnSpc>
                  </a:pPr>
                  <a:r>
                    <a:rPr lang="zh-CN" altLang="en-US" sz="1600">
                      <a:latin typeface="微软雅黑" panose="020B0503020204020204" pitchFamily="34" charset="-122"/>
                      <a:ea typeface="微软雅黑" panose="020B0503020204020204" pitchFamily="34" charset="-122"/>
                    </a:rPr>
                    <a:t>模拟</a:t>
                  </a:r>
                  <a:endParaRPr lang="en-US" altLang="zh-CN" sz="1600">
                    <a:latin typeface="微软雅黑" panose="020B0503020204020204" pitchFamily="34" charset="-122"/>
                    <a:ea typeface="微软雅黑" panose="020B0503020204020204" pitchFamily="34" charset="-122"/>
                  </a:endParaRPr>
                </a:p>
                <a:p>
                  <a:pPr>
                    <a:lnSpc>
                      <a:spcPct val="150000"/>
                    </a:lnSpc>
                  </a:pPr>
                  <a:r>
                    <a:rPr lang="zh-CN" altLang="en-US" sz="1600">
                      <a:latin typeface="微软雅黑" panose="020B0503020204020204" pitchFamily="34" charset="-122"/>
                      <a:ea typeface="微软雅黑" panose="020B0503020204020204" pitchFamily="34" charset="-122"/>
                    </a:rPr>
                    <a:t>结果</a:t>
                  </a:r>
                  <a:endParaRPr lang="zh-CN" altLang="en-US" sz="1400">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4EFE39C1-8E60-8566-FBF4-BBE4269FD54A}"/>
                    </a:ext>
                  </a:extLst>
                </p:cNvPr>
                <p:cNvSpPr txBox="1"/>
                <p:nvPr/>
              </p:nvSpPr>
              <p:spPr>
                <a:xfrm>
                  <a:off x="3405046" y="5704678"/>
                  <a:ext cx="663569" cy="589481"/>
                </a:xfrm>
                <a:prstGeom prst="rect">
                  <a:avLst/>
                </a:prstGeom>
                <a:noFill/>
              </p:spPr>
              <p:txBody>
                <a:bodyPr wrap="square" rtlCol="0">
                  <a:spAutoFit/>
                </a:bodyPr>
                <a:lstStyle/>
                <a:p>
                  <a:pPr>
                    <a:lnSpc>
                      <a:spcPct val="150000"/>
                    </a:lnSpc>
                  </a:pPr>
                  <a:r>
                    <a:rPr lang="zh-CN" altLang="en-US" sz="1600">
                      <a:latin typeface="微软雅黑" panose="020B0503020204020204" pitchFamily="34" charset="-122"/>
                      <a:ea typeface="微软雅黑" panose="020B0503020204020204" pitchFamily="34" charset="-122"/>
                    </a:rPr>
                    <a:t>模拟</a:t>
                  </a:r>
                  <a:endParaRPr lang="en-US" altLang="zh-CN" sz="1600">
                    <a:latin typeface="微软雅黑" panose="020B0503020204020204" pitchFamily="34" charset="-122"/>
                    <a:ea typeface="微软雅黑" panose="020B0503020204020204" pitchFamily="34" charset="-122"/>
                  </a:endParaRPr>
                </a:p>
                <a:p>
                  <a:pPr>
                    <a:lnSpc>
                      <a:spcPct val="150000"/>
                    </a:lnSpc>
                  </a:pPr>
                  <a:r>
                    <a:rPr lang="zh-CN" altLang="en-US" sz="1600">
                      <a:latin typeface="微软雅黑" panose="020B0503020204020204" pitchFamily="34" charset="-122"/>
                      <a:ea typeface="微软雅黑" panose="020B0503020204020204" pitchFamily="34" charset="-122"/>
                    </a:rPr>
                    <a:t>结果</a:t>
                  </a:r>
                </a:p>
              </p:txBody>
            </p:sp>
            <p:sp>
              <p:nvSpPr>
                <p:cNvPr id="46" name="矩形: 圆角 45">
                  <a:extLst>
                    <a:ext uri="{FF2B5EF4-FFF2-40B4-BE49-F238E27FC236}">
                      <a16:creationId xmlns:a16="http://schemas.microsoft.com/office/drawing/2014/main" id="{DE4C7E3D-C358-2896-7BCD-47F1A0637494}"/>
                    </a:ext>
                  </a:extLst>
                </p:cNvPr>
                <p:cNvSpPr/>
                <p:nvPr/>
              </p:nvSpPr>
              <p:spPr>
                <a:xfrm>
                  <a:off x="7646397" y="4643024"/>
                  <a:ext cx="2096651" cy="1221899"/>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000">
                      <a:solidFill>
                        <a:schemeClr val="tx1"/>
                      </a:solidFill>
                      <a:latin typeface="微软雅黑" panose="020B0503020204020204" pitchFamily="34" charset="-122"/>
                      <a:ea typeface="微软雅黑" panose="020B0503020204020204" pitchFamily="34" charset="-122"/>
                    </a:rPr>
                    <a:t>比较不同生态层级</a:t>
                  </a:r>
                  <a:r>
                    <a:rPr lang="en-US" altLang="zh-CN" sz="2000">
                      <a:solidFill>
                        <a:schemeClr val="tx1"/>
                      </a:solidFill>
                      <a:latin typeface="微软雅黑" panose="020B0503020204020204" pitchFamily="34" charset="-122"/>
                      <a:ea typeface="微软雅黑" panose="020B0503020204020204" pitchFamily="34" charset="-122"/>
                    </a:rPr>
                    <a:t>ToE</a:t>
                  </a:r>
                  <a:r>
                    <a:rPr lang="zh-CN" altLang="en-US" sz="2000">
                      <a:solidFill>
                        <a:schemeClr val="tx1"/>
                      </a:solidFill>
                      <a:latin typeface="微软雅黑" panose="020B0503020204020204" pitchFamily="34" charset="-122"/>
                      <a:ea typeface="微软雅黑" panose="020B0503020204020204" pitchFamily="34" charset="-122"/>
                    </a:rPr>
                    <a:t>的时空差异</a:t>
                  </a:r>
                  <a:r>
                    <a:rPr lang="en-US" altLang="zh-CN" sz="2000">
                      <a:latin typeface="微软雅黑" panose="020B0503020204020204" pitchFamily="34" charset="-122"/>
                      <a:ea typeface="微软雅黑" panose="020B0503020204020204" pitchFamily="34" charset="-122"/>
                    </a:rPr>
                    <a:t>T</a:t>
                  </a:r>
                  <a:endParaRPr lang="zh-CN" altLang="en-US" sz="2000">
                    <a:latin typeface="微软雅黑" panose="020B0503020204020204" pitchFamily="34" charset="-122"/>
                    <a:ea typeface="微软雅黑" panose="020B0503020204020204" pitchFamily="34" charset="-122"/>
                  </a:endParaRPr>
                </a:p>
              </p:txBody>
            </p:sp>
            <p:cxnSp>
              <p:nvCxnSpPr>
                <p:cNvPr id="50" name="连接符: 肘形 49">
                  <a:extLst>
                    <a:ext uri="{FF2B5EF4-FFF2-40B4-BE49-F238E27FC236}">
                      <a16:creationId xmlns:a16="http://schemas.microsoft.com/office/drawing/2014/main" id="{60CAB14D-6283-D21E-6427-63CC6A641442}"/>
                    </a:ext>
                  </a:extLst>
                </p:cNvPr>
                <p:cNvCxnSpPr>
                  <a:cxnSpLocks/>
                  <a:stCxn id="18" idx="3"/>
                  <a:endCxn id="46" idx="1"/>
                </p:cNvCxnSpPr>
                <p:nvPr/>
              </p:nvCxnSpPr>
              <p:spPr>
                <a:xfrm flipV="1">
                  <a:off x="6197800" y="5253974"/>
                  <a:ext cx="1448597" cy="74520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文本框 52">
                  <a:extLst>
                    <a:ext uri="{FF2B5EF4-FFF2-40B4-BE49-F238E27FC236}">
                      <a16:creationId xmlns:a16="http://schemas.microsoft.com/office/drawing/2014/main" id="{CD8BEB49-4CC8-24FC-0DBC-58618038018C}"/>
                    </a:ext>
                  </a:extLst>
                </p:cNvPr>
                <p:cNvSpPr txBox="1"/>
                <p:nvPr/>
              </p:nvSpPr>
              <p:spPr>
                <a:xfrm>
                  <a:off x="6594204" y="4789372"/>
                  <a:ext cx="327893" cy="1036704"/>
                </a:xfrm>
                <a:prstGeom prst="rect">
                  <a:avLst/>
                </a:prstGeom>
                <a:noFill/>
              </p:spPr>
              <p:txBody>
                <a:bodyPr wrap="square" rtlCol="0">
                  <a:spAutoFit/>
                </a:bodyPr>
                <a:lstStyle/>
                <a:p>
                  <a:pPr algn="ctr"/>
                  <a:r>
                    <a:rPr lang="zh-CN" altLang="en-US" sz="1400">
                      <a:latin typeface="微软雅黑" panose="020B0503020204020204" pitchFamily="34" charset="-122"/>
                      <a:ea typeface="微软雅黑" panose="020B0503020204020204" pitchFamily="34" charset="-122"/>
                    </a:rPr>
                    <a:t>计算出现时间</a:t>
                  </a:r>
                </a:p>
              </p:txBody>
            </p:sp>
          </p:grpSp>
        </p:grpSp>
        <p:sp>
          <p:nvSpPr>
            <p:cNvPr id="56" name="文本框 55">
              <a:extLst>
                <a:ext uri="{FF2B5EF4-FFF2-40B4-BE49-F238E27FC236}">
                  <a16:creationId xmlns:a16="http://schemas.microsoft.com/office/drawing/2014/main" id="{E82388EB-F84B-4CD8-CA7D-6804ADD6DB74}"/>
                </a:ext>
              </a:extLst>
            </p:cNvPr>
            <p:cNvSpPr txBox="1"/>
            <p:nvPr/>
          </p:nvSpPr>
          <p:spPr>
            <a:xfrm>
              <a:off x="470337" y="3664247"/>
              <a:ext cx="2009641" cy="523220"/>
            </a:xfrm>
            <a:prstGeom prst="rect">
              <a:avLst/>
            </a:prstGeom>
            <a:noFill/>
          </p:spPr>
          <p:txBody>
            <a:bodyPr wrap="square" rtlCol="0">
              <a:spAutoFit/>
            </a:bodyPr>
            <a:lstStyle/>
            <a:p>
              <a:r>
                <a:rPr lang="zh-CN" altLang="en-US" sz="2800">
                  <a:solidFill>
                    <a:srgbClr val="0070C0"/>
                  </a:solidFill>
                  <a:latin typeface="微软雅黑" panose="020B0503020204020204" pitchFamily="34" charset="-122"/>
                  <a:ea typeface="微软雅黑" panose="020B0503020204020204" pitchFamily="34" charset="-122"/>
                </a:rPr>
                <a:t>研究思路</a:t>
              </a:r>
            </a:p>
          </p:txBody>
        </p:sp>
      </p:grpSp>
      <p:sp>
        <p:nvSpPr>
          <p:cNvPr id="58" name="文本框 57">
            <a:extLst>
              <a:ext uri="{FF2B5EF4-FFF2-40B4-BE49-F238E27FC236}">
                <a16:creationId xmlns:a16="http://schemas.microsoft.com/office/drawing/2014/main" id="{0F125362-2972-F7AF-AD07-93698D77F1C5}"/>
              </a:ext>
            </a:extLst>
          </p:cNvPr>
          <p:cNvSpPr txBox="1"/>
          <p:nvPr/>
        </p:nvSpPr>
        <p:spPr>
          <a:xfrm>
            <a:off x="192492" y="5027394"/>
            <a:ext cx="11373635" cy="1392176"/>
          </a:xfrm>
          <a:prstGeom prst="rect">
            <a:avLst/>
          </a:prstGeom>
          <a:noFill/>
        </p:spPr>
        <p:txBody>
          <a:bodyPr wrap="square" rtlCol="0">
            <a:spAutoFit/>
          </a:bodyPr>
          <a:lstStyle/>
          <a:p>
            <a:r>
              <a:rPr lang="zh-CN" altLang="en-US" sz="2800">
                <a:solidFill>
                  <a:schemeClr val="accent1"/>
                </a:solidFill>
                <a:latin typeface="微软雅黑" panose="020B0503020204020204" pitchFamily="34" charset="-122"/>
                <a:ea typeface="微软雅黑" panose="020B0503020204020204" pitchFamily="34" charset="-122"/>
              </a:rPr>
              <a:t>解决科学问题</a:t>
            </a:r>
            <a:endParaRPr lang="en-US" altLang="zh-CN" sz="2800">
              <a:solidFill>
                <a:schemeClr val="accent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zh-CN" sz="2000">
                <a:latin typeface="微软雅黑" panose="020B0503020204020204" pitchFamily="34" charset="-122"/>
                <a:ea typeface="微软雅黑" panose="020B0503020204020204" pitchFamily="34" charset="-122"/>
              </a:rPr>
              <a:t>哪些变量更早从自然变率中显现出人为气候变化信号</a:t>
            </a:r>
            <a:r>
              <a:rPr lang="zh-CN" altLang="en-US" sz="2000">
                <a:latin typeface="微软雅黑" panose="020B0503020204020204" pitchFamily="34" charset="-122"/>
                <a:ea typeface="微软雅黑" panose="020B0503020204020204" pitchFamily="34" charset="-122"/>
              </a:rPr>
              <a:t>？</a:t>
            </a:r>
            <a:endParaRPr lang="en-US" altLang="zh-CN" sz="200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zh-CN" sz="2000">
                <a:latin typeface="微软雅黑" panose="020B0503020204020204" pitchFamily="34" charset="-122"/>
                <a:ea typeface="微软雅黑" panose="020B0503020204020204" pitchFamily="34" charset="-122"/>
              </a:rPr>
              <a:t>不同生态层级的</a:t>
            </a:r>
            <a:r>
              <a:rPr lang="en-US" altLang="zh-CN" sz="2000">
                <a:latin typeface="微软雅黑" panose="020B0503020204020204" pitchFamily="34" charset="-122"/>
                <a:ea typeface="微软雅黑" panose="020B0503020204020204" pitchFamily="34" charset="-122"/>
              </a:rPr>
              <a:t>ToE</a:t>
            </a:r>
            <a:r>
              <a:rPr lang="zh-CN" altLang="zh-CN" sz="2000">
                <a:latin typeface="微软雅黑" panose="020B0503020204020204" pitchFamily="34" charset="-122"/>
                <a:ea typeface="微软雅黑" panose="020B0503020204020204" pitchFamily="34" charset="-122"/>
              </a:rPr>
              <a:t>是否能够反映气候变化信号在海洋生态系统中的传播机制及其营养级放大过程</a:t>
            </a:r>
            <a:r>
              <a:rPr lang="zh-CN" altLang="en-US" sz="2000">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DB9DB7FF-050A-929F-D769-3443905E07DD}"/>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0</a:t>
            </a:r>
            <a:r>
              <a:rPr lang="en-US" altLang="zh-CN" sz="1200">
                <a:solidFill>
                  <a:srgbClr val="556370"/>
                </a:solidFill>
                <a:latin typeface="Microsoft YaHei"/>
              </a:rPr>
              <a:t>6</a:t>
            </a:r>
            <a:endParaRPr lang="en-US" altLang="zh-CN" sz="1200" b="0">
              <a:solidFill>
                <a:srgbClr val="556370"/>
              </a:solidFill>
              <a:latin typeface="Microsoft YaHei"/>
            </a:endParaRPr>
          </a:p>
        </p:txBody>
      </p:sp>
    </p:spTree>
    <p:extLst>
      <p:ext uri="{BB962C8B-B14F-4D97-AF65-F5344CB8AC3E}">
        <p14:creationId xmlns:p14="http://schemas.microsoft.com/office/powerpoint/2010/main" val="752457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40080"/>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5">
            <a:extLst>
              <a:ext uri="{FF2B5EF4-FFF2-40B4-BE49-F238E27FC236}">
                <a16:creationId xmlns:a16="http://schemas.microsoft.com/office/drawing/2014/main" id="{44DE029D-5F82-847E-7E6E-5572CBB2C4E3}"/>
              </a:ext>
            </a:extLst>
          </p:cNvPr>
          <p:cNvSpPr txBox="1"/>
          <p:nvPr/>
        </p:nvSpPr>
        <p:spPr>
          <a:xfrm>
            <a:off x="-376442" y="-28945"/>
            <a:ext cx="6672019" cy="646331"/>
          </a:xfrm>
          <a:prstGeom prst="rect">
            <a:avLst/>
          </a:prstGeom>
          <a:noFill/>
        </p:spPr>
        <p:txBody>
          <a:bodyPr wrap="none">
            <a:spAutoFit/>
          </a:bodyPr>
          <a:lstStyle/>
          <a:p>
            <a:pPr lvl="1"/>
            <a:r>
              <a:rPr lang="zh-CN" altLang="en-US" sz="3600" b="1">
                <a:solidFill>
                  <a:schemeClr val="bg1"/>
                </a:solidFill>
                <a:latin typeface="微软雅黑" panose="020B0503020204020204" pitchFamily="34" charset="-122"/>
                <a:ea typeface="微软雅黑" panose="020B0503020204020204" pitchFamily="34" charset="-122"/>
              </a:rPr>
              <a:t>数据与研究方法：</a:t>
            </a:r>
            <a:r>
              <a:rPr lang="en-US" altLang="zh-CN" sz="3600" b="1">
                <a:solidFill>
                  <a:schemeClr val="bg1"/>
                </a:solidFill>
                <a:latin typeface="微软雅黑" panose="020B0503020204020204" pitchFamily="34" charset="-122"/>
                <a:ea typeface="微软雅黑" panose="020B0503020204020204" pitchFamily="34" charset="-122"/>
              </a:rPr>
              <a:t>CESM2-LE</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9CE1D1F7-5F5B-0CE7-1ADC-B4B35D35774A}"/>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07</a:t>
            </a:r>
          </a:p>
        </p:txBody>
      </p:sp>
      <p:grpSp>
        <p:nvGrpSpPr>
          <p:cNvPr id="85" name="组合 84">
            <a:extLst>
              <a:ext uri="{FF2B5EF4-FFF2-40B4-BE49-F238E27FC236}">
                <a16:creationId xmlns:a16="http://schemas.microsoft.com/office/drawing/2014/main" id="{AF8ACB68-71AA-5117-1171-7299488EBB1D}"/>
              </a:ext>
            </a:extLst>
          </p:cNvPr>
          <p:cNvGrpSpPr/>
          <p:nvPr/>
        </p:nvGrpSpPr>
        <p:grpSpPr>
          <a:xfrm>
            <a:off x="593358" y="1065905"/>
            <a:ext cx="11005284" cy="4786190"/>
            <a:chOff x="1031289" y="721254"/>
            <a:chExt cx="9759744" cy="5122411"/>
          </a:xfrm>
        </p:grpSpPr>
        <p:sp>
          <p:nvSpPr>
            <p:cNvPr id="86" name="Rounded Rectangle 66">
              <a:extLst>
                <a:ext uri="{FF2B5EF4-FFF2-40B4-BE49-F238E27FC236}">
                  <a16:creationId xmlns:a16="http://schemas.microsoft.com/office/drawing/2014/main" id="{A23CEBFC-968F-B410-C22A-AE71D2488078}"/>
                </a:ext>
              </a:extLst>
            </p:cNvPr>
            <p:cNvSpPr/>
            <p:nvPr/>
          </p:nvSpPr>
          <p:spPr>
            <a:xfrm>
              <a:off x="1031289" y="721254"/>
              <a:ext cx="3834756" cy="4037450"/>
            </a:xfrm>
            <a:prstGeom prst="roundRect">
              <a:avLst/>
            </a:prstGeom>
            <a:solidFill>
              <a:srgbClr val="FFFF00">
                <a:alpha val="25000"/>
              </a:srgbClr>
            </a:solidFill>
            <a:ln>
              <a:no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49770" tIns="24885" rIns="49770" bIns="24885" numCol="1" spcCol="0" rtlCol="0" fromWordArt="0" anchor="ctr" anchorCtr="0" forceAA="0" compatLnSpc="1">
              <a:prstTxWarp prst="textNoShape">
                <a:avLst/>
              </a:prstTxWarp>
              <a:noAutofit/>
            </a:bodyPr>
            <a:lstStyle/>
            <a:p>
              <a:pPr algn="ctr" defTabSz="497708"/>
              <a:endParaRPr lang="en-US" sz="1400">
                <a:solidFill>
                  <a:prstClr val="black"/>
                </a:solidFill>
                <a:latin typeface="Times New Roman" panose="02020603050405020304" pitchFamily="18" charset="0"/>
                <a:cs typeface="Times New Roman" panose="02020603050405020304" pitchFamily="18" charset="0"/>
              </a:endParaRPr>
            </a:p>
          </p:txBody>
        </p:sp>
        <p:grpSp>
          <p:nvGrpSpPr>
            <p:cNvPr id="87" name="组合 86">
              <a:extLst>
                <a:ext uri="{FF2B5EF4-FFF2-40B4-BE49-F238E27FC236}">
                  <a16:creationId xmlns:a16="http://schemas.microsoft.com/office/drawing/2014/main" id="{2D35A86C-FA18-DE75-AC1B-9AF8DBEA5931}"/>
                </a:ext>
              </a:extLst>
            </p:cNvPr>
            <p:cNvGrpSpPr/>
            <p:nvPr/>
          </p:nvGrpSpPr>
          <p:grpSpPr>
            <a:xfrm>
              <a:off x="1265487" y="895619"/>
              <a:ext cx="9525546" cy="4948046"/>
              <a:chOff x="1265487" y="895619"/>
              <a:chExt cx="9525546" cy="4948046"/>
            </a:xfrm>
          </p:grpSpPr>
          <p:grpSp>
            <p:nvGrpSpPr>
              <p:cNvPr id="88" name="Group 35">
                <a:extLst>
                  <a:ext uri="{FF2B5EF4-FFF2-40B4-BE49-F238E27FC236}">
                    <a16:creationId xmlns:a16="http://schemas.microsoft.com/office/drawing/2014/main" id="{478782D2-ECC9-9BF6-AB0F-7659094797A5}"/>
                  </a:ext>
                </a:extLst>
              </p:cNvPr>
              <p:cNvGrpSpPr/>
              <p:nvPr/>
            </p:nvGrpSpPr>
            <p:grpSpPr>
              <a:xfrm>
                <a:off x="1265487" y="895619"/>
                <a:ext cx="3546021" cy="3439278"/>
                <a:chOff x="1107706" y="513295"/>
                <a:chExt cx="5641520" cy="5250507"/>
              </a:xfrm>
            </p:grpSpPr>
            <p:grpSp>
              <p:nvGrpSpPr>
                <p:cNvPr id="93" name="Group 32">
                  <a:extLst>
                    <a:ext uri="{FF2B5EF4-FFF2-40B4-BE49-F238E27FC236}">
                      <a16:creationId xmlns:a16="http://schemas.microsoft.com/office/drawing/2014/main" id="{1122E085-9E00-80AA-CA6C-60B73FCCDBA5}"/>
                    </a:ext>
                  </a:extLst>
                </p:cNvPr>
                <p:cNvGrpSpPr/>
                <p:nvPr/>
              </p:nvGrpSpPr>
              <p:grpSpPr>
                <a:xfrm>
                  <a:off x="1107706" y="513295"/>
                  <a:ext cx="5576422" cy="5163447"/>
                  <a:chOff x="3850906" y="821520"/>
                  <a:chExt cx="5576422" cy="5163447"/>
                </a:xfrm>
              </p:grpSpPr>
              <p:sp>
                <p:nvSpPr>
                  <p:cNvPr id="95" name="Oval 16">
                    <a:extLst>
                      <a:ext uri="{FF2B5EF4-FFF2-40B4-BE49-F238E27FC236}">
                        <a16:creationId xmlns:a16="http://schemas.microsoft.com/office/drawing/2014/main" id="{2A1949C1-AB3C-B4F8-CF93-1D81269A3A95}"/>
                      </a:ext>
                    </a:extLst>
                  </p:cNvPr>
                  <p:cNvSpPr>
                    <a:spLocks noChangeAspect="1"/>
                  </p:cNvSpPr>
                  <p:nvPr/>
                </p:nvSpPr>
                <p:spPr bwMode="auto">
                  <a:xfrm>
                    <a:off x="7667458" y="2199271"/>
                    <a:ext cx="1549400" cy="1293729"/>
                  </a:xfrm>
                  <a:prstGeom prst="ellipse">
                    <a:avLst/>
                  </a:prstGeom>
                  <a:solidFill>
                    <a:srgbClr val="4BACC6">
                      <a:lumMod val="40000"/>
                      <a:lumOff val="60000"/>
                    </a:srgbClr>
                  </a:solidFill>
                  <a:ln w="9525" cap="flat" cmpd="sng" algn="ctr">
                    <a:noFill/>
                    <a:prstDash val="solid"/>
                  </a:ln>
                  <a:effectLst>
                    <a:outerShdw blurRad="40000" dist="23000" dir="5400000" rotWithShape="0">
                      <a:srgbClr val="000000">
                        <a:alpha val="35000"/>
                      </a:srgbClr>
                    </a:outerShdw>
                  </a:effectLst>
                </p:spPr>
                <p:txBody>
                  <a:bodyPr anchor="ctr"/>
                  <a:lstStyle/>
                  <a:p>
                    <a:pPr algn="ctr" defTabSz="404378" eaLnBrk="0" fontAlgn="base" hangingPunct="0">
                      <a:spcBef>
                        <a:spcPct val="0"/>
                      </a:spcBef>
                      <a:spcAft>
                        <a:spcPct val="0"/>
                      </a:spcAft>
                    </a:pPr>
                    <a:r>
                      <a:rPr lang="en-US" altLang="zh-CN" sz="1200" kern="0" dirty="0">
                        <a:solidFill>
                          <a:srgbClr val="000000"/>
                        </a:solidFill>
                        <a:latin typeface="Times New Roman" panose="02020603050405020304" pitchFamily="18" charset="0"/>
                        <a:ea typeface="黑体" charset="0"/>
                        <a:cs typeface="Times New Roman" panose="02020603050405020304" pitchFamily="18" charset="0"/>
                      </a:rPr>
                      <a:t>CICE5</a:t>
                    </a:r>
                    <a:endParaRPr lang="en-US" sz="1200" kern="0" dirty="0">
                      <a:solidFill>
                        <a:srgbClr val="000000"/>
                      </a:solidFill>
                      <a:latin typeface="Times New Roman" panose="02020603050405020304" pitchFamily="18" charset="0"/>
                      <a:ea typeface="黑体" charset="0"/>
                      <a:cs typeface="Times New Roman" panose="02020603050405020304" pitchFamily="18" charset="0"/>
                    </a:endParaRPr>
                  </a:p>
                </p:txBody>
              </p:sp>
              <p:sp>
                <p:nvSpPr>
                  <p:cNvPr id="96" name="Oval 17">
                    <a:extLst>
                      <a:ext uri="{FF2B5EF4-FFF2-40B4-BE49-F238E27FC236}">
                        <a16:creationId xmlns:a16="http://schemas.microsoft.com/office/drawing/2014/main" id="{47CC14BD-3BD8-A64B-84C7-869F1DAB1900}"/>
                      </a:ext>
                    </a:extLst>
                  </p:cNvPr>
                  <p:cNvSpPr>
                    <a:spLocks/>
                  </p:cNvSpPr>
                  <p:nvPr/>
                </p:nvSpPr>
                <p:spPr bwMode="auto">
                  <a:xfrm>
                    <a:off x="3915324" y="4075776"/>
                    <a:ext cx="1562977" cy="1177920"/>
                  </a:xfrm>
                  <a:prstGeom prst="ellipse">
                    <a:avLst/>
                  </a:prstGeom>
                  <a:solidFill>
                    <a:schemeClr val="accent6">
                      <a:lumMod val="60000"/>
                      <a:lumOff val="40000"/>
                    </a:schemeClr>
                  </a:solidFill>
                  <a:ln w="9525" cap="flat" cmpd="sng" algn="ctr">
                    <a:noFill/>
                    <a:prstDash val="solid"/>
                  </a:ln>
                  <a:effectLst>
                    <a:outerShdw blurRad="40000" dist="23000" dir="5400000" rotWithShape="0">
                      <a:srgbClr val="000000">
                        <a:alpha val="35000"/>
                      </a:srgbClr>
                    </a:outerShdw>
                  </a:effectLst>
                </p:spPr>
                <p:txBody>
                  <a:bodyPr anchor="ctr"/>
                  <a:lstStyle/>
                  <a:p>
                    <a:pPr algn="ctr" defTabSz="404378" eaLnBrk="0" fontAlgn="base" hangingPunct="0">
                      <a:spcBef>
                        <a:spcPct val="0"/>
                      </a:spcBef>
                      <a:spcAft>
                        <a:spcPct val="0"/>
                      </a:spcAft>
                    </a:pPr>
                    <a:r>
                      <a:rPr lang="en-US" altLang="zh-CN" sz="1200" kern="0" dirty="0">
                        <a:solidFill>
                          <a:prstClr val="black"/>
                        </a:solidFill>
                        <a:latin typeface="Times New Roman" panose="02020603050405020304" pitchFamily="18" charset="0"/>
                        <a:ea typeface="黑体" charset="0"/>
                        <a:cs typeface="Times New Roman" panose="02020603050405020304" pitchFamily="18" charset="0"/>
                      </a:rPr>
                      <a:t>CLM5</a:t>
                    </a:r>
                  </a:p>
                </p:txBody>
              </p:sp>
              <p:sp>
                <p:nvSpPr>
                  <p:cNvPr id="97" name="Oval 18">
                    <a:extLst>
                      <a:ext uri="{FF2B5EF4-FFF2-40B4-BE49-F238E27FC236}">
                        <a16:creationId xmlns:a16="http://schemas.microsoft.com/office/drawing/2014/main" id="{2D450BD8-3F45-C9AB-F9D3-F422A271E742}"/>
                      </a:ext>
                    </a:extLst>
                  </p:cNvPr>
                  <p:cNvSpPr>
                    <a:spLocks/>
                  </p:cNvSpPr>
                  <p:nvPr/>
                </p:nvSpPr>
                <p:spPr bwMode="auto">
                  <a:xfrm>
                    <a:off x="7594324" y="3992222"/>
                    <a:ext cx="1727235" cy="1173833"/>
                  </a:xfrm>
                  <a:prstGeom prst="ellipse">
                    <a:avLst/>
                  </a:prstGeom>
                  <a:solidFill>
                    <a:srgbClr val="34B4FF"/>
                  </a:solidFill>
                  <a:ln w="38100" cap="flat" cmpd="sng" algn="ctr">
                    <a:noFill/>
                    <a:prstDash val="solid"/>
                  </a:ln>
                  <a:effectLst>
                    <a:outerShdw blurRad="40000" dist="20000" dir="5400000" rotWithShape="0">
                      <a:srgbClr val="000000">
                        <a:alpha val="38000"/>
                      </a:srgbClr>
                    </a:outerShdw>
                  </a:effectLst>
                </p:spPr>
                <p:txBody>
                  <a:bodyPr lIns="0" rIns="0" anchor="ctr"/>
                  <a:lstStyle/>
                  <a:p>
                    <a:pPr algn="ctr" defTabSz="404378" eaLnBrk="0" fontAlgn="base" hangingPunct="0">
                      <a:lnSpc>
                        <a:spcPct val="130000"/>
                      </a:lnSpc>
                      <a:spcBef>
                        <a:spcPct val="0"/>
                      </a:spcBef>
                      <a:spcAft>
                        <a:spcPct val="0"/>
                      </a:spcAft>
                    </a:pPr>
                    <a:r>
                      <a:rPr lang="en-US" altLang="zh-CN" sz="1200" kern="0" dirty="0">
                        <a:solidFill>
                          <a:prstClr val="black"/>
                        </a:solidFill>
                        <a:latin typeface="Times New Roman" panose="02020603050405020304" pitchFamily="18" charset="0"/>
                        <a:ea typeface="黑体" charset="0"/>
                        <a:cs typeface="Times New Roman" panose="02020603050405020304" pitchFamily="18" charset="0"/>
                      </a:rPr>
                      <a:t>POP2</a:t>
                    </a:r>
                  </a:p>
                </p:txBody>
              </p:sp>
              <p:sp>
                <p:nvSpPr>
                  <p:cNvPr id="98" name="Left-Right Arrow 19">
                    <a:extLst>
                      <a:ext uri="{FF2B5EF4-FFF2-40B4-BE49-F238E27FC236}">
                        <a16:creationId xmlns:a16="http://schemas.microsoft.com/office/drawing/2014/main" id="{475FCED9-70B0-F14F-A503-55EFF2B691BC}"/>
                      </a:ext>
                    </a:extLst>
                  </p:cNvPr>
                  <p:cNvSpPr/>
                  <p:nvPr/>
                </p:nvSpPr>
                <p:spPr bwMode="auto">
                  <a:xfrm rot="19926381">
                    <a:off x="7082134" y="3059742"/>
                    <a:ext cx="579437" cy="175120"/>
                  </a:xfrm>
                  <a:prstGeom prst="leftRightArrow">
                    <a:avLst/>
                  </a:prstGeom>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404378" eaLnBrk="0" fontAlgn="base" hangingPunct="0">
                      <a:spcBef>
                        <a:spcPct val="0"/>
                      </a:spcBef>
                      <a:spcAft>
                        <a:spcPct val="0"/>
                      </a:spcAft>
                      <a:defRPr/>
                    </a:pPr>
                    <a:endParaRPr lang="en-US" sz="1000" kern="0">
                      <a:solidFill>
                        <a:srgbClr val="000000"/>
                      </a:solidFill>
                      <a:latin typeface="Times New Roman" panose="02020603050405020304" pitchFamily="18" charset="0"/>
                      <a:ea typeface="黑体"/>
                      <a:cs typeface="Times New Roman" panose="02020603050405020304" pitchFamily="18" charset="0"/>
                    </a:endParaRPr>
                  </a:p>
                </p:txBody>
              </p:sp>
              <p:sp>
                <p:nvSpPr>
                  <p:cNvPr id="99" name="Left-Right Arrow 20">
                    <a:extLst>
                      <a:ext uri="{FF2B5EF4-FFF2-40B4-BE49-F238E27FC236}">
                        <a16:creationId xmlns:a16="http://schemas.microsoft.com/office/drawing/2014/main" id="{CD30422D-C896-D27E-89ED-08546B2D693C}"/>
                      </a:ext>
                    </a:extLst>
                  </p:cNvPr>
                  <p:cNvSpPr/>
                  <p:nvPr/>
                </p:nvSpPr>
                <p:spPr bwMode="auto">
                  <a:xfrm rot="16200000">
                    <a:off x="6338580" y="2705930"/>
                    <a:ext cx="444465" cy="131231"/>
                  </a:xfrm>
                  <a:prstGeom prst="leftRightArrow">
                    <a:avLst/>
                  </a:prstGeom>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404378" eaLnBrk="0" fontAlgn="base" hangingPunct="0">
                      <a:spcBef>
                        <a:spcPct val="0"/>
                      </a:spcBef>
                      <a:spcAft>
                        <a:spcPct val="0"/>
                      </a:spcAft>
                      <a:defRPr/>
                    </a:pPr>
                    <a:endParaRPr lang="en-US" sz="1000" kern="0">
                      <a:solidFill>
                        <a:srgbClr val="000000"/>
                      </a:solidFill>
                      <a:latin typeface="Times New Roman" panose="02020603050405020304" pitchFamily="18" charset="0"/>
                      <a:ea typeface="黑体"/>
                      <a:cs typeface="Times New Roman" panose="02020603050405020304" pitchFamily="18" charset="0"/>
                    </a:endParaRPr>
                  </a:p>
                </p:txBody>
              </p:sp>
              <p:sp>
                <p:nvSpPr>
                  <p:cNvPr id="100" name="Oval 21">
                    <a:extLst>
                      <a:ext uri="{FF2B5EF4-FFF2-40B4-BE49-F238E27FC236}">
                        <a16:creationId xmlns:a16="http://schemas.microsoft.com/office/drawing/2014/main" id="{715A6BFE-009F-52DD-5DB2-A8A628BC280E}"/>
                      </a:ext>
                    </a:extLst>
                  </p:cNvPr>
                  <p:cNvSpPr>
                    <a:spLocks noChangeAspect="1"/>
                  </p:cNvSpPr>
                  <p:nvPr/>
                </p:nvSpPr>
                <p:spPr bwMode="auto">
                  <a:xfrm>
                    <a:off x="5605585" y="1420813"/>
                    <a:ext cx="1846799" cy="1076931"/>
                  </a:xfrm>
                  <a:prstGeom prst="ellipse">
                    <a:avLst/>
                  </a:prstGeom>
                  <a:solidFill>
                    <a:schemeClr val="accent2">
                      <a:lumMod val="40000"/>
                      <a:lumOff val="60000"/>
                    </a:schemeClr>
                  </a:solidFill>
                  <a:ln w="9525" cap="flat" cmpd="sng" algn="ctr">
                    <a:noFill/>
                    <a:prstDash val="solid"/>
                  </a:ln>
                  <a:effectLst>
                    <a:outerShdw blurRad="40000" dist="23000" dir="5400000" rotWithShape="0">
                      <a:srgbClr val="000000">
                        <a:alpha val="35000"/>
                      </a:srgbClr>
                    </a:outerShdw>
                  </a:effectLst>
                </p:spPr>
                <p:txBody>
                  <a:bodyPr anchor="ctr"/>
                  <a:lstStyle/>
                  <a:p>
                    <a:pPr algn="ctr" defTabSz="404378" eaLnBrk="0" fontAlgn="base" hangingPunct="0">
                      <a:spcBef>
                        <a:spcPct val="0"/>
                      </a:spcBef>
                      <a:spcAft>
                        <a:spcPct val="0"/>
                      </a:spcAft>
                    </a:pPr>
                    <a:r>
                      <a:rPr lang="en-US" altLang="zh-CN" sz="1200" kern="0" dirty="0">
                        <a:solidFill>
                          <a:prstClr val="black"/>
                        </a:solidFill>
                        <a:latin typeface="Times New Roman" panose="02020603050405020304" pitchFamily="18" charset="0"/>
                        <a:ea typeface="黑体" charset="0"/>
                        <a:cs typeface="Times New Roman" panose="02020603050405020304" pitchFamily="18" charset="0"/>
                      </a:rPr>
                      <a:t>CAM6</a:t>
                    </a:r>
                  </a:p>
                </p:txBody>
              </p:sp>
              <p:sp>
                <p:nvSpPr>
                  <p:cNvPr id="101" name="Oval 22">
                    <a:extLst>
                      <a:ext uri="{FF2B5EF4-FFF2-40B4-BE49-F238E27FC236}">
                        <a16:creationId xmlns:a16="http://schemas.microsoft.com/office/drawing/2014/main" id="{B28F9090-44EC-7240-3D71-5D40E274FDFC}"/>
                      </a:ext>
                    </a:extLst>
                  </p:cNvPr>
                  <p:cNvSpPr>
                    <a:spLocks noChangeAspect="1"/>
                  </p:cNvSpPr>
                  <p:nvPr/>
                </p:nvSpPr>
                <p:spPr bwMode="auto">
                  <a:xfrm>
                    <a:off x="3850906" y="2097739"/>
                    <a:ext cx="1603261" cy="1395261"/>
                  </a:xfrm>
                  <a:prstGeom prst="ellipse">
                    <a:avLst/>
                  </a:prstGeom>
                  <a:solidFill>
                    <a:srgbClr val="4BACC6">
                      <a:lumMod val="40000"/>
                      <a:lumOff val="60000"/>
                    </a:srgbClr>
                  </a:solidFill>
                  <a:ln w="9525" cap="flat" cmpd="sng" algn="ctr">
                    <a:noFill/>
                    <a:prstDash val="solid"/>
                  </a:ln>
                  <a:effectLst>
                    <a:outerShdw blurRad="40000" dist="23000" dir="5400000" rotWithShape="0">
                      <a:srgbClr val="000000">
                        <a:alpha val="35000"/>
                      </a:srgbClr>
                    </a:outerShdw>
                  </a:effectLst>
                </p:spPr>
                <p:txBody>
                  <a:bodyPr anchor="ctr"/>
                  <a:lstStyle/>
                  <a:p>
                    <a:pPr algn="ctr" defTabSz="404378" eaLnBrk="0" fontAlgn="base" hangingPunct="0">
                      <a:spcBef>
                        <a:spcPct val="0"/>
                      </a:spcBef>
                      <a:spcAft>
                        <a:spcPct val="0"/>
                      </a:spcAft>
                    </a:pPr>
                    <a:r>
                      <a:rPr lang="en-US" sz="1400" kern="0" dirty="0">
                        <a:solidFill>
                          <a:srgbClr val="000000"/>
                        </a:solidFill>
                        <a:latin typeface="Times New Roman" panose="02020603050405020304" pitchFamily="18" charset="0"/>
                        <a:ea typeface="黑体" charset="0"/>
                        <a:cs typeface="Times New Roman" panose="02020603050405020304" pitchFamily="18" charset="0"/>
                      </a:rPr>
                      <a:t>CISM2</a:t>
                    </a:r>
                  </a:p>
                </p:txBody>
              </p:sp>
              <p:sp>
                <p:nvSpPr>
                  <p:cNvPr id="102" name="Oval 23">
                    <a:extLst>
                      <a:ext uri="{FF2B5EF4-FFF2-40B4-BE49-F238E27FC236}">
                        <a16:creationId xmlns:a16="http://schemas.microsoft.com/office/drawing/2014/main" id="{40BEF05C-7B4C-56DB-AFE3-CFC8717BD704}"/>
                      </a:ext>
                    </a:extLst>
                  </p:cNvPr>
                  <p:cNvSpPr>
                    <a:spLocks noChangeAspect="1"/>
                  </p:cNvSpPr>
                  <p:nvPr/>
                </p:nvSpPr>
                <p:spPr bwMode="auto">
                  <a:xfrm>
                    <a:off x="5780687" y="3011490"/>
                    <a:ext cx="1540247" cy="1295250"/>
                  </a:xfrm>
                  <a:prstGeom prst="ellipse">
                    <a:avLst/>
                  </a:prstGeom>
                  <a:solidFill>
                    <a:sysClr val="window" lastClr="FFFFFF">
                      <a:lumMod val="75000"/>
                    </a:sysClr>
                  </a:solidFill>
                  <a:ln w="9525" cap="flat" cmpd="sng" algn="ctr">
                    <a:noFill/>
                    <a:prstDash val="solid"/>
                  </a:ln>
                  <a:effectLst>
                    <a:outerShdw blurRad="40000" dist="23000" dir="5400000" rotWithShape="0">
                      <a:srgbClr val="000000">
                        <a:alpha val="35000"/>
                      </a:srgbClr>
                    </a:outerShdw>
                  </a:effectLst>
                </p:spPr>
                <p:txBody>
                  <a:bodyPr anchor="ctr"/>
                  <a:lstStyle/>
                  <a:p>
                    <a:pPr algn="ctr" defTabSz="404378" eaLnBrk="0" fontAlgn="base" hangingPunct="0">
                      <a:spcBef>
                        <a:spcPct val="0"/>
                      </a:spcBef>
                      <a:spcAft>
                        <a:spcPct val="0"/>
                      </a:spcAft>
                    </a:pPr>
                    <a:r>
                      <a:rPr lang="en-US" sz="1200" kern="0" dirty="0">
                        <a:solidFill>
                          <a:srgbClr val="000000"/>
                        </a:solidFill>
                        <a:latin typeface="Times New Roman" panose="02020603050405020304" pitchFamily="18" charset="0"/>
                        <a:ea typeface="黑体" charset="0"/>
                        <a:cs typeface="Times New Roman" panose="02020603050405020304" pitchFamily="18" charset="0"/>
                      </a:rPr>
                      <a:t>Coupler CIME2</a:t>
                    </a:r>
                  </a:p>
                </p:txBody>
              </p:sp>
              <p:sp>
                <p:nvSpPr>
                  <p:cNvPr id="103" name="Left-Right Arrow 24">
                    <a:extLst>
                      <a:ext uri="{FF2B5EF4-FFF2-40B4-BE49-F238E27FC236}">
                        <a16:creationId xmlns:a16="http://schemas.microsoft.com/office/drawing/2014/main" id="{A9B0C3F9-EF81-69D2-138B-141B0AE98E5F}"/>
                      </a:ext>
                    </a:extLst>
                  </p:cNvPr>
                  <p:cNvSpPr/>
                  <p:nvPr/>
                </p:nvSpPr>
                <p:spPr bwMode="auto">
                  <a:xfrm rot="12498820">
                    <a:off x="5350588" y="3208581"/>
                    <a:ext cx="579438" cy="156358"/>
                  </a:xfrm>
                  <a:prstGeom prst="leftRightArrow">
                    <a:avLst/>
                  </a:prstGeom>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404378" eaLnBrk="0" fontAlgn="base" hangingPunct="0">
                      <a:spcBef>
                        <a:spcPct val="0"/>
                      </a:spcBef>
                      <a:spcAft>
                        <a:spcPct val="0"/>
                      </a:spcAft>
                      <a:defRPr/>
                    </a:pPr>
                    <a:endParaRPr lang="en-US" sz="1000" kern="0">
                      <a:solidFill>
                        <a:srgbClr val="000000"/>
                      </a:solidFill>
                      <a:latin typeface="Times New Roman" panose="02020603050405020304" pitchFamily="18" charset="0"/>
                      <a:ea typeface="黑体"/>
                      <a:cs typeface="Times New Roman" panose="02020603050405020304" pitchFamily="18" charset="0"/>
                    </a:endParaRPr>
                  </a:p>
                </p:txBody>
              </p:sp>
              <p:sp>
                <p:nvSpPr>
                  <p:cNvPr id="104" name="Left-Right Arrow 25">
                    <a:extLst>
                      <a:ext uri="{FF2B5EF4-FFF2-40B4-BE49-F238E27FC236}">
                        <a16:creationId xmlns:a16="http://schemas.microsoft.com/office/drawing/2014/main" id="{E245EE4D-C86D-CC8E-5D9C-E0DD93635D7A}"/>
                      </a:ext>
                    </a:extLst>
                  </p:cNvPr>
                  <p:cNvSpPr/>
                  <p:nvPr/>
                </p:nvSpPr>
                <p:spPr bwMode="auto">
                  <a:xfrm rot="19916666">
                    <a:off x="5401688" y="4130508"/>
                    <a:ext cx="630101" cy="168358"/>
                  </a:xfrm>
                  <a:prstGeom prst="leftRightArrow">
                    <a:avLst/>
                  </a:prstGeom>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404378" eaLnBrk="0" fontAlgn="base" hangingPunct="0">
                      <a:spcBef>
                        <a:spcPct val="0"/>
                      </a:spcBef>
                      <a:spcAft>
                        <a:spcPct val="0"/>
                      </a:spcAft>
                      <a:defRPr/>
                    </a:pPr>
                    <a:endParaRPr lang="en-US" sz="1000" kern="0">
                      <a:solidFill>
                        <a:srgbClr val="000000"/>
                      </a:solidFill>
                      <a:latin typeface="Times New Roman" panose="02020603050405020304" pitchFamily="18" charset="0"/>
                      <a:ea typeface="黑体"/>
                      <a:cs typeface="Times New Roman" panose="02020603050405020304" pitchFamily="18" charset="0"/>
                    </a:endParaRPr>
                  </a:p>
                </p:txBody>
              </p:sp>
              <p:sp>
                <p:nvSpPr>
                  <p:cNvPr id="105" name="Left-Right Arrow 26">
                    <a:extLst>
                      <a:ext uri="{FF2B5EF4-FFF2-40B4-BE49-F238E27FC236}">
                        <a16:creationId xmlns:a16="http://schemas.microsoft.com/office/drawing/2014/main" id="{EA81FF38-A9E9-D8B1-9184-597FCF724534}"/>
                      </a:ext>
                    </a:extLst>
                  </p:cNvPr>
                  <p:cNvSpPr/>
                  <p:nvPr/>
                </p:nvSpPr>
                <p:spPr bwMode="auto">
                  <a:xfrm rot="1888149">
                    <a:off x="7117661" y="4048356"/>
                    <a:ext cx="562721" cy="177233"/>
                  </a:xfrm>
                  <a:prstGeom prst="leftRightArrow">
                    <a:avLst/>
                  </a:prstGeom>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defTabSz="404378" eaLnBrk="0" fontAlgn="base" hangingPunct="0">
                      <a:spcBef>
                        <a:spcPct val="0"/>
                      </a:spcBef>
                      <a:spcAft>
                        <a:spcPct val="0"/>
                      </a:spcAft>
                      <a:defRPr/>
                    </a:pPr>
                    <a:endParaRPr lang="en-US" sz="1000" kern="0">
                      <a:solidFill>
                        <a:srgbClr val="000000"/>
                      </a:solidFill>
                      <a:latin typeface="Times New Roman" panose="02020603050405020304" pitchFamily="18" charset="0"/>
                      <a:ea typeface="黑体"/>
                      <a:cs typeface="Times New Roman" panose="02020603050405020304" pitchFamily="18" charset="0"/>
                    </a:endParaRPr>
                  </a:p>
                </p:txBody>
              </p:sp>
              <p:sp>
                <p:nvSpPr>
                  <p:cNvPr id="106" name="Oval 27">
                    <a:extLst>
                      <a:ext uri="{FF2B5EF4-FFF2-40B4-BE49-F238E27FC236}">
                        <a16:creationId xmlns:a16="http://schemas.microsoft.com/office/drawing/2014/main" id="{6EB63083-FF0E-1C66-9FB6-C47878F77AD6}"/>
                      </a:ext>
                    </a:extLst>
                  </p:cNvPr>
                  <p:cNvSpPr>
                    <a:spLocks/>
                  </p:cNvSpPr>
                  <p:nvPr/>
                </p:nvSpPr>
                <p:spPr bwMode="auto">
                  <a:xfrm>
                    <a:off x="3850906" y="5009835"/>
                    <a:ext cx="2322345" cy="975132"/>
                  </a:xfrm>
                  <a:prstGeom prst="ellipse">
                    <a:avLst/>
                  </a:prstGeom>
                  <a:solidFill>
                    <a:schemeClr val="accent6">
                      <a:lumMod val="60000"/>
                      <a:lumOff val="40000"/>
                    </a:schemeClr>
                  </a:solidFill>
                  <a:ln>
                    <a:solidFill>
                      <a:schemeClr val="bg1"/>
                    </a:solidFill>
                  </a:ln>
                </p:spPr>
                <p:style>
                  <a:lnRef idx="0">
                    <a:schemeClr val="accent6"/>
                  </a:lnRef>
                  <a:fillRef idx="3">
                    <a:schemeClr val="accent6"/>
                  </a:fillRef>
                  <a:effectRef idx="3">
                    <a:schemeClr val="accent6"/>
                  </a:effectRef>
                  <a:fontRef idx="minor">
                    <a:schemeClr val="lt1"/>
                  </a:fontRef>
                </p:style>
                <p:txBody>
                  <a:bodyPr anchor="ctr"/>
                  <a:lstStyle/>
                  <a:p>
                    <a:pPr algn="ctr" defTabSz="404378" eaLnBrk="0" fontAlgn="base" hangingPunct="0">
                      <a:spcBef>
                        <a:spcPct val="0"/>
                      </a:spcBef>
                      <a:spcAft>
                        <a:spcPct val="0"/>
                      </a:spcAft>
                    </a:pPr>
                    <a:r>
                      <a:rPr lang="en-US" altLang="zh-CN" sz="1000" kern="0" dirty="0">
                        <a:solidFill>
                          <a:prstClr val="black"/>
                        </a:solidFill>
                        <a:latin typeface="Times New Roman" panose="02020603050405020304" pitchFamily="18" charset="0"/>
                        <a:ea typeface="黑体" charset="0"/>
                        <a:cs typeface="Times New Roman" panose="02020603050405020304" pitchFamily="18" charset="0"/>
                      </a:rPr>
                      <a:t>Land biogeochemistry</a:t>
                    </a:r>
                  </a:p>
                </p:txBody>
              </p:sp>
              <p:sp>
                <p:nvSpPr>
                  <p:cNvPr id="107" name="Oval 28">
                    <a:extLst>
                      <a:ext uri="{FF2B5EF4-FFF2-40B4-BE49-F238E27FC236}">
                        <a16:creationId xmlns:a16="http://schemas.microsoft.com/office/drawing/2014/main" id="{D4366A22-1FD7-5748-493D-0C18958389EE}"/>
                      </a:ext>
                    </a:extLst>
                  </p:cNvPr>
                  <p:cNvSpPr>
                    <a:spLocks/>
                  </p:cNvSpPr>
                  <p:nvPr/>
                </p:nvSpPr>
                <p:spPr bwMode="auto">
                  <a:xfrm>
                    <a:off x="7452383" y="5009836"/>
                    <a:ext cx="1974945" cy="975131"/>
                  </a:xfrm>
                  <a:prstGeom prst="ellipse">
                    <a:avLst/>
                  </a:prstGeom>
                  <a:ln/>
                </p:spPr>
                <p:style>
                  <a:lnRef idx="3">
                    <a:schemeClr val="lt1"/>
                  </a:lnRef>
                  <a:fillRef idx="1">
                    <a:schemeClr val="accent1"/>
                  </a:fillRef>
                  <a:effectRef idx="1">
                    <a:schemeClr val="accent1"/>
                  </a:effectRef>
                  <a:fontRef idx="minor">
                    <a:schemeClr val="lt1"/>
                  </a:fontRef>
                </p:style>
                <p:txBody>
                  <a:bodyPr anchor="ctr"/>
                  <a:lstStyle/>
                  <a:p>
                    <a:pPr algn="ctr" defTabSz="404378" eaLnBrk="0" fontAlgn="base" hangingPunct="0">
                      <a:spcBef>
                        <a:spcPct val="0"/>
                      </a:spcBef>
                      <a:spcAft>
                        <a:spcPct val="0"/>
                      </a:spcAft>
                    </a:pPr>
                    <a:r>
                      <a:rPr lang="en-US" altLang="zh-CN" sz="1000" kern="0" dirty="0">
                        <a:solidFill>
                          <a:prstClr val="black"/>
                        </a:solidFill>
                        <a:latin typeface="Times New Roman" panose="02020603050405020304" pitchFamily="18" charset="0"/>
                        <a:ea typeface="黑体" charset="0"/>
                        <a:cs typeface="Times New Roman" panose="02020603050405020304" pitchFamily="18" charset="0"/>
                      </a:rPr>
                      <a:t>MARBL</a:t>
                    </a:r>
                  </a:p>
                  <a:p>
                    <a:pPr algn="ctr" defTabSz="404378" eaLnBrk="0" fontAlgn="base" hangingPunct="0">
                      <a:spcBef>
                        <a:spcPct val="0"/>
                      </a:spcBef>
                      <a:spcAft>
                        <a:spcPct val="0"/>
                      </a:spcAft>
                    </a:pPr>
                    <a:r>
                      <a:rPr lang="en-US" altLang="zh-CN" sz="1000" kern="0" dirty="0">
                        <a:solidFill>
                          <a:prstClr val="black"/>
                        </a:solidFill>
                        <a:latin typeface="Times New Roman" panose="02020603050405020304" pitchFamily="18" charset="0"/>
                        <a:ea typeface="黑体" charset="0"/>
                        <a:cs typeface="Times New Roman" panose="02020603050405020304" pitchFamily="18" charset="0"/>
                      </a:rPr>
                      <a:t>BEC</a:t>
                    </a:r>
                  </a:p>
                </p:txBody>
              </p:sp>
              <p:sp>
                <p:nvSpPr>
                  <p:cNvPr id="108" name="Oval 29">
                    <a:extLst>
                      <a:ext uri="{FF2B5EF4-FFF2-40B4-BE49-F238E27FC236}">
                        <a16:creationId xmlns:a16="http://schemas.microsoft.com/office/drawing/2014/main" id="{4371ED20-3261-9668-51FC-31E25D3C90C5}"/>
                      </a:ext>
                    </a:extLst>
                  </p:cNvPr>
                  <p:cNvSpPr>
                    <a:spLocks noChangeAspect="1"/>
                  </p:cNvSpPr>
                  <p:nvPr/>
                </p:nvSpPr>
                <p:spPr bwMode="auto">
                  <a:xfrm>
                    <a:off x="5162751" y="821520"/>
                    <a:ext cx="2046768" cy="816613"/>
                  </a:xfrm>
                  <a:prstGeom prst="ellipse">
                    <a:avLst/>
                  </a:prstGeom>
                  <a:solidFill>
                    <a:schemeClr val="accent2">
                      <a:lumMod val="40000"/>
                      <a:lumOff val="60000"/>
                    </a:schemeClr>
                  </a:solidFill>
                  <a:ln/>
                </p:spPr>
                <p:style>
                  <a:lnRef idx="3">
                    <a:schemeClr val="lt1"/>
                  </a:lnRef>
                  <a:fillRef idx="1">
                    <a:schemeClr val="accent2"/>
                  </a:fillRef>
                  <a:effectRef idx="1">
                    <a:schemeClr val="accent2"/>
                  </a:effectRef>
                  <a:fontRef idx="minor">
                    <a:schemeClr val="lt1"/>
                  </a:fontRef>
                </p:style>
                <p:txBody>
                  <a:bodyPr anchor="ctr"/>
                  <a:lstStyle/>
                  <a:p>
                    <a:pPr algn="ctr" defTabSz="404378" eaLnBrk="0" fontAlgn="base" hangingPunct="0">
                      <a:spcBef>
                        <a:spcPct val="0"/>
                      </a:spcBef>
                      <a:spcAft>
                        <a:spcPct val="0"/>
                      </a:spcAft>
                    </a:pPr>
                    <a:r>
                      <a:rPr lang="en-US" altLang="zh-CN" sz="1000" kern="0" dirty="0" err="1">
                        <a:solidFill>
                          <a:prstClr val="black"/>
                        </a:solidFill>
                        <a:latin typeface="Times New Roman" panose="02020603050405020304" pitchFamily="18" charset="0"/>
                        <a:ea typeface="黑体" charset="0"/>
                        <a:cs typeface="Times New Roman" panose="02020603050405020304" pitchFamily="18" charset="0"/>
                      </a:rPr>
                      <a:t>Atomesphere</a:t>
                    </a:r>
                    <a:endParaRPr lang="en-US" altLang="zh-CN" sz="1000" kern="0" dirty="0">
                      <a:solidFill>
                        <a:prstClr val="black"/>
                      </a:solidFill>
                      <a:latin typeface="Times New Roman" panose="02020603050405020304" pitchFamily="18" charset="0"/>
                      <a:ea typeface="黑体" charset="0"/>
                      <a:cs typeface="Times New Roman" panose="02020603050405020304" pitchFamily="18" charset="0"/>
                    </a:endParaRPr>
                  </a:p>
                  <a:p>
                    <a:pPr algn="ctr" defTabSz="404378" eaLnBrk="0" fontAlgn="base" hangingPunct="0">
                      <a:spcBef>
                        <a:spcPct val="0"/>
                      </a:spcBef>
                      <a:spcAft>
                        <a:spcPct val="0"/>
                      </a:spcAft>
                    </a:pPr>
                    <a:r>
                      <a:rPr lang="en-US" altLang="zh-CN" sz="1000" kern="0" dirty="0">
                        <a:solidFill>
                          <a:prstClr val="black"/>
                        </a:solidFill>
                        <a:latin typeface="Times New Roman" panose="02020603050405020304" pitchFamily="18" charset="0"/>
                        <a:ea typeface="黑体" charset="0"/>
                        <a:cs typeface="Times New Roman" panose="02020603050405020304" pitchFamily="18" charset="0"/>
                      </a:rPr>
                      <a:t> chemistry</a:t>
                    </a:r>
                  </a:p>
                </p:txBody>
              </p:sp>
            </p:grpSp>
            <p:sp>
              <p:nvSpPr>
                <p:cNvPr id="94" name="Rectangle 34">
                  <a:extLst>
                    <a:ext uri="{FF2B5EF4-FFF2-40B4-BE49-F238E27FC236}">
                      <a16:creationId xmlns:a16="http://schemas.microsoft.com/office/drawing/2014/main" id="{549E7E79-12CB-F929-016E-035D8F677344}"/>
                    </a:ext>
                  </a:extLst>
                </p:cNvPr>
                <p:cNvSpPr/>
                <p:nvPr/>
              </p:nvSpPr>
              <p:spPr>
                <a:xfrm>
                  <a:off x="4655823" y="3606283"/>
                  <a:ext cx="2093403" cy="2157519"/>
                </a:xfrm>
                <a:prstGeom prst="rect">
                  <a:avLst/>
                </a:prstGeom>
                <a:noFill/>
                <a:ln w="22225">
                  <a:prstDash val="dashDot"/>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40438" tIns="20219" rIns="40438" bIns="20219" numCol="1" spcCol="0" rtlCol="0" fromWordArt="0" anchor="ctr" anchorCtr="0" forceAA="0" compatLnSpc="1">
                  <a:prstTxWarp prst="textNoShape">
                    <a:avLst/>
                  </a:prstTxWarp>
                  <a:noAutofit/>
                </a:bodyPr>
                <a:lstStyle/>
                <a:p>
                  <a:pPr algn="ctr" defTabSz="497708"/>
                  <a:endParaRPr lang="en-US" sz="1000" dirty="0">
                    <a:solidFill>
                      <a:prstClr val="black"/>
                    </a:solidFill>
                    <a:latin typeface="Times New Roman" panose="02020603050405020304" pitchFamily="18" charset="0"/>
                    <a:cs typeface="Times New Roman" panose="02020603050405020304" pitchFamily="18" charset="0"/>
                  </a:endParaRPr>
                </a:p>
              </p:txBody>
            </p:sp>
          </p:grpSp>
          <p:sp>
            <p:nvSpPr>
              <p:cNvPr id="89" name="Right Arrow 91">
                <a:extLst>
                  <a:ext uri="{FF2B5EF4-FFF2-40B4-BE49-F238E27FC236}">
                    <a16:creationId xmlns:a16="http://schemas.microsoft.com/office/drawing/2014/main" id="{C62853D9-36C3-1CCC-432B-DB1ED92419CE}"/>
                  </a:ext>
                </a:extLst>
              </p:cNvPr>
              <p:cNvSpPr/>
              <p:nvPr/>
            </p:nvSpPr>
            <p:spPr>
              <a:xfrm>
                <a:off x="4931495" y="3628269"/>
                <a:ext cx="258947" cy="265939"/>
              </a:xfrm>
              <a:prstGeom prs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0438" tIns="20219" rIns="40438" bIns="20219" numCol="1" spcCol="0" rtlCol="0" fromWordArt="0" anchor="ctr" anchorCtr="0" forceAA="0" compatLnSpc="1">
                <a:prstTxWarp prst="textNoShape">
                  <a:avLst/>
                </a:prstTxWarp>
                <a:noAutofit/>
              </a:bodyPr>
              <a:lstStyle/>
              <a:p>
                <a:pPr algn="ctr" defTabSz="497708"/>
                <a:endParaRPr lang="en-US" sz="1100">
                  <a:solidFill>
                    <a:prstClr val="white"/>
                  </a:solidFill>
                  <a:latin typeface="Times New Roman" panose="02020603050405020304" pitchFamily="18" charset="0"/>
                  <a:cs typeface="Times New Roman" panose="02020603050405020304" pitchFamily="18" charset="0"/>
                </a:endParaRPr>
              </a:p>
            </p:txBody>
          </p:sp>
          <p:sp>
            <p:nvSpPr>
              <p:cNvPr id="90" name="TextBox 93">
                <a:extLst>
                  <a:ext uri="{FF2B5EF4-FFF2-40B4-BE49-F238E27FC236}">
                    <a16:creationId xmlns:a16="http://schemas.microsoft.com/office/drawing/2014/main" id="{E0C5F79C-13C0-DAFA-5657-2A1D5B6CB60E}"/>
                  </a:ext>
                </a:extLst>
              </p:cNvPr>
              <p:cNvSpPr txBox="1"/>
              <p:nvPr/>
            </p:nvSpPr>
            <p:spPr>
              <a:xfrm>
                <a:off x="6299480" y="5563677"/>
                <a:ext cx="4258438" cy="279988"/>
              </a:xfrm>
              <a:prstGeom prst="rect">
                <a:avLst/>
              </a:prstGeom>
              <a:noFill/>
            </p:spPr>
            <p:txBody>
              <a:bodyPr wrap="square" rtlCol="0">
                <a:spAutoFit/>
              </a:bodyPr>
              <a:lstStyle/>
              <a:p>
                <a:pPr defTabSz="497708"/>
                <a:r>
                  <a:rPr lang="en-US" altLang="zh-CN" sz="1100">
                    <a:solidFill>
                      <a:prstClr val="black"/>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sz="110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10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Ocean Dynamics, Ecosystems, and Biogeochemistry Module (BEC)</a:t>
                </a:r>
                <a:endParaRPr lang="en-US"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1" name="TextBox 128">
                <a:extLst>
                  <a:ext uri="{FF2B5EF4-FFF2-40B4-BE49-F238E27FC236}">
                    <a16:creationId xmlns:a16="http://schemas.microsoft.com/office/drawing/2014/main" id="{DA4B590E-5C2D-BB7A-F409-8440AAF58E02}"/>
                  </a:ext>
                </a:extLst>
              </p:cNvPr>
              <p:cNvSpPr txBox="1"/>
              <p:nvPr/>
            </p:nvSpPr>
            <p:spPr>
              <a:xfrm>
                <a:off x="1869926" y="4791993"/>
                <a:ext cx="2306089" cy="279988"/>
              </a:xfrm>
              <a:prstGeom prst="rect">
                <a:avLst/>
              </a:prstGeom>
              <a:noFill/>
            </p:spPr>
            <p:txBody>
              <a:bodyPr wrap="none" rtlCol="0">
                <a:spAutoFit/>
              </a:bodyPr>
              <a:lstStyle/>
              <a:p>
                <a:pPr defTabSz="497708"/>
                <a:r>
                  <a:rPr lang="en-US" sz="110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10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Community Earth System Model</a:t>
                </a:r>
                <a:endParaRPr lang="en-US"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2" name="图片 91">
                <a:extLst>
                  <a:ext uri="{FF2B5EF4-FFF2-40B4-BE49-F238E27FC236}">
                    <a16:creationId xmlns:a16="http://schemas.microsoft.com/office/drawing/2014/main" id="{68807C16-9182-8192-BC79-0B883C6029CD}"/>
                  </a:ext>
                </a:extLst>
              </p:cNvPr>
              <p:cNvPicPr>
                <a:picLocks noChangeAspect="1"/>
              </p:cNvPicPr>
              <p:nvPr/>
            </p:nvPicPr>
            <p:blipFill>
              <a:blip r:embed="rId3"/>
              <a:stretch>
                <a:fillRect/>
              </a:stretch>
            </p:blipFill>
            <p:spPr>
              <a:xfrm>
                <a:off x="5279684" y="1640893"/>
                <a:ext cx="5511349" cy="3922784"/>
              </a:xfrm>
              <a:prstGeom prst="rect">
                <a:avLst/>
              </a:prstGeom>
            </p:spPr>
          </p:pic>
        </p:grpSp>
      </p:grpSp>
      <p:sp>
        <p:nvSpPr>
          <p:cNvPr id="109" name="文本框 108">
            <a:extLst>
              <a:ext uri="{FF2B5EF4-FFF2-40B4-BE49-F238E27FC236}">
                <a16:creationId xmlns:a16="http://schemas.microsoft.com/office/drawing/2014/main" id="{59007B97-31B1-B1EE-476F-F5FDD1E68DDD}"/>
              </a:ext>
            </a:extLst>
          </p:cNvPr>
          <p:cNvSpPr txBox="1"/>
          <p:nvPr/>
        </p:nvSpPr>
        <p:spPr>
          <a:xfrm>
            <a:off x="2101116" y="5821249"/>
            <a:ext cx="7986779" cy="369332"/>
          </a:xfrm>
          <a:prstGeom prst="rect">
            <a:avLst/>
          </a:prstGeom>
          <a:noFill/>
        </p:spPr>
        <p:txBody>
          <a:bodyPr wrap="square" rtlCol="0">
            <a:spAutoFit/>
          </a:bodyPr>
          <a:lstStyle/>
          <a:p>
            <a:r>
              <a:rPr lang="zh-CN" altLang="en-US">
                <a:latin typeface="微软雅黑" panose="020B0503020204020204" pitchFamily="34" charset="-122"/>
                <a:ea typeface="微软雅黑" panose="020B0503020204020204" pitchFamily="34" charset="-122"/>
              </a:rPr>
              <a:t>图</a:t>
            </a:r>
            <a:r>
              <a:rPr lang="en-US" altLang="zh-CN">
                <a:latin typeface="微软雅黑" panose="020B0503020204020204" pitchFamily="34" charset="-122"/>
                <a:ea typeface="微软雅黑" panose="020B0503020204020204" pitchFamily="34" charset="-122"/>
              </a:rPr>
              <a:t>2-1 CESM2</a:t>
            </a:r>
            <a:r>
              <a:rPr lang="zh-CN" altLang="en-US">
                <a:latin typeface="微软雅黑" panose="020B0503020204020204" pitchFamily="34" charset="-122"/>
                <a:ea typeface="微软雅黑" panose="020B0503020204020204" pitchFamily="34" charset="-122"/>
              </a:rPr>
              <a:t>模型结构图</a:t>
            </a:r>
            <a:r>
              <a:rPr lang="en-US" altLang="zh-CN">
                <a:latin typeface="微软雅黑" panose="020B0503020204020204" pitchFamily="34" charset="-122"/>
                <a:ea typeface="微软雅黑" panose="020B0503020204020204" pitchFamily="34" charset="-122"/>
              </a:rPr>
              <a:t>(Danabasoglu et al., 2020</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Long et al., 2021)</a:t>
            </a:r>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17386"/>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1.jpeg"/>
          <p:cNvPicPr>
            <a:picLocks noChangeAspect="1"/>
          </p:cNvPicPr>
          <p:nvPr/>
        </p:nvPicPr>
        <p:blipFill>
          <a:blip r:embed="rId3"/>
          <a:stretch>
            <a:fillRect/>
          </a:stretch>
        </p:blipFill>
        <p:spPr>
          <a:xfrm>
            <a:off x="1421229" y="712051"/>
            <a:ext cx="9349542" cy="5249450"/>
          </a:xfrm>
          <a:prstGeom prst="rect">
            <a:avLst/>
          </a:prstGeom>
        </p:spPr>
      </p:pic>
      <p:sp>
        <p:nvSpPr>
          <p:cNvPr id="7" name="TextBox 5">
            <a:extLst>
              <a:ext uri="{FF2B5EF4-FFF2-40B4-BE49-F238E27FC236}">
                <a16:creationId xmlns:a16="http://schemas.microsoft.com/office/drawing/2014/main" id="{086E7BE0-F1D4-5CC7-4078-EE6FD942059E}"/>
              </a:ext>
            </a:extLst>
          </p:cNvPr>
          <p:cNvSpPr txBox="1"/>
          <p:nvPr/>
        </p:nvSpPr>
        <p:spPr>
          <a:xfrm>
            <a:off x="-376442" y="-28945"/>
            <a:ext cx="7707431" cy="646331"/>
          </a:xfrm>
          <a:prstGeom prst="rect">
            <a:avLst/>
          </a:prstGeom>
          <a:noFill/>
        </p:spPr>
        <p:txBody>
          <a:bodyPr wrap="none">
            <a:spAutoFit/>
          </a:bodyPr>
          <a:lstStyle/>
          <a:p>
            <a:pPr lvl="1"/>
            <a:r>
              <a:rPr lang="zh-CN" altLang="en-US" sz="3600" b="1">
                <a:solidFill>
                  <a:schemeClr val="bg1"/>
                </a:solidFill>
                <a:latin typeface="微软雅黑" panose="020B0503020204020204" pitchFamily="34" charset="-122"/>
                <a:ea typeface="微软雅黑" panose="020B0503020204020204" pitchFamily="34" charset="-122"/>
              </a:rPr>
              <a:t>数据与研究方法：</a:t>
            </a:r>
            <a:r>
              <a:rPr lang="en-US" altLang="zh-CN" sz="3600" b="1">
                <a:solidFill>
                  <a:schemeClr val="bg1"/>
                </a:solidFill>
                <a:latin typeface="微软雅黑" panose="020B0503020204020204" pitchFamily="34" charset="-122"/>
                <a:ea typeface="微软雅黑" panose="020B0503020204020204" pitchFamily="34" charset="-122"/>
              </a:rPr>
              <a:t>CESM2-FEISTY</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517DC709-754A-69FA-8326-29EF316A14DE}"/>
              </a:ext>
            </a:extLst>
          </p:cNvPr>
          <p:cNvSpPr txBox="1"/>
          <p:nvPr/>
        </p:nvSpPr>
        <p:spPr>
          <a:xfrm>
            <a:off x="2534093" y="6056702"/>
            <a:ext cx="7123814" cy="369332"/>
          </a:xfrm>
          <a:prstGeom prst="rect">
            <a:avLst/>
          </a:prstGeom>
          <a:noFill/>
        </p:spPr>
        <p:txBody>
          <a:bodyPr wrap="square" rtlCol="0">
            <a:spAutoFit/>
          </a:bodyPr>
          <a:lstStyle/>
          <a:p>
            <a:r>
              <a:rPr lang="zh-CN" altLang="en-US">
                <a:latin typeface="微软雅黑" panose="020B0503020204020204" pitchFamily="34" charset="-122"/>
                <a:ea typeface="微软雅黑" panose="020B0503020204020204" pitchFamily="34" charset="-122"/>
              </a:rPr>
              <a:t>图</a:t>
            </a:r>
            <a:r>
              <a:rPr lang="en-US" altLang="zh-CN">
                <a:latin typeface="微软雅黑" panose="020B0503020204020204" pitchFamily="34" charset="-122"/>
                <a:ea typeface="微软雅黑" panose="020B0503020204020204" pitchFamily="34" charset="-122"/>
              </a:rPr>
              <a:t>2-2 CESM-FEISTY</a:t>
            </a:r>
            <a:r>
              <a:rPr lang="zh-CN" altLang="en-US">
                <a:latin typeface="微软雅黑" panose="020B0503020204020204" pitchFamily="34" charset="-122"/>
                <a:ea typeface="微软雅黑" panose="020B0503020204020204" pitchFamily="34" charset="-122"/>
              </a:rPr>
              <a:t>模型运行示意图（</a:t>
            </a:r>
            <a:r>
              <a:rPr lang="en-US" altLang="zh-CN">
                <a:latin typeface="微软雅黑" panose="020B0503020204020204" pitchFamily="34" charset="-122"/>
                <a:ea typeface="微软雅黑" panose="020B0503020204020204" pitchFamily="34" charset="-122"/>
              </a:rPr>
              <a:t>(Krumhardt et al., 2024)</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B5D97839-F1B1-C12B-A661-5CFB74836FB7}"/>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0</a:t>
            </a:r>
            <a:r>
              <a:rPr lang="en-US" altLang="zh-CN" sz="1200">
                <a:solidFill>
                  <a:srgbClr val="556370"/>
                </a:solidFill>
                <a:latin typeface="Microsoft YaHei"/>
              </a:rPr>
              <a:t>8</a:t>
            </a:r>
            <a:endParaRPr lang="en-US" altLang="zh-CN" sz="1200" b="0">
              <a:solidFill>
                <a:srgbClr val="556370"/>
              </a:solidFill>
              <a:latin typeface="Microsoft YaHe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917096-1B70-F678-1923-401DFF8256B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93CE43-E7A9-81DD-105A-185583838BA5}"/>
              </a:ext>
            </a:extLst>
          </p:cNvPr>
          <p:cNvSpPr/>
          <p:nvPr/>
        </p:nvSpPr>
        <p:spPr>
          <a:xfrm>
            <a:off x="0" y="0"/>
            <a:ext cx="12191695" cy="617386"/>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3BFFE2B-6D2A-A130-5A70-D8352B96C936}"/>
              </a:ext>
            </a:extLst>
          </p:cNvPr>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5">
            <a:extLst>
              <a:ext uri="{FF2B5EF4-FFF2-40B4-BE49-F238E27FC236}">
                <a16:creationId xmlns:a16="http://schemas.microsoft.com/office/drawing/2014/main" id="{E166C04C-4F41-F1C5-95E1-D2630BB72479}"/>
              </a:ext>
            </a:extLst>
          </p:cNvPr>
          <p:cNvSpPr txBox="1"/>
          <p:nvPr/>
        </p:nvSpPr>
        <p:spPr>
          <a:xfrm>
            <a:off x="-376442" y="-28945"/>
            <a:ext cx="7109639" cy="646331"/>
          </a:xfrm>
          <a:prstGeom prst="rect">
            <a:avLst/>
          </a:prstGeom>
          <a:noFill/>
        </p:spPr>
        <p:txBody>
          <a:bodyPr wrap="none">
            <a:spAutoFit/>
          </a:bodyPr>
          <a:lstStyle/>
          <a:p>
            <a:pPr lvl="1"/>
            <a:r>
              <a:rPr lang="zh-CN" altLang="en-US" sz="3600" b="1">
                <a:solidFill>
                  <a:schemeClr val="bg1"/>
                </a:solidFill>
                <a:latin typeface="微软雅黑" panose="020B0503020204020204" pitchFamily="34" charset="-122"/>
                <a:ea typeface="微软雅黑" panose="020B0503020204020204" pitchFamily="34" charset="-122"/>
              </a:rPr>
              <a:t>数据与研究方法：研究变量分组</a:t>
            </a:r>
          </a:p>
        </p:txBody>
      </p:sp>
      <p:sp>
        <p:nvSpPr>
          <p:cNvPr id="4" name="文本框 3">
            <a:extLst>
              <a:ext uri="{FF2B5EF4-FFF2-40B4-BE49-F238E27FC236}">
                <a16:creationId xmlns:a16="http://schemas.microsoft.com/office/drawing/2014/main" id="{BF7A5A04-254F-22A9-3D66-2F3279670D8F}"/>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09</a:t>
            </a:r>
          </a:p>
        </p:txBody>
      </p:sp>
      <p:graphicFrame>
        <p:nvGraphicFramePr>
          <p:cNvPr id="10" name="表格 9">
            <a:extLst>
              <a:ext uri="{FF2B5EF4-FFF2-40B4-BE49-F238E27FC236}">
                <a16:creationId xmlns:a16="http://schemas.microsoft.com/office/drawing/2014/main" id="{FC86F5B6-072C-3FB8-355F-0C17032E47DD}"/>
              </a:ext>
            </a:extLst>
          </p:cNvPr>
          <p:cNvGraphicFramePr>
            <a:graphicFrameLocks noGrp="1"/>
          </p:cNvGraphicFramePr>
          <p:nvPr>
            <p:extLst>
              <p:ext uri="{D42A27DB-BD31-4B8C-83A1-F6EECF244321}">
                <p14:modId xmlns:p14="http://schemas.microsoft.com/office/powerpoint/2010/main" val="4032119482"/>
              </p:ext>
            </p:extLst>
          </p:nvPr>
        </p:nvGraphicFramePr>
        <p:xfrm>
          <a:off x="636176" y="1155598"/>
          <a:ext cx="11165964" cy="3565257"/>
        </p:xfrm>
        <a:graphic>
          <a:graphicData uri="http://schemas.openxmlformats.org/drawingml/2006/table">
            <a:tbl>
              <a:tblPr firstRow="1" firstCol="1" bandRow="1">
                <a:tableStyleId>{17292A2E-F333-43FB-9621-5CBBE7FDCDCB}</a:tableStyleId>
              </a:tblPr>
              <a:tblGrid>
                <a:gridCol w="2617387">
                  <a:extLst>
                    <a:ext uri="{9D8B030D-6E8A-4147-A177-3AD203B41FA5}">
                      <a16:colId xmlns:a16="http://schemas.microsoft.com/office/drawing/2014/main" val="81160170"/>
                    </a:ext>
                  </a:extLst>
                </a:gridCol>
                <a:gridCol w="4827181">
                  <a:extLst>
                    <a:ext uri="{9D8B030D-6E8A-4147-A177-3AD203B41FA5}">
                      <a16:colId xmlns:a16="http://schemas.microsoft.com/office/drawing/2014/main" val="1991877739"/>
                    </a:ext>
                  </a:extLst>
                </a:gridCol>
                <a:gridCol w="3721396">
                  <a:extLst>
                    <a:ext uri="{9D8B030D-6E8A-4147-A177-3AD203B41FA5}">
                      <a16:colId xmlns:a16="http://schemas.microsoft.com/office/drawing/2014/main" val="618909036"/>
                    </a:ext>
                  </a:extLst>
                </a:gridCol>
              </a:tblGrid>
              <a:tr h="430445">
                <a:tc>
                  <a:txBody>
                    <a:bodyPr/>
                    <a:lstStyle/>
                    <a:p>
                      <a:pPr algn="ctr">
                        <a:lnSpc>
                          <a:spcPct val="120000"/>
                        </a:lnSpc>
                        <a:spcAft>
                          <a:spcPts val="1000"/>
                        </a:spcAft>
                        <a:buNone/>
                      </a:pPr>
                      <a:r>
                        <a:rPr lang="en-US" sz="1800">
                          <a:effectLst/>
                          <a:latin typeface="微软雅黑" panose="020B0503020204020204" pitchFamily="34" charset="-122"/>
                          <a:ea typeface="微软雅黑" panose="020B0503020204020204" pitchFamily="34" charset="-122"/>
                        </a:rPr>
                        <a:t>变量类别</a:t>
                      </a:r>
                      <a:endParaRPr lang="zh-CN" sz="18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9050" cap="flat" cmpd="sng" algn="ctr">
                      <a:noFill/>
                      <a:prstDash val="solid"/>
                      <a:round/>
                      <a:headEnd type="none" w="med" len="med"/>
                      <a:tailEnd type="none" w="med" len="med"/>
                    </a:lnL>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20000"/>
                        </a:lnSpc>
                        <a:spcAft>
                          <a:spcPts val="1000"/>
                        </a:spcAft>
                        <a:buNone/>
                      </a:pPr>
                      <a:r>
                        <a:rPr lang="en-US" sz="1800">
                          <a:effectLst/>
                          <a:latin typeface="微软雅黑" panose="020B0503020204020204" pitchFamily="34" charset="-122"/>
                          <a:ea typeface="微软雅黑" panose="020B0503020204020204" pitchFamily="34" charset="-122"/>
                        </a:rPr>
                        <a:t>代表变量</a:t>
                      </a:r>
                      <a:endParaRPr lang="zh-CN" sz="18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lnSpc>
                          <a:spcPct val="120000"/>
                        </a:lnSpc>
                        <a:spcAft>
                          <a:spcPts val="1000"/>
                        </a:spcAft>
                        <a:buNone/>
                      </a:pPr>
                      <a:r>
                        <a:rPr lang="en-US" sz="1800">
                          <a:effectLst/>
                          <a:latin typeface="微软雅黑" panose="020B0503020204020204" pitchFamily="34" charset="-122"/>
                          <a:ea typeface="微软雅黑" panose="020B0503020204020204" pitchFamily="34" charset="-122"/>
                        </a:rPr>
                        <a:t>主要含义</a:t>
                      </a:r>
                      <a:endParaRPr lang="zh-CN" sz="18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487099990"/>
                  </a:ext>
                </a:extLst>
              </a:tr>
              <a:tr h="886642">
                <a:tc>
                  <a:txBody>
                    <a:bodyPr/>
                    <a:lstStyle/>
                    <a:p>
                      <a:pPr algn="ctr">
                        <a:lnSpc>
                          <a:spcPct val="150000"/>
                        </a:lnSpc>
                        <a:spcAft>
                          <a:spcPts val="1000"/>
                        </a:spcAft>
                        <a:buNone/>
                      </a:pPr>
                      <a:r>
                        <a:rPr lang="en-US" sz="2000">
                          <a:effectLst/>
                          <a:latin typeface="微软雅黑" panose="020B0503020204020204" pitchFamily="34" charset="-122"/>
                          <a:ea typeface="微软雅黑" panose="020B0503020204020204" pitchFamily="34" charset="-122"/>
                        </a:rPr>
                        <a:t>环境变量</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lnSpc>
                          <a:spcPct val="150000"/>
                        </a:lnSpc>
                        <a:spcAft>
                          <a:spcPts val="1000"/>
                        </a:spcAft>
                        <a:buNone/>
                      </a:pPr>
                      <a:r>
                        <a:rPr lang="zh-CN" altLang="en-US" sz="1800">
                          <a:effectLst/>
                          <a:latin typeface="微软雅黑" panose="020B0503020204020204" pitchFamily="34" charset="-122"/>
                          <a:ea typeface="微软雅黑" panose="020B0503020204020204" pitchFamily="34" charset="-122"/>
                        </a:rPr>
                        <a:t>海水</a:t>
                      </a:r>
                      <a:r>
                        <a:rPr lang="zh-CN" sz="1800">
                          <a:effectLst/>
                          <a:latin typeface="微软雅黑" panose="020B0503020204020204" pitchFamily="34" charset="-122"/>
                          <a:ea typeface="微软雅黑" panose="020B0503020204020204" pitchFamily="34" charset="-122"/>
                        </a:rPr>
                        <a:t>温度、硝酸盐浓度、铁浓度、硅酸盐浓度</a:t>
                      </a:r>
                      <a:endParaRPr lang="zh-CN" sz="18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lnSpc>
                          <a:spcPct val="150000"/>
                        </a:lnSpc>
                        <a:spcAft>
                          <a:spcPts val="1000"/>
                        </a:spcAft>
                        <a:buNone/>
                      </a:pPr>
                      <a:r>
                        <a:rPr lang="zh-CN" sz="1800">
                          <a:effectLst/>
                          <a:latin typeface="微软雅黑" panose="020B0503020204020204" pitchFamily="34" charset="-122"/>
                          <a:ea typeface="微软雅黑" panose="020B0503020204020204" pitchFamily="34" charset="-122"/>
                        </a:rPr>
                        <a:t>反映海洋生态系统的物理化学背景</a:t>
                      </a:r>
                      <a:endParaRPr lang="zh-CN" sz="18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val="2711772276"/>
                  </a:ext>
                </a:extLst>
              </a:tr>
              <a:tr h="1361528">
                <a:tc>
                  <a:txBody>
                    <a:bodyPr/>
                    <a:lstStyle/>
                    <a:p>
                      <a:pPr algn="ctr">
                        <a:lnSpc>
                          <a:spcPct val="150000"/>
                        </a:lnSpc>
                        <a:spcAft>
                          <a:spcPts val="1000"/>
                        </a:spcAft>
                        <a:buNone/>
                      </a:pPr>
                      <a:r>
                        <a:rPr lang="en-US" sz="2000">
                          <a:effectLst/>
                          <a:latin typeface="微软雅黑" panose="020B0503020204020204" pitchFamily="34" charset="-122"/>
                          <a:ea typeface="微软雅黑" panose="020B0503020204020204" pitchFamily="34" charset="-122"/>
                        </a:rPr>
                        <a:t>低营养级变量</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lnSpc>
                          <a:spcPct val="150000"/>
                        </a:lnSpc>
                        <a:spcAft>
                          <a:spcPts val="1000"/>
                        </a:spcAft>
                        <a:buNone/>
                      </a:pPr>
                      <a:r>
                        <a:rPr lang="zh-CN" sz="1800">
                          <a:effectLst/>
                          <a:latin typeface="微软雅黑" panose="020B0503020204020204" pitchFamily="34" charset="-122"/>
                          <a:ea typeface="微软雅黑" panose="020B0503020204020204" pitchFamily="34" charset="-122"/>
                        </a:rPr>
                        <a:t>净初级生产力、硅藻、小型浮游植物和中型浮游动物生物量、颗粒有机碳通量</a:t>
                      </a:r>
                      <a:endParaRPr lang="zh-CN" sz="18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lgn="ctr">
                        <a:lnSpc>
                          <a:spcPct val="150000"/>
                        </a:lnSpc>
                        <a:spcAft>
                          <a:spcPts val="1000"/>
                        </a:spcAft>
                        <a:buNone/>
                      </a:pPr>
                      <a:r>
                        <a:rPr lang="zh-CN" sz="1800">
                          <a:effectLst/>
                          <a:latin typeface="微软雅黑" panose="020B0503020204020204" pitchFamily="34" charset="-122"/>
                          <a:ea typeface="微软雅黑" panose="020B0503020204020204" pitchFamily="34" charset="-122"/>
                        </a:rPr>
                        <a:t>反映初级生产和食物网底部过程</a:t>
                      </a:r>
                      <a:endParaRPr lang="zh-CN" sz="18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val="1497907960"/>
                  </a:ext>
                </a:extLst>
              </a:tr>
              <a:tr h="886642">
                <a:tc>
                  <a:txBody>
                    <a:bodyPr/>
                    <a:lstStyle/>
                    <a:p>
                      <a:pPr algn="ctr">
                        <a:lnSpc>
                          <a:spcPct val="120000"/>
                        </a:lnSpc>
                        <a:spcAft>
                          <a:spcPts val="1000"/>
                        </a:spcAft>
                        <a:buNone/>
                      </a:pPr>
                      <a:r>
                        <a:rPr lang="en-US" sz="2000">
                          <a:effectLst/>
                          <a:latin typeface="微软雅黑" panose="020B0503020204020204" pitchFamily="34" charset="-122"/>
                          <a:ea typeface="微软雅黑" panose="020B0503020204020204" pitchFamily="34" charset="-122"/>
                        </a:rPr>
                        <a:t>鱼类功能群变量</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9050" cap="flat" cmpd="sng" algn="ctr">
                      <a:noFill/>
                      <a:prstDash val="solid"/>
                      <a:round/>
                      <a:headEnd type="none" w="med" len="med"/>
                      <a:tailEnd type="none" w="med" len="med"/>
                    </a:lnL>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zh-CN" sz="1800">
                          <a:effectLst/>
                          <a:latin typeface="微软雅黑" panose="020B0503020204020204" pitchFamily="34" charset="-122"/>
                          <a:ea typeface="微软雅黑" panose="020B0503020204020204" pitchFamily="34" charset="-122"/>
                        </a:rPr>
                        <a:t>浮泳鱼类生物量、底栖鱼类生物量和饵料鱼类生物量</a:t>
                      </a:r>
                      <a:endParaRPr lang="zh-CN" sz="18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50000"/>
                        </a:lnSpc>
                        <a:spcAft>
                          <a:spcPts val="1000"/>
                        </a:spcAft>
                        <a:buNone/>
                      </a:pPr>
                      <a:r>
                        <a:rPr lang="zh-CN" sz="1800">
                          <a:effectLst/>
                          <a:latin typeface="微软雅黑" panose="020B0503020204020204" pitchFamily="34" charset="-122"/>
                          <a:ea typeface="微软雅黑" panose="020B0503020204020204" pitchFamily="34" charset="-122"/>
                        </a:rPr>
                        <a:t>反映高营养级潜在生物量变化</a:t>
                      </a:r>
                      <a:endParaRPr lang="zh-CN" sz="18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8760639"/>
                  </a:ext>
                </a:extLst>
              </a:tr>
            </a:tbl>
          </a:graphicData>
        </a:graphic>
      </p:graphicFrame>
      <p:sp>
        <p:nvSpPr>
          <p:cNvPr id="14" name="文本框 13">
            <a:extLst>
              <a:ext uri="{FF2B5EF4-FFF2-40B4-BE49-F238E27FC236}">
                <a16:creationId xmlns:a16="http://schemas.microsoft.com/office/drawing/2014/main" id="{AAC5A608-E3C7-5BAD-044A-907588F8B3F6}"/>
              </a:ext>
            </a:extLst>
          </p:cNvPr>
          <p:cNvSpPr txBox="1"/>
          <p:nvPr/>
        </p:nvSpPr>
        <p:spPr>
          <a:xfrm>
            <a:off x="4728443" y="707842"/>
            <a:ext cx="2735114" cy="338554"/>
          </a:xfrm>
          <a:prstGeom prst="rect">
            <a:avLst/>
          </a:prstGeom>
          <a:noFill/>
        </p:spPr>
        <p:txBody>
          <a:bodyPr wrap="square">
            <a:spAutoFit/>
          </a:bodyPr>
          <a:lstStyle/>
          <a:p>
            <a:r>
              <a:rPr lang="zh-CN" altLang="en-US" sz="1600">
                <a:latin typeface="微软雅黑" panose="020B0503020204020204" pitchFamily="34" charset="-122"/>
                <a:ea typeface="微软雅黑" panose="020B0503020204020204" pitchFamily="34" charset="-122"/>
              </a:rPr>
              <a:t>表 </a:t>
            </a:r>
            <a:r>
              <a:rPr lang="en-US" altLang="zh-CN" sz="1600">
                <a:latin typeface="微软雅黑" panose="020B0503020204020204" pitchFamily="34" charset="-122"/>
                <a:ea typeface="微软雅黑" panose="020B0503020204020204" pitchFamily="34" charset="-122"/>
              </a:rPr>
              <a:t>2-2 </a:t>
            </a:r>
            <a:r>
              <a:rPr lang="zh-CN" altLang="en-US" sz="1600">
                <a:latin typeface="微软雅黑" panose="020B0503020204020204" pitchFamily="34" charset="-122"/>
                <a:ea typeface="微软雅黑" panose="020B0503020204020204" pitchFamily="34" charset="-122"/>
              </a:rPr>
              <a:t>本研究主要变量分组</a:t>
            </a:r>
          </a:p>
        </p:txBody>
      </p:sp>
    </p:spTree>
    <p:extLst>
      <p:ext uri="{BB962C8B-B14F-4D97-AF65-F5344CB8AC3E}">
        <p14:creationId xmlns:p14="http://schemas.microsoft.com/office/powerpoint/2010/main" val="2719207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1"/>
            <a:ext cx="12191695" cy="662939"/>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8869" y="-18522"/>
            <a:ext cx="7879080" cy="646331"/>
          </a:xfrm>
          <a:prstGeom prst="rect">
            <a:avLst/>
          </a:prstGeom>
          <a:noFill/>
        </p:spPr>
        <p:txBody>
          <a:bodyPr wrap="none">
            <a:spAutoFit/>
          </a:bodyPr>
          <a:lstStyle/>
          <a:p>
            <a:r>
              <a:rPr lang="zh-CN" altLang="en-US" sz="3600" b="1">
                <a:solidFill>
                  <a:schemeClr val="bg1"/>
                </a:solidFill>
                <a:latin typeface="微软雅黑" panose="020B0503020204020204" pitchFamily="34" charset="-122"/>
                <a:ea typeface="微软雅黑" panose="020B0503020204020204" pitchFamily="34" charset="-122"/>
              </a:rPr>
              <a:t>数据与研究</a:t>
            </a:r>
            <a:r>
              <a:rPr sz="3600" b="1">
                <a:solidFill>
                  <a:schemeClr val="bg1"/>
                </a:solidFill>
                <a:latin typeface="微软雅黑" panose="020B0503020204020204" pitchFamily="34" charset="-122"/>
                <a:ea typeface="微软雅黑" panose="020B0503020204020204" pitchFamily="34" charset="-122"/>
              </a:rPr>
              <a:t>方法：出现时间与信噪比</a:t>
            </a:r>
            <a:r>
              <a:rPr sz="2400" b="1">
                <a:solidFill>
                  <a:srgbClr val="00538A"/>
                </a:solidFill>
                <a:latin typeface="Microsoft YaHei"/>
              </a:rPr>
              <a:t>）</a:t>
            </a:r>
          </a:p>
        </p:txBody>
      </p:sp>
      <p:pic>
        <p:nvPicPr>
          <p:cNvPr id="8" name="Picture 7" descr="image2.jpg"/>
          <p:cNvPicPr>
            <a:picLocks noChangeAspect="1"/>
          </p:cNvPicPr>
          <p:nvPr/>
        </p:nvPicPr>
        <p:blipFill>
          <a:blip r:embed="rId3"/>
          <a:stretch>
            <a:fillRect/>
          </a:stretch>
        </p:blipFill>
        <p:spPr>
          <a:xfrm>
            <a:off x="4928270" y="696237"/>
            <a:ext cx="7263425" cy="3281359"/>
          </a:xfrm>
          <a:prstGeom prst="rect">
            <a:avLst/>
          </a:prstGeom>
        </p:spPr>
      </p:pic>
      <p:sp>
        <p:nvSpPr>
          <p:cNvPr id="7" name="文本框 6">
            <a:extLst>
              <a:ext uri="{FF2B5EF4-FFF2-40B4-BE49-F238E27FC236}">
                <a16:creationId xmlns:a16="http://schemas.microsoft.com/office/drawing/2014/main" id="{3E4EABFE-10EC-7578-1B50-15E096FF4631}"/>
              </a:ext>
            </a:extLst>
          </p:cNvPr>
          <p:cNvSpPr txBox="1"/>
          <p:nvPr/>
        </p:nvSpPr>
        <p:spPr>
          <a:xfrm>
            <a:off x="0" y="699514"/>
            <a:ext cx="4548188" cy="4031873"/>
          </a:xfrm>
          <a:prstGeom prst="rect">
            <a:avLst/>
          </a:prstGeom>
          <a:noFill/>
        </p:spPr>
        <p:txBody>
          <a:bodyPr wrap="square" rtlCol="0">
            <a:spAutoFit/>
          </a:bodyPr>
          <a:lstStyle/>
          <a:p>
            <a:pPr algn="ctr"/>
            <a:r>
              <a:rPr lang="zh-CN" altLang="en-US" sz="2400">
                <a:solidFill>
                  <a:schemeClr val="accent5"/>
                </a:solidFill>
                <a:latin typeface="微软雅黑" panose="020B0503020204020204" pitchFamily="34" charset="-122"/>
                <a:ea typeface="微软雅黑" panose="020B0503020204020204" pitchFamily="34" charset="-122"/>
              </a:rPr>
              <a:t>出现时间</a:t>
            </a:r>
            <a:endParaRPr lang="en-US" altLang="zh-CN" sz="2400">
              <a:solidFill>
                <a:schemeClr val="accent5"/>
              </a:solidFill>
              <a:latin typeface="微软雅黑" panose="020B0503020204020204" pitchFamily="34" charset="-122"/>
              <a:ea typeface="微软雅黑" panose="020B0503020204020204" pitchFamily="34" charset="-122"/>
            </a:endParaRPr>
          </a:p>
          <a:p>
            <a:pPr algn="ctr"/>
            <a:r>
              <a:rPr lang="zh-CN" altLang="en-US" sz="2400">
                <a:solidFill>
                  <a:schemeClr val="accent5"/>
                </a:solidFill>
                <a:latin typeface="微软雅黑" panose="020B0503020204020204" pitchFamily="34" charset="-122"/>
                <a:ea typeface="微软雅黑" panose="020B0503020204020204" pitchFamily="34" charset="-122"/>
              </a:rPr>
              <a:t>（</a:t>
            </a:r>
            <a:r>
              <a:rPr lang="en-US" altLang="zh-CN" sz="2400">
                <a:solidFill>
                  <a:schemeClr val="accent5"/>
                </a:solidFill>
                <a:latin typeface="微软雅黑" panose="020B0503020204020204" pitchFamily="34" charset="-122"/>
                <a:ea typeface="微软雅黑" panose="020B0503020204020204" pitchFamily="34" charset="-122"/>
              </a:rPr>
              <a:t>Time of Emergence,ToE</a:t>
            </a:r>
            <a:r>
              <a:rPr lang="zh-CN" altLang="en-US" sz="2800">
                <a:solidFill>
                  <a:schemeClr val="accent5"/>
                </a:solidFill>
                <a:latin typeface="微软雅黑" panose="020B0503020204020204" pitchFamily="34" charset="-122"/>
                <a:ea typeface="微软雅黑" panose="020B0503020204020204" pitchFamily="34" charset="-122"/>
              </a:rPr>
              <a:t>）</a:t>
            </a:r>
            <a:endParaRPr lang="en-US" altLang="zh-CN" sz="2800">
              <a:solidFill>
                <a:schemeClr val="accent5"/>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选取历史阶段中连续</a:t>
            </a:r>
            <a:r>
              <a:rPr lang="en-US" altLang="zh-CN" sz="1600">
                <a:latin typeface="微软雅黑" panose="020B0503020204020204" pitchFamily="34" charset="-122"/>
                <a:ea typeface="微软雅黑" panose="020B0503020204020204" pitchFamily="34" charset="-122"/>
              </a:rPr>
              <a:t>30</a:t>
            </a:r>
            <a:r>
              <a:rPr lang="zh-CN" altLang="en-US" sz="1600">
                <a:latin typeface="微软雅黑" panose="020B0503020204020204" pitchFamily="34" charset="-122"/>
                <a:ea typeface="微软雅黑" panose="020B0503020204020204" pitchFamily="34" charset="-122"/>
              </a:rPr>
              <a:t>年作为基准期（</a:t>
            </a:r>
            <a:r>
              <a:rPr lang="en-US" altLang="zh-CN" sz="1600">
                <a:latin typeface="微软雅黑" panose="020B0503020204020204" pitchFamily="34" charset="-122"/>
                <a:ea typeface="微软雅黑" panose="020B0503020204020204" pitchFamily="34" charset="-122"/>
              </a:rPr>
              <a:t>1920-1949</a:t>
            </a:r>
            <a:r>
              <a:rPr lang="zh-CN" altLang="en-US" sz="1600">
                <a:latin typeface="微软雅黑" panose="020B0503020204020204" pitchFamily="34" charset="-122"/>
                <a:ea typeface="微软雅黑" panose="020B0503020204020204" pitchFamily="34" charset="-122"/>
              </a:rPr>
              <a:t>年），利用该时期所有集合成员的数据计算平均值 </a:t>
            </a:r>
            <a:r>
              <a:rPr lang="en-US" altLang="zh-CN" sz="1600">
                <a:latin typeface="微软雅黑" panose="020B0503020204020204" pitchFamily="34" charset="-122"/>
                <a:ea typeface="微软雅黑" panose="020B0503020204020204" pitchFamily="34" charset="-122"/>
              </a:rPr>
              <a:t>μ</a:t>
            </a:r>
            <a:r>
              <a:rPr lang="en-US" altLang="zh-CN" sz="1600" baseline="-25000">
                <a:latin typeface="微软雅黑" panose="020B0503020204020204" pitchFamily="34" charset="-122"/>
                <a:ea typeface="微软雅黑" panose="020B0503020204020204" pitchFamily="34" charset="-122"/>
              </a:rPr>
              <a:t>hist </a:t>
            </a:r>
            <a:r>
              <a:rPr lang="zh-CN" altLang="en-US" sz="1600">
                <a:latin typeface="微软雅黑" panose="020B0503020204020204" pitchFamily="34" charset="-122"/>
                <a:ea typeface="微软雅黑" panose="020B0503020204020204" pitchFamily="34" charset="-122"/>
              </a:rPr>
              <a:t>以及标准差 </a:t>
            </a:r>
            <a:r>
              <a:rPr lang="en-US" altLang="zh-CN" sz="1600">
                <a:latin typeface="微软雅黑" panose="020B0503020204020204" pitchFamily="34" charset="-122"/>
                <a:ea typeface="微软雅黑" panose="020B0503020204020204" pitchFamily="34" charset="-122"/>
              </a:rPr>
              <a:t>σ</a:t>
            </a:r>
            <a:r>
              <a:rPr lang="en-US" altLang="zh-CN" sz="1600" baseline="-25000">
                <a:latin typeface="微软雅黑" panose="020B0503020204020204" pitchFamily="34" charset="-122"/>
                <a:ea typeface="微软雅黑" panose="020B0503020204020204" pitchFamily="34" charset="-122"/>
              </a:rPr>
              <a:t>hist</a:t>
            </a:r>
            <a:r>
              <a:rPr lang="zh-CN" altLang="en-US" sz="1600">
                <a:latin typeface="微软雅黑" panose="020B0503020204020204" pitchFamily="34" charset="-122"/>
                <a:ea typeface="微软雅黑" panose="020B0503020204020204" pitchFamily="34" charset="-122"/>
              </a:rPr>
              <a:t>，</a:t>
            </a:r>
            <a:r>
              <a:rPr lang="zh-CN" altLang="zh-CN" sz="1600">
                <a:latin typeface="微软雅黑" panose="020B0503020204020204" pitchFamily="34" charset="-122"/>
                <a:ea typeface="微软雅黑" panose="020B0503020204020204" pitchFamily="34" charset="-122"/>
              </a:rPr>
              <a:t>每一年集合平均值</a:t>
            </a:r>
            <a:r>
              <a:rPr lang="zh-CN" altLang="en-US" sz="1600">
                <a:latin typeface="微软雅黑" panose="020B0503020204020204" pitchFamily="34" charset="-122"/>
                <a:ea typeface="微软雅黑" panose="020B0503020204020204" pitchFamily="34" charset="-122"/>
              </a:rPr>
              <a:t>记为 </a:t>
            </a:r>
            <a:r>
              <a:rPr lang="en-US" altLang="zh-CN" sz="1600">
                <a:latin typeface="微软雅黑" panose="020B0503020204020204" pitchFamily="34" charset="-122"/>
                <a:ea typeface="微软雅黑" panose="020B0503020204020204" pitchFamily="34" charset="-122"/>
              </a:rPr>
              <a:t>Y（t）</a:t>
            </a:r>
          </a:p>
          <a:p>
            <a:pPr marL="285750" indent="-285750">
              <a:lnSpc>
                <a:spcPct val="150000"/>
              </a:lnSpc>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rPr>
              <a:t>自然变率范围设为 </a:t>
            </a:r>
            <a:r>
              <a:rPr lang="en-US" altLang="zh-CN" sz="1600">
                <a:latin typeface="微软雅黑" panose="020B0503020204020204" pitchFamily="34" charset="-122"/>
                <a:ea typeface="微软雅黑" panose="020B0503020204020204" pitchFamily="34" charset="-122"/>
              </a:rPr>
              <a:t>μ</a:t>
            </a:r>
            <a:r>
              <a:rPr lang="en-US" altLang="zh-CN" sz="1600" baseline="-25000">
                <a:latin typeface="微软雅黑" panose="020B0503020204020204" pitchFamily="34" charset="-122"/>
                <a:ea typeface="微软雅黑" panose="020B0503020204020204" pitchFamily="34" charset="-122"/>
              </a:rPr>
              <a:t>hist</a:t>
            </a:r>
            <a:r>
              <a:rPr lang="en-US" altLang="zh-CN" sz="1600">
                <a:latin typeface="微软雅黑" panose="020B0503020204020204" pitchFamily="34" charset="-122"/>
                <a:ea typeface="微软雅黑" panose="020B0503020204020204" pitchFamily="34" charset="-122"/>
              </a:rPr>
              <a:t> ± 2σ</a:t>
            </a:r>
            <a:r>
              <a:rPr lang="en-US" altLang="zh-CN" sz="1600" baseline="-25000">
                <a:latin typeface="微软雅黑" panose="020B0503020204020204" pitchFamily="34" charset="-122"/>
                <a:ea typeface="微软雅黑" panose="020B0503020204020204" pitchFamily="34" charset="-122"/>
              </a:rPr>
              <a:t>hist</a:t>
            </a:r>
            <a:endParaRPr lang="en-US" altLang="zh-CN" sz="1600">
              <a:latin typeface="微软雅黑" panose="020B0503020204020204" pitchFamily="34" charset="-122"/>
              <a:ea typeface="微软雅黑" panose="020B0503020204020204" pitchFamily="34" charset="-122"/>
            </a:endParaRPr>
          </a:p>
          <a:p>
            <a:pPr algn="ctr"/>
            <a:r>
              <a:rPr lang="en-US" altLang="zh-CN" sz="1600">
                <a:latin typeface="微软雅黑" panose="020B0503020204020204" pitchFamily="34" charset="-122"/>
                <a:ea typeface="微软雅黑" panose="020B0503020204020204" pitchFamily="34" charset="-122"/>
              </a:rPr>
              <a:t>   ToE</a:t>
            </a:r>
            <a:r>
              <a:rPr lang="en-US" altLang="zh-CN" sz="1600" baseline="-25000">
                <a:latin typeface="微软雅黑" panose="020B0503020204020204" pitchFamily="34" charset="-122"/>
                <a:ea typeface="微软雅黑" panose="020B0503020204020204" pitchFamily="34" charset="-122"/>
              </a:rPr>
              <a:t>up</a:t>
            </a:r>
            <a:r>
              <a:rPr lang="en-US" altLang="zh-CN" sz="1600">
                <a:latin typeface="微软雅黑" panose="020B0503020204020204" pitchFamily="34" charset="-122"/>
                <a:ea typeface="微软雅黑" panose="020B0503020204020204" pitchFamily="34" charset="-122"/>
              </a:rPr>
              <a:t> = </a:t>
            </a:r>
            <a:r>
              <a:rPr lang="zh-CN" altLang="zh-CN" sz="1600">
                <a:latin typeface="微软雅黑" panose="020B0503020204020204" pitchFamily="34" charset="-122"/>
                <a:ea typeface="微软雅黑" panose="020B0503020204020204" pitchFamily="34" charset="-122"/>
              </a:rPr>
              <a:t>第一年</a:t>
            </a:r>
            <a:r>
              <a:rPr lang="en-US" altLang="zh-CN" sz="1600">
                <a:latin typeface="微软雅黑" panose="020B0503020204020204" pitchFamily="34" charset="-122"/>
                <a:ea typeface="微软雅黑" panose="020B0503020204020204" pitchFamily="34" charset="-122"/>
              </a:rPr>
              <a:t> [Y（t）&gt; μ</a:t>
            </a:r>
            <a:r>
              <a:rPr lang="en-US" altLang="zh-CN" sz="1600" baseline="-25000">
                <a:latin typeface="微软雅黑" panose="020B0503020204020204" pitchFamily="34" charset="-122"/>
                <a:ea typeface="微软雅黑" panose="020B0503020204020204" pitchFamily="34" charset="-122"/>
              </a:rPr>
              <a:t>hist </a:t>
            </a:r>
            <a:r>
              <a:rPr lang="en-US" altLang="zh-CN" sz="1600">
                <a:latin typeface="微软雅黑" panose="020B0503020204020204" pitchFamily="34" charset="-122"/>
                <a:ea typeface="微软雅黑" panose="020B0503020204020204" pitchFamily="34" charset="-122"/>
              </a:rPr>
              <a:t>+ 2σ</a:t>
            </a:r>
            <a:r>
              <a:rPr lang="en-US" altLang="zh-CN" sz="1600" baseline="-25000">
                <a:latin typeface="微软雅黑" panose="020B0503020204020204" pitchFamily="34" charset="-122"/>
                <a:ea typeface="微软雅黑" panose="020B0503020204020204" pitchFamily="34" charset="-122"/>
              </a:rPr>
              <a:t>hist</a:t>
            </a:r>
            <a:r>
              <a:rPr lang="en-US" altLang="zh-CN" sz="1600">
                <a:latin typeface="微软雅黑" panose="020B0503020204020204" pitchFamily="34" charset="-122"/>
                <a:ea typeface="微软雅黑" panose="020B0503020204020204" pitchFamily="34" charset="-122"/>
              </a:rPr>
              <a:t>]       (1)</a:t>
            </a:r>
          </a:p>
          <a:p>
            <a:pPr algn="ctr"/>
            <a:r>
              <a:rPr lang="en-US" altLang="zh-CN" sz="1600">
                <a:latin typeface="微软雅黑" panose="020B0503020204020204" pitchFamily="34" charset="-122"/>
                <a:ea typeface="微软雅黑" panose="020B0503020204020204" pitchFamily="34" charset="-122"/>
              </a:rPr>
              <a:t>	  </a:t>
            </a:r>
          </a:p>
          <a:p>
            <a:pPr algn="ctr"/>
            <a:r>
              <a:rPr lang="en-US" altLang="zh-CN" sz="1600">
                <a:latin typeface="微软雅黑" panose="020B0503020204020204" pitchFamily="34" charset="-122"/>
                <a:ea typeface="微软雅黑" panose="020B0503020204020204" pitchFamily="34" charset="-122"/>
              </a:rPr>
              <a:t>   ToE</a:t>
            </a:r>
            <a:r>
              <a:rPr lang="en-US" altLang="zh-CN" sz="1600" baseline="-25000">
                <a:latin typeface="微软雅黑" panose="020B0503020204020204" pitchFamily="34" charset="-122"/>
                <a:ea typeface="微软雅黑" panose="020B0503020204020204" pitchFamily="34" charset="-122"/>
              </a:rPr>
              <a:t>down</a:t>
            </a:r>
            <a:r>
              <a:rPr lang="en-US" altLang="zh-CN" sz="1600">
                <a:latin typeface="微软雅黑" panose="020B0503020204020204" pitchFamily="34" charset="-122"/>
                <a:ea typeface="微软雅黑" panose="020B0503020204020204" pitchFamily="34" charset="-122"/>
              </a:rPr>
              <a:t> = 第一年 [Y（t）&lt; μ</a:t>
            </a:r>
            <a:r>
              <a:rPr lang="en-US" altLang="zh-CN" sz="1600" baseline="-25000">
                <a:latin typeface="微软雅黑" panose="020B0503020204020204" pitchFamily="34" charset="-122"/>
                <a:ea typeface="微软雅黑" panose="020B0503020204020204" pitchFamily="34" charset="-122"/>
              </a:rPr>
              <a:t>hist</a:t>
            </a:r>
            <a:r>
              <a:rPr lang="en-US" altLang="zh-CN" sz="1600">
                <a:latin typeface="微软雅黑" panose="020B0503020204020204" pitchFamily="34" charset="-122"/>
                <a:ea typeface="微软雅黑" panose="020B0503020204020204" pitchFamily="34" charset="-122"/>
              </a:rPr>
              <a:t> - 2σ</a:t>
            </a:r>
            <a:r>
              <a:rPr lang="en-US" altLang="zh-CN" sz="1600" baseline="-25000">
                <a:latin typeface="微软雅黑" panose="020B0503020204020204" pitchFamily="34" charset="-122"/>
                <a:ea typeface="微软雅黑" panose="020B0503020204020204" pitchFamily="34" charset="-122"/>
              </a:rPr>
              <a:t>hist</a:t>
            </a:r>
            <a:r>
              <a:rPr lang="en-US" altLang="zh-CN" sz="1600">
                <a:latin typeface="微软雅黑" panose="020B0503020204020204" pitchFamily="34" charset="-122"/>
                <a:ea typeface="微软雅黑" panose="020B0503020204020204" pitchFamily="34" charset="-122"/>
              </a:rPr>
              <a:t>]	(2)</a:t>
            </a:r>
            <a:endParaRPr lang="zh-CN" altLang="zh-CN" sz="160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en-US" altLang="zh-CN" sz="1600" baseline="-25000">
              <a:latin typeface="微软雅黑" panose="020B0503020204020204" pitchFamily="34" charset="-122"/>
              <a:ea typeface="微软雅黑" panose="020B0503020204020204" pitchFamily="34" charset="-122"/>
            </a:endParaRPr>
          </a:p>
          <a:p>
            <a:endParaRPr lang="en-US" altLang="zh-CN" sz="160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A5B58ACB-DBA8-FE16-3EC1-662B7179D15C}"/>
              </a:ext>
            </a:extLst>
          </p:cNvPr>
          <p:cNvSpPr txBox="1"/>
          <p:nvPr/>
        </p:nvSpPr>
        <p:spPr>
          <a:xfrm>
            <a:off x="4657058" y="3966030"/>
            <a:ext cx="7428724" cy="738664"/>
          </a:xfrm>
          <a:prstGeom prst="rect">
            <a:avLst/>
          </a:prstGeom>
          <a:noFill/>
        </p:spPr>
        <p:txBody>
          <a:bodyPr wrap="square">
            <a:spAutoFit/>
          </a:bodyPr>
          <a:lstStyle/>
          <a:p>
            <a:pPr algn="ctr"/>
            <a:r>
              <a:rPr lang="zh-CN" altLang="zh-CN" sz="1400">
                <a:effectLst/>
                <a:latin typeface="微软雅黑" panose="020B0503020204020204" pitchFamily="34" charset="-122"/>
                <a:ea typeface="微软雅黑" panose="020B0503020204020204" pitchFamily="34" charset="-122"/>
                <a:cs typeface="Times New Roman" panose="02020603050405020304" pitchFamily="18" charset="0"/>
              </a:rPr>
              <a:t>图</a:t>
            </a:r>
            <a:r>
              <a:rPr lang="zh-CN" altLang="zh-CN" sz="1400">
                <a:effectLst/>
                <a:latin typeface="微软雅黑" panose="020B0503020204020204" pitchFamily="34" charset="-122"/>
                <a:ea typeface="微软雅黑" panose="020B0503020204020204" pitchFamily="34" charset="-122"/>
              </a:rPr>
              <a:t> </a:t>
            </a:r>
            <a:r>
              <a:rPr lang="en-US" altLang="zh-CN" sz="1400">
                <a:effectLst/>
                <a:latin typeface="微软雅黑" panose="020B0503020204020204" pitchFamily="34" charset="-122"/>
                <a:ea typeface="微软雅黑" panose="020B0503020204020204" pitchFamily="34" charset="-122"/>
              </a:rPr>
              <a:t>2-2 </a:t>
            </a:r>
            <a:r>
              <a:rPr lang="zh-CN" altLang="zh-CN" sz="1400">
                <a:effectLst/>
                <a:latin typeface="微软雅黑" panose="020B0503020204020204" pitchFamily="34" charset="-122"/>
                <a:ea typeface="微软雅黑" panose="020B0503020204020204" pitchFamily="34" charset="-122"/>
                <a:cs typeface="Times New Roman" panose="02020603050405020304" pitchFamily="18" charset="0"/>
              </a:rPr>
              <a:t>某格点饵料鱼类生物量的时间序列图</a:t>
            </a:r>
            <a:br>
              <a:rPr lang="en-US" altLang="zh-CN" sz="1400">
                <a:effectLst/>
                <a:latin typeface="微软雅黑" panose="020B0503020204020204" pitchFamily="34" charset="-122"/>
                <a:ea typeface="微软雅黑" panose="020B0503020204020204" pitchFamily="34" charset="-122"/>
                <a:cs typeface="Times New Roman" panose="02020603050405020304" pitchFamily="18" charset="0"/>
              </a:rPr>
            </a:br>
            <a:r>
              <a:rPr lang="zh-CN" altLang="en-US" sz="140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a:effectLst/>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400">
                <a:effectLst/>
                <a:latin typeface="微软雅黑" panose="020B0503020204020204" pitchFamily="34" charset="-122"/>
                <a:ea typeface="微软雅黑" panose="020B0503020204020204" pitchFamily="34" charset="-122"/>
                <a:cs typeface="Times New Roman" panose="02020603050405020304" pitchFamily="18" charset="0"/>
              </a:rPr>
              <a:t>）各集合成员时间序列（彩色线）和集合成员平均值（粗黑线）；（</a:t>
            </a:r>
            <a:r>
              <a:rPr lang="en-US" altLang="zh-CN" sz="1400">
                <a:effectLst/>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400">
                <a:effectLst/>
                <a:latin typeface="微软雅黑" panose="020B0503020204020204" pitchFamily="34" charset="-122"/>
                <a:ea typeface="微软雅黑" panose="020B0503020204020204" pitchFamily="34" charset="-122"/>
                <a:cs typeface="Times New Roman" panose="02020603050405020304" pitchFamily="18" charset="0"/>
              </a:rPr>
              <a:t>）基准期（</a:t>
            </a:r>
            <a:r>
              <a:rPr lang="en-US" altLang="zh-CN" sz="1400">
                <a:effectLst/>
                <a:latin typeface="微软雅黑" panose="020B0503020204020204" pitchFamily="34" charset="-122"/>
                <a:ea typeface="微软雅黑" panose="020B0503020204020204" pitchFamily="34" charset="-122"/>
                <a:cs typeface="Times New Roman" panose="02020603050405020304" pitchFamily="18" charset="0"/>
              </a:rPr>
              <a:t>1920—1949 </a:t>
            </a:r>
            <a:r>
              <a:rPr lang="zh-CN" altLang="en-US" sz="1400">
                <a:effectLst/>
                <a:latin typeface="微软雅黑" panose="020B0503020204020204" pitchFamily="34" charset="-122"/>
                <a:ea typeface="微软雅黑" panose="020B0503020204020204" pitchFamily="34" charset="-122"/>
                <a:cs typeface="Times New Roman" panose="02020603050405020304" pitchFamily="18" charset="0"/>
              </a:rPr>
              <a:t>年）内 </a:t>
            </a:r>
            <a:r>
              <a:rPr lang="en-US" altLang="zh-CN" sz="1400">
                <a:effectLst/>
                <a:latin typeface="微软雅黑" panose="020B0503020204020204" pitchFamily="34" charset="-122"/>
                <a:ea typeface="微软雅黑" panose="020B0503020204020204" pitchFamily="34" charset="-122"/>
                <a:cs typeface="Times New Roman" panose="02020603050405020304" pitchFamily="18" charset="0"/>
              </a:rPr>
              <a:t>ToE </a:t>
            </a:r>
            <a:r>
              <a:rPr lang="zh-CN" altLang="en-US" sz="1400">
                <a:effectLst/>
                <a:latin typeface="微软雅黑" panose="020B0503020204020204" pitchFamily="34" charset="-122"/>
                <a:ea typeface="微软雅黑" panose="020B0503020204020204" pitchFamily="34" charset="-122"/>
                <a:cs typeface="Times New Roman" panose="02020603050405020304" pitchFamily="18" charset="0"/>
              </a:rPr>
              <a:t>的阈值范围（灰色区域）；（</a:t>
            </a:r>
            <a:r>
              <a:rPr lang="en-US" altLang="zh-CN" sz="1400">
                <a:effectLst/>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140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a:effectLst/>
                <a:latin typeface="微软雅黑" panose="020B0503020204020204" pitchFamily="34" charset="-122"/>
                <a:ea typeface="微软雅黑" panose="020B0503020204020204" pitchFamily="34" charset="-122"/>
                <a:cs typeface="Times New Roman" panose="02020603050405020304" pitchFamily="18" charset="0"/>
              </a:rPr>
              <a:t>ToE</a:t>
            </a:r>
            <a:r>
              <a:rPr lang="en-US" altLang="zh-CN" sz="1400" baseline="-25000">
                <a:effectLst/>
                <a:latin typeface="微软雅黑" panose="020B0503020204020204" pitchFamily="34" charset="-122"/>
                <a:ea typeface="微软雅黑" panose="020B0503020204020204" pitchFamily="34" charset="-122"/>
                <a:cs typeface="Times New Roman" panose="02020603050405020304" pitchFamily="18" charset="0"/>
              </a:rPr>
              <a:t>up</a:t>
            </a:r>
            <a:r>
              <a:rPr lang="en-US" altLang="zh-CN" sz="140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a:effectLst/>
                <a:latin typeface="微软雅黑" panose="020B0503020204020204" pitchFamily="34" charset="-122"/>
                <a:ea typeface="微软雅黑" panose="020B0503020204020204" pitchFamily="34" charset="-122"/>
                <a:cs typeface="Times New Roman" panose="02020603050405020304" pitchFamily="18" charset="0"/>
              </a:rPr>
              <a:t>计算结果（红色竖虚线）</a:t>
            </a:r>
            <a:endParaRPr lang="zh-CN" altLang="en-US" sz="140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26A83930-DCD3-3049-69D2-252B60DD16B9}"/>
              </a:ext>
            </a:extLst>
          </p:cNvPr>
          <p:cNvSpPr txBox="1"/>
          <p:nvPr/>
        </p:nvSpPr>
        <p:spPr>
          <a:xfrm>
            <a:off x="108869" y="4214884"/>
            <a:ext cx="4439319" cy="2554545"/>
          </a:xfrm>
          <a:prstGeom prst="rect">
            <a:avLst/>
          </a:prstGeom>
          <a:noFill/>
        </p:spPr>
        <p:txBody>
          <a:bodyPr wrap="square" rtlCol="0">
            <a:spAutoFit/>
          </a:bodyPr>
          <a:lstStyle/>
          <a:p>
            <a:pPr algn="ctr"/>
            <a:r>
              <a:rPr lang="zh-CN" altLang="en-US" sz="2400">
                <a:solidFill>
                  <a:schemeClr val="accent1"/>
                </a:solidFill>
                <a:latin typeface="微软雅黑" panose="020B0503020204020204" pitchFamily="34" charset="-122"/>
                <a:ea typeface="微软雅黑" panose="020B0503020204020204" pitchFamily="34" charset="-122"/>
              </a:rPr>
              <a:t>信噪比</a:t>
            </a:r>
            <a:endParaRPr lang="en-US" altLang="zh-CN" sz="2400">
              <a:solidFill>
                <a:schemeClr val="accent1"/>
              </a:solidFill>
              <a:latin typeface="微软雅黑" panose="020B0503020204020204" pitchFamily="34" charset="-122"/>
              <a:ea typeface="微软雅黑" panose="020B0503020204020204" pitchFamily="34" charset="-122"/>
            </a:endParaRPr>
          </a:p>
          <a:p>
            <a:pPr algn="ctr"/>
            <a:r>
              <a:rPr lang="zh-CN" altLang="en-US" sz="2400">
                <a:solidFill>
                  <a:schemeClr val="accent1"/>
                </a:solidFill>
                <a:latin typeface="微软雅黑" panose="020B0503020204020204" pitchFamily="34" charset="-122"/>
                <a:ea typeface="微软雅黑" panose="020B0503020204020204" pitchFamily="34" charset="-122"/>
              </a:rPr>
              <a:t>（</a:t>
            </a:r>
            <a:r>
              <a:rPr lang="en-US" altLang="zh-CN" sz="2400">
                <a:solidFill>
                  <a:schemeClr val="accent1"/>
                </a:solidFill>
                <a:latin typeface="微软雅黑" panose="020B0503020204020204" pitchFamily="34" charset="-122"/>
                <a:ea typeface="微软雅黑" panose="020B0503020204020204" pitchFamily="34" charset="-122"/>
              </a:rPr>
              <a:t>Signal to Noise Ratio,SNR</a:t>
            </a:r>
            <a:r>
              <a:rPr lang="zh-CN" altLang="en-US" sz="2400">
                <a:solidFill>
                  <a:schemeClr val="accent1"/>
                </a:solidFill>
                <a:latin typeface="微软雅黑" panose="020B0503020204020204" pitchFamily="34" charset="-122"/>
                <a:ea typeface="微软雅黑" panose="020B0503020204020204" pitchFamily="34" charset="-122"/>
              </a:rPr>
              <a:t>）</a:t>
            </a:r>
            <a:endParaRPr lang="en-US" altLang="zh-CN" sz="2400">
              <a:solidFill>
                <a:schemeClr val="accent1"/>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zh-CN" sz="1600">
                <a:latin typeface="微软雅黑" panose="020B0503020204020204" pitchFamily="34" charset="-122"/>
                <a:ea typeface="微软雅黑" panose="020B0503020204020204" pitchFamily="34" charset="-122"/>
              </a:rPr>
              <a:t>选取分析时段最后连续</a:t>
            </a:r>
            <a:r>
              <a:rPr lang="en-US" altLang="zh-CN" sz="1600">
                <a:latin typeface="微软雅黑" panose="020B0503020204020204" pitchFamily="34" charset="-122"/>
                <a:ea typeface="微软雅黑" panose="020B0503020204020204" pitchFamily="34" charset="-122"/>
              </a:rPr>
              <a:t>30</a:t>
            </a:r>
            <a:r>
              <a:rPr lang="zh-CN" altLang="zh-CN" sz="1600">
                <a:latin typeface="微软雅黑" panose="020B0503020204020204" pitchFamily="34" charset="-122"/>
                <a:ea typeface="微软雅黑" panose="020B0503020204020204" pitchFamily="34" charset="-122"/>
              </a:rPr>
              <a:t>年（</a:t>
            </a:r>
            <a:r>
              <a:rPr lang="en-US" altLang="zh-CN" sz="1600">
                <a:latin typeface="微软雅黑" panose="020B0503020204020204" pitchFamily="34" charset="-122"/>
                <a:ea typeface="微软雅黑" panose="020B0503020204020204" pitchFamily="34" charset="-122"/>
              </a:rPr>
              <a:t>1971-2100</a:t>
            </a:r>
            <a:r>
              <a:rPr lang="zh-CN" altLang="zh-CN" sz="1600">
                <a:latin typeface="微软雅黑" panose="020B0503020204020204" pitchFamily="34" charset="-122"/>
                <a:ea typeface="微软雅黑" panose="020B0503020204020204" pitchFamily="34" charset="-122"/>
              </a:rPr>
              <a:t>年）的数据并计算其平均值</a:t>
            </a:r>
            <a:r>
              <a:rPr lang="en-US" altLang="zh-CN" sz="1600">
                <a:latin typeface="微软雅黑" panose="020B0503020204020204" pitchFamily="34" charset="-122"/>
                <a:ea typeface="微软雅黑" panose="020B0503020204020204" pitchFamily="34" charset="-122"/>
              </a:rPr>
              <a:t> Y</a:t>
            </a:r>
            <a:r>
              <a:rPr lang="en-US" altLang="zh-CN" sz="1600" baseline="-25000">
                <a:latin typeface="微软雅黑" panose="020B0503020204020204" pitchFamily="34" charset="-122"/>
                <a:ea typeface="微软雅黑" panose="020B0503020204020204" pitchFamily="34" charset="-122"/>
              </a:rPr>
              <a:t>late</a:t>
            </a:r>
            <a:endParaRPr lang="en-US" altLang="zh-CN">
              <a:latin typeface="微软雅黑" panose="020B0503020204020204" pitchFamily="34" charset="-122"/>
              <a:ea typeface="微软雅黑" panose="020B0503020204020204" pitchFamily="34" charset="-122"/>
            </a:endParaRPr>
          </a:p>
          <a:p>
            <a:r>
              <a:rPr lang="en-US" altLang="zh-CN" sz="1600">
                <a:latin typeface="微软雅黑" panose="020B0503020204020204" pitchFamily="34" charset="-122"/>
                <a:ea typeface="微软雅黑" panose="020B0503020204020204" pitchFamily="34" charset="-122"/>
              </a:rPr>
              <a:t>Signal =  Y</a:t>
            </a:r>
            <a:r>
              <a:rPr lang="en-US" altLang="zh-CN" sz="1600" baseline="-25000">
                <a:latin typeface="微软雅黑" panose="020B0503020204020204" pitchFamily="34" charset="-122"/>
                <a:ea typeface="微软雅黑" panose="020B0503020204020204" pitchFamily="34" charset="-122"/>
              </a:rPr>
              <a:t>late</a:t>
            </a:r>
            <a:r>
              <a:rPr lang="en-US" altLang="zh-CN" sz="1600">
                <a:latin typeface="微软雅黑" panose="020B0503020204020204" pitchFamily="34" charset="-122"/>
                <a:ea typeface="微软雅黑" panose="020B0503020204020204" pitchFamily="34" charset="-122"/>
              </a:rPr>
              <a:t> -  μ</a:t>
            </a:r>
            <a:r>
              <a:rPr lang="en-US" altLang="zh-CN" sz="1600" baseline="-25000">
                <a:latin typeface="微软雅黑" panose="020B0503020204020204" pitchFamily="34" charset="-122"/>
                <a:ea typeface="微软雅黑" panose="020B0503020204020204" pitchFamily="34" charset="-122"/>
              </a:rPr>
              <a:t>hist 	                                           </a:t>
            </a:r>
            <a:r>
              <a:rPr lang="en-US" altLang="zh-CN" sz="1600">
                <a:latin typeface="微软雅黑" panose="020B0503020204020204" pitchFamily="34" charset="-122"/>
                <a:ea typeface="微软雅黑" panose="020B0503020204020204" pitchFamily="34" charset="-122"/>
              </a:rPr>
              <a:t>(3)      </a:t>
            </a:r>
          </a:p>
          <a:p>
            <a:r>
              <a:rPr lang="en-US" altLang="zh-CN" sz="1600">
                <a:latin typeface="微软雅黑" panose="020B0503020204020204" pitchFamily="34" charset="-122"/>
                <a:ea typeface="微软雅黑" panose="020B0503020204020204" pitchFamily="34" charset="-122"/>
              </a:rPr>
              <a:t>                         </a:t>
            </a:r>
          </a:p>
          <a:p>
            <a:r>
              <a:rPr lang="en-US" altLang="zh-CN" sz="1600">
                <a:latin typeface="微软雅黑" panose="020B0503020204020204" pitchFamily="34" charset="-122"/>
                <a:ea typeface="微软雅黑" panose="020B0503020204020204" pitchFamily="34" charset="-122"/>
              </a:rPr>
              <a:t>Noise =  σ</a:t>
            </a:r>
            <a:r>
              <a:rPr lang="en-US" altLang="zh-CN" sz="1600" baseline="-25000">
                <a:latin typeface="微软雅黑" panose="020B0503020204020204" pitchFamily="34" charset="-122"/>
                <a:ea typeface="微软雅黑" panose="020B0503020204020204" pitchFamily="34" charset="-122"/>
              </a:rPr>
              <a:t>hist	                                                                  </a:t>
            </a:r>
            <a:r>
              <a:rPr lang="en-US" altLang="zh-CN" sz="1600">
                <a:latin typeface="微软雅黑" panose="020B0503020204020204" pitchFamily="34" charset="-122"/>
                <a:ea typeface="微软雅黑" panose="020B0503020204020204" pitchFamily="34" charset="-122"/>
              </a:rPr>
              <a:t>(4)</a:t>
            </a:r>
          </a:p>
          <a:p>
            <a:endParaRPr lang="en-US" altLang="zh-CN" sz="1600">
              <a:latin typeface="微软雅黑" panose="020B0503020204020204" pitchFamily="34" charset="-122"/>
              <a:ea typeface="微软雅黑" panose="020B0503020204020204" pitchFamily="34" charset="-122"/>
            </a:endParaRPr>
          </a:p>
          <a:p>
            <a:r>
              <a:rPr lang="en-US" altLang="zh-CN" sz="1600">
                <a:latin typeface="微软雅黑" panose="020B0503020204020204" pitchFamily="34" charset="-122"/>
                <a:ea typeface="微软雅黑" panose="020B0503020204020204" pitchFamily="34" charset="-122"/>
              </a:rPr>
              <a:t>SNR = </a:t>
            </a:r>
            <a:r>
              <a:rPr lang="zh-CN" altLang="zh-CN" sz="1600">
                <a:latin typeface="微软雅黑" panose="020B0503020204020204" pitchFamily="34" charset="-122"/>
                <a:ea typeface="微软雅黑" panose="020B0503020204020204" pitchFamily="34" charset="-122"/>
              </a:rPr>
              <a:t>丨</a:t>
            </a:r>
            <a:r>
              <a:rPr lang="en-US" altLang="zh-CN" sz="1600">
                <a:latin typeface="微软雅黑" panose="020B0503020204020204" pitchFamily="34" charset="-122"/>
                <a:ea typeface="微软雅黑" panose="020B0503020204020204" pitchFamily="34" charset="-122"/>
              </a:rPr>
              <a:t> Y</a:t>
            </a:r>
            <a:r>
              <a:rPr lang="en-US" altLang="zh-CN" sz="1600" baseline="-25000">
                <a:latin typeface="微软雅黑" panose="020B0503020204020204" pitchFamily="34" charset="-122"/>
                <a:ea typeface="微软雅黑" panose="020B0503020204020204" pitchFamily="34" charset="-122"/>
              </a:rPr>
              <a:t>late</a:t>
            </a:r>
            <a:r>
              <a:rPr lang="en-US" altLang="zh-CN" sz="1600">
                <a:latin typeface="微软雅黑" panose="020B0503020204020204" pitchFamily="34" charset="-122"/>
                <a:ea typeface="微软雅黑" panose="020B0503020204020204" pitchFamily="34" charset="-122"/>
              </a:rPr>
              <a:t> -  μ</a:t>
            </a:r>
            <a:r>
              <a:rPr lang="en-US" altLang="zh-CN" sz="1600" baseline="-25000">
                <a:latin typeface="微软雅黑" panose="020B0503020204020204" pitchFamily="34" charset="-122"/>
                <a:ea typeface="微软雅黑" panose="020B0503020204020204" pitchFamily="34" charset="-122"/>
              </a:rPr>
              <a:t>hist</a:t>
            </a:r>
            <a:r>
              <a:rPr lang="zh-CN" altLang="zh-CN" sz="1600">
                <a:latin typeface="微软雅黑" panose="020B0503020204020204" pitchFamily="34" charset="-122"/>
                <a:ea typeface="微软雅黑" panose="020B0503020204020204" pitchFamily="34" charset="-122"/>
              </a:rPr>
              <a:t>丨</a:t>
            </a:r>
            <a:r>
              <a:rPr lang="en-US" altLang="zh-CN" sz="1600">
                <a:latin typeface="微软雅黑" panose="020B0503020204020204" pitchFamily="34" charset="-122"/>
                <a:ea typeface="微软雅黑" panose="020B0503020204020204" pitchFamily="34" charset="-122"/>
              </a:rPr>
              <a:t>/ σ</a:t>
            </a:r>
            <a:r>
              <a:rPr lang="en-US" altLang="zh-CN" sz="1600" baseline="-25000">
                <a:latin typeface="微软雅黑" panose="020B0503020204020204" pitchFamily="34" charset="-122"/>
                <a:ea typeface="微软雅黑" panose="020B0503020204020204" pitchFamily="34" charset="-122"/>
              </a:rPr>
              <a:t>hist	                                </a:t>
            </a:r>
            <a:r>
              <a:rPr lang="en-US" altLang="zh-CN" sz="1600">
                <a:latin typeface="微软雅黑" panose="020B0503020204020204" pitchFamily="34" charset="-122"/>
                <a:ea typeface="微软雅黑" panose="020B0503020204020204" pitchFamily="34" charset="-122"/>
              </a:rPr>
              <a:t>(5)</a:t>
            </a:r>
            <a:endParaRPr lang="zh-CN" altLang="zh-CN" sz="160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EEE17B9B-E7F4-5AB3-9823-D01ACD1061B4}"/>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416BFB9-7C10-9FBE-BD94-FD101745EA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0AE67A-A354-E422-FB7C-D05036476677}"/>
              </a:ext>
            </a:extLst>
          </p:cNvPr>
          <p:cNvSpPr/>
          <p:nvPr/>
        </p:nvSpPr>
        <p:spPr>
          <a:xfrm>
            <a:off x="0" y="0"/>
            <a:ext cx="12191695" cy="550872"/>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9849E9C-DA46-CDB7-21C0-D9A61C83E655}"/>
              </a:ext>
            </a:extLst>
          </p:cNvPr>
          <p:cNvSpPr txBox="1"/>
          <p:nvPr/>
        </p:nvSpPr>
        <p:spPr>
          <a:xfrm>
            <a:off x="61756" y="0"/>
            <a:ext cx="10496400" cy="584775"/>
          </a:xfrm>
          <a:prstGeom prst="rect">
            <a:avLst/>
          </a:prstGeom>
          <a:noFill/>
        </p:spPr>
        <p:txBody>
          <a:bodyPr wrap="none">
            <a:spAutoFit/>
          </a:bodyPr>
          <a:lstStyle/>
          <a:p>
            <a:r>
              <a:rPr lang="zh-CN" altLang="en-US" sz="3200" b="1">
                <a:solidFill>
                  <a:schemeClr val="bg1"/>
                </a:solidFill>
                <a:latin typeface="Microsoft YaHei"/>
              </a:rPr>
              <a:t>气候变化信号出现时间及其信噪比特征</a:t>
            </a:r>
            <a:r>
              <a:rPr lang="en-US" altLang="zh-CN" sz="3200" b="1">
                <a:solidFill>
                  <a:schemeClr val="bg1"/>
                </a:solidFill>
                <a:latin typeface="Microsoft YaHei"/>
              </a:rPr>
              <a:t>:</a:t>
            </a:r>
            <a:r>
              <a:rPr lang="zh-CN" altLang="en-US" sz="3200" b="1">
                <a:solidFill>
                  <a:schemeClr val="bg1"/>
                </a:solidFill>
                <a:latin typeface="Microsoft YaHei"/>
              </a:rPr>
              <a:t>环境变量</a:t>
            </a:r>
            <a:r>
              <a:rPr lang="en-US" altLang="zh-CN" sz="3200" b="1">
                <a:solidFill>
                  <a:schemeClr val="bg1"/>
                </a:solidFill>
                <a:latin typeface="Microsoft YaHei"/>
              </a:rPr>
              <a:t>ToE</a:t>
            </a:r>
            <a:r>
              <a:rPr lang="zh-CN" altLang="en-US" sz="3200" b="1">
                <a:solidFill>
                  <a:schemeClr val="bg1"/>
                </a:solidFill>
                <a:latin typeface="Microsoft YaHei"/>
              </a:rPr>
              <a:t>分析</a:t>
            </a:r>
            <a:endParaRPr sz="3200" b="1">
              <a:solidFill>
                <a:schemeClr val="bg1"/>
              </a:solidFill>
              <a:latin typeface="Microsoft YaHei"/>
            </a:endParaRPr>
          </a:p>
        </p:txBody>
      </p:sp>
      <p:sp>
        <p:nvSpPr>
          <p:cNvPr id="18" name="文本框 17">
            <a:extLst>
              <a:ext uri="{FF2B5EF4-FFF2-40B4-BE49-F238E27FC236}">
                <a16:creationId xmlns:a16="http://schemas.microsoft.com/office/drawing/2014/main" id="{46B7472E-08A7-4254-C964-61216D3093F8}"/>
              </a:ext>
            </a:extLst>
          </p:cNvPr>
          <p:cNvSpPr txBox="1"/>
          <p:nvPr/>
        </p:nvSpPr>
        <p:spPr>
          <a:xfrm>
            <a:off x="403771" y="5972139"/>
            <a:ext cx="3796089" cy="646331"/>
          </a:xfrm>
          <a:prstGeom prst="rect">
            <a:avLst/>
          </a:prstGeom>
          <a:noFill/>
        </p:spPr>
        <p:txBody>
          <a:bodyPr wrap="square">
            <a:spAutoFit/>
          </a:bodyPr>
          <a:lstStyle/>
          <a:p>
            <a:pPr algn="ctr">
              <a:buNone/>
            </a:pPr>
            <a:r>
              <a:rPr lang="en-US" altLang="zh-CN" sz="1200" b="1">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a:latin typeface="微软雅黑" panose="020B0503020204020204" pitchFamily="34" charset="-122"/>
                <a:ea typeface="微软雅黑" panose="020B0503020204020204" pitchFamily="34" charset="-122"/>
                <a:cs typeface="Times New Roman" panose="02020603050405020304" pitchFamily="18" charset="0"/>
              </a:rPr>
              <a:t>图 </a:t>
            </a:r>
            <a:r>
              <a:rPr lang="en-US" altLang="zh-CN" sz="1200">
                <a:latin typeface="微软雅黑" panose="020B0503020204020204" pitchFamily="34" charset="-122"/>
                <a:ea typeface="微软雅黑" panose="020B0503020204020204" pitchFamily="34" charset="-122"/>
                <a:cs typeface="Times New Roman" panose="02020603050405020304" pitchFamily="18" charset="0"/>
              </a:rPr>
              <a:t>3</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环境变量上升与下降方向</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空间分布图</a:t>
            </a:r>
            <a:endPar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左列图展示上升方向</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的空间分布，右列图展示下降方向的</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分布</a:t>
            </a:r>
            <a:endParaRPr lang="en-US" altLang="zh-CN" sz="12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文本框 19">
            <a:extLst>
              <a:ext uri="{FF2B5EF4-FFF2-40B4-BE49-F238E27FC236}">
                <a16:creationId xmlns:a16="http://schemas.microsoft.com/office/drawing/2014/main" id="{15595350-B497-E5BA-580D-2BE2EE5BE088}"/>
              </a:ext>
            </a:extLst>
          </p:cNvPr>
          <p:cNvSpPr txBox="1"/>
          <p:nvPr/>
        </p:nvSpPr>
        <p:spPr>
          <a:xfrm>
            <a:off x="4875695" y="5968780"/>
            <a:ext cx="4061923" cy="646331"/>
          </a:xfrm>
          <a:prstGeom prst="rect">
            <a:avLst/>
          </a:prstGeom>
          <a:noFill/>
        </p:spPr>
        <p:txBody>
          <a:bodyPr wrap="square">
            <a:spAutoFit/>
          </a:bodyPr>
          <a:lstStyle/>
          <a:p>
            <a:pPr algn="ctr"/>
            <a:r>
              <a:rPr lang="zh-CN" altLang="zh-CN" sz="1200">
                <a:effectLst/>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200">
                <a:effectLst/>
                <a:latin typeface="微软雅黑" panose="020B0503020204020204" pitchFamily="34" charset="-122"/>
                <a:ea typeface="微软雅黑" panose="020B0503020204020204" pitchFamily="34" charset="-122"/>
              </a:rPr>
              <a:t> 3-2 </a:t>
            </a:r>
            <a:r>
              <a:rPr lang="zh-CN" altLang="en-US" sz="1200">
                <a:effectLst/>
                <a:latin typeface="微软雅黑" panose="020B0503020204020204" pitchFamily="34" charset="-122"/>
                <a:ea typeface="微软雅黑" panose="020B0503020204020204" pitchFamily="34" charset="-122"/>
              </a:rPr>
              <a:t>环境变量信噪比结果图</a:t>
            </a:r>
            <a:endParaRPr lang="en-US" altLang="zh-CN" sz="1200">
              <a:effectLst/>
              <a:latin typeface="微软雅黑" panose="020B0503020204020204" pitchFamily="34" charset="-122"/>
              <a:ea typeface="微软雅黑" panose="020B0503020204020204" pitchFamily="34" charset="-122"/>
            </a:endParaRPr>
          </a:p>
          <a:p>
            <a:pPr algn="ctr"/>
            <a:r>
              <a:rPr lang="zh-CN" altLang="en-US" sz="1200">
                <a:effectLst/>
                <a:latin typeface="微软雅黑" panose="020B0503020204020204" pitchFamily="34" charset="-122"/>
                <a:ea typeface="微软雅黑" panose="020B0503020204020204" pitchFamily="34" charset="-122"/>
              </a:rPr>
              <a:t>左列图展示信噪比结果空间分布，中间列图展示噪声结果空间分布，右列图展示信号结果空间分布</a:t>
            </a:r>
            <a:endParaRPr lang="zh-CN" altLang="en-US" sz="120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570F7C57-5EDC-01DE-8BA0-E6BEC38098EF}"/>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bwMode="auto">
          <a:xfrm>
            <a:off x="403771" y="596543"/>
            <a:ext cx="4232024" cy="5371575"/>
          </a:xfrm>
          <a:prstGeom prst="rect">
            <a:avLst/>
          </a:prstGeom>
          <a:noFill/>
          <a:ln>
            <a:noFill/>
          </a:ln>
        </p:spPr>
      </p:pic>
      <p:pic>
        <p:nvPicPr>
          <p:cNvPr id="5" name="图片 4">
            <a:extLst>
              <a:ext uri="{FF2B5EF4-FFF2-40B4-BE49-F238E27FC236}">
                <a16:creationId xmlns:a16="http://schemas.microsoft.com/office/drawing/2014/main" id="{97220F85-B6FB-B2AE-2639-4B8E495C51AF}"/>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4875695" y="584775"/>
            <a:ext cx="4061923" cy="5407803"/>
          </a:xfrm>
          <a:prstGeom prst="rect">
            <a:avLst/>
          </a:prstGeom>
          <a:noFill/>
          <a:ln>
            <a:noFill/>
          </a:ln>
        </p:spPr>
      </p:pic>
      <p:sp>
        <p:nvSpPr>
          <p:cNvPr id="7" name="文本框 6">
            <a:extLst>
              <a:ext uri="{FF2B5EF4-FFF2-40B4-BE49-F238E27FC236}">
                <a16:creationId xmlns:a16="http://schemas.microsoft.com/office/drawing/2014/main" id="{EB5BA2B2-414A-5A17-0060-5CCDE26F3983}"/>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11</a:t>
            </a:r>
          </a:p>
        </p:txBody>
      </p:sp>
      <p:sp>
        <p:nvSpPr>
          <p:cNvPr id="8" name="文本框 7">
            <a:extLst>
              <a:ext uri="{FF2B5EF4-FFF2-40B4-BE49-F238E27FC236}">
                <a16:creationId xmlns:a16="http://schemas.microsoft.com/office/drawing/2014/main" id="{DF60F350-304D-42D6-0DE3-90DB00E99303}"/>
              </a:ext>
            </a:extLst>
          </p:cNvPr>
          <p:cNvSpPr txBox="1"/>
          <p:nvPr/>
        </p:nvSpPr>
        <p:spPr>
          <a:xfrm>
            <a:off x="106219" y="6615111"/>
            <a:ext cx="11556454" cy="276999"/>
          </a:xfrm>
          <a:prstGeom prst="rect">
            <a:avLst/>
          </a:prstGeom>
          <a:noFill/>
        </p:spPr>
        <p:txBody>
          <a:bodyPr wrap="square" rtlCol="0">
            <a:spAutoFit/>
          </a:bodyPr>
          <a:lstStyle/>
          <a:p>
            <a:r>
              <a:rPr lang="zh-CN" altLang="en-US" sz="1200">
                <a:latin typeface="微软雅黑" panose="020B0503020204020204" pitchFamily="34" charset="-122"/>
                <a:ea typeface="微软雅黑" panose="020B0503020204020204" pitchFamily="34" charset="-122"/>
              </a:rPr>
              <a:t>注：每行变量</a:t>
            </a:r>
            <a:r>
              <a:rPr lang="zh-CN" altLang="zh-CN" sz="1200">
                <a:latin typeface="微软雅黑" panose="020B0503020204020204" pitchFamily="34" charset="-122"/>
                <a:ea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rPr>
              <a:t>a</a:t>
            </a:r>
            <a:r>
              <a:rPr lang="zh-CN" altLang="zh-CN" sz="1200">
                <a:latin typeface="微软雅黑" panose="020B0503020204020204" pitchFamily="34" charset="-122"/>
                <a:ea typeface="微软雅黑" panose="020B0503020204020204" pitchFamily="34" charset="-122"/>
              </a:rPr>
              <a:t>）上层</a:t>
            </a:r>
            <a:r>
              <a:rPr lang="en-US" altLang="zh-CN" sz="1200">
                <a:latin typeface="微软雅黑" panose="020B0503020204020204" pitchFamily="34" charset="-122"/>
                <a:ea typeface="微软雅黑" panose="020B0503020204020204" pitchFamily="34" charset="-122"/>
              </a:rPr>
              <a:t>150m</a:t>
            </a:r>
            <a:r>
              <a:rPr lang="zh-CN" altLang="zh-CN" sz="1200">
                <a:latin typeface="微软雅黑" panose="020B0503020204020204" pitchFamily="34" charset="-122"/>
                <a:ea typeface="微软雅黑" panose="020B0503020204020204" pitchFamily="34" charset="-122"/>
              </a:rPr>
              <a:t>平均海洋温度、（</a:t>
            </a:r>
            <a:r>
              <a:rPr lang="en-US" altLang="zh-CN" sz="1200">
                <a:latin typeface="微软雅黑" panose="020B0503020204020204" pitchFamily="34" charset="-122"/>
                <a:ea typeface="微软雅黑" panose="020B0503020204020204" pitchFamily="34" charset="-122"/>
              </a:rPr>
              <a:t>b</a:t>
            </a:r>
            <a:r>
              <a:rPr lang="zh-CN" altLang="zh-CN" sz="1200">
                <a:latin typeface="微软雅黑" panose="020B0503020204020204" pitchFamily="34" charset="-122"/>
                <a:ea typeface="微软雅黑" panose="020B0503020204020204" pitchFamily="34" charset="-122"/>
              </a:rPr>
              <a:t>）底层海洋温度、（</a:t>
            </a:r>
            <a:r>
              <a:rPr lang="en-US" altLang="zh-CN" sz="1200">
                <a:latin typeface="微软雅黑" panose="020B0503020204020204" pitchFamily="34" charset="-122"/>
                <a:ea typeface="微软雅黑" panose="020B0503020204020204" pitchFamily="34" charset="-122"/>
              </a:rPr>
              <a:t>c</a:t>
            </a:r>
            <a:r>
              <a:rPr lang="zh-CN" altLang="zh-CN" sz="1200">
                <a:latin typeface="微软雅黑" panose="020B0503020204020204" pitchFamily="34" charset="-122"/>
                <a:ea typeface="微软雅黑" panose="020B0503020204020204" pitchFamily="34" charset="-122"/>
              </a:rPr>
              <a:t>）上层</a:t>
            </a:r>
            <a:r>
              <a:rPr lang="en-US" altLang="zh-CN" sz="1200">
                <a:latin typeface="微软雅黑" panose="020B0503020204020204" pitchFamily="34" charset="-122"/>
                <a:ea typeface="微软雅黑" panose="020B0503020204020204" pitchFamily="34" charset="-122"/>
              </a:rPr>
              <a:t>150m</a:t>
            </a:r>
            <a:r>
              <a:rPr lang="zh-CN" altLang="zh-CN" sz="1200">
                <a:latin typeface="微软雅黑" panose="020B0503020204020204" pitchFamily="34" charset="-122"/>
                <a:ea typeface="微软雅黑" panose="020B0503020204020204" pitchFamily="34" charset="-122"/>
              </a:rPr>
              <a:t>平均硝酸盐浓度、（</a:t>
            </a:r>
            <a:r>
              <a:rPr lang="en-US" altLang="zh-CN" sz="1200">
                <a:latin typeface="微软雅黑" panose="020B0503020204020204" pitchFamily="34" charset="-122"/>
                <a:ea typeface="微软雅黑" panose="020B0503020204020204" pitchFamily="34" charset="-122"/>
              </a:rPr>
              <a:t>d</a:t>
            </a:r>
            <a:r>
              <a:rPr lang="zh-CN" altLang="zh-CN" sz="1200">
                <a:latin typeface="微软雅黑" panose="020B0503020204020204" pitchFamily="34" charset="-122"/>
                <a:ea typeface="微软雅黑" panose="020B0503020204020204" pitchFamily="34" charset="-122"/>
              </a:rPr>
              <a:t>）上层</a:t>
            </a:r>
            <a:r>
              <a:rPr lang="en-US" altLang="zh-CN" sz="1200">
                <a:latin typeface="微软雅黑" panose="020B0503020204020204" pitchFamily="34" charset="-122"/>
                <a:ea typeface="微软雅黑" panose="020B0503020204020204" pitchFamily="34" charset="-122"/>
              </a:rPr>
              <a:t>150m</a:t>
            </a:r>
            <a:r>
              <a:rPr lang="zh-CN" altLang="zh-CN" sz="1200">
                <a:latin typeface="微软雅黑" panose="020B0503020204020204" pitchFamily="34" charset="-122"/>
                <a:ea typeface="微软雅黑" panose="020B0503020204020204" pitchFamily="34" charset="-122"/>
              </a:rPr>
              <a:t>平均硅酸盐浓度和（</a:t>
            </a:r>
            <a:r>
              <a:rPr lang="en-US" altLang="zh-CN" sz="1200">
                <a:latin typeface="微软雅黑" panose="020B0503020204020204" pitchFamily="34" charset="-122"/>
                <a:ea typeface="微软雅黑" panose="020B0503020204020204" pitchFamily="34" charset="-122"/>
              </a:rPr>
              <a:t>e</a:t>
            </a:r>
            <a:r>
              <a:rPr lang="zh-CN" altLang="zh-CN" sz="1200">
                <a:latin typeface="微软雅黑" panose="020B0503020204020204" pitchFamily="34" charset="-122"/>
                <a:ea typeface="微软雅黑" panose="020B0503020204020204" pitchFamily="34" charset="-122"/>
              </a:rPr>
              <a:t>）上层</a:t>
            </a:r>
            <a:r>
              <a:rPr lang="en-US" altLang="zh-CN" sz="1200">
                <a:latin typeface="微软雅黑" panose="020B0503020204020204" pitchFamily="34" charset="-122"/>
                <a:ea typeface="微软雅黑" panose="020B0503020204020204" pitchFamily="34" charset="-122"/>
              </a:rPr>
              <a:t>150m</a:t>
            </a:r>
            <a:r>
              <a:rPr lang="zh-CN" altLang="zh-CN" sz="1200">
                <a:latin typeface="微软雅黑" panose="020B0503020204020204" pitchFamily="34" charset="-122"/>
                <a:ea typeface="微软雅黑" panose="020B0503020204020204" pitchFamily="34" charset="-122"/>
              </a:rPr>
              <a:t>平均铁浓度</a:t>
            </a:r>
            <a:endParaRPr lang="zh-CN" altLang="en-US" sz="120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4086153E-AAA2-9B05-C0D0-D25A3B62F4E6}"/>
              </a:ext>
            </a:extLst>
          </p:cNvPr>
          <p:cNvSpPr txBox="1"/>
          <p:nvPr/>
        </p:nvSpPr>
        <p:spPr>
          <a:xfrm>
            <a:off x="8937618" y="584775"/>
            <a:ext cx="3315523" cy="5601533"/>
          </a:xfrm>
          <a:prstGeom prst="rect">
            <a:avLst/>
          </a:prstGeom>
          <a:noFill/>
        </p:spPr>
        <p:txBody>
          <a:bodyPr wrap="square" rtlCol="0">
            <a:spAutoFit/>
          </a:bodyPr>
          <a:lstStyle/>
          <a:p>
            <a:pPr algn="just">
              <a:lnSpc>
                <a:spcPct val="150000"/>
              </a:lnSpc>
            </a:pPr>
            <a:r>
              <a:rPr lang="zh-CN" altLang="en-US">
                <a:solidFill>
                  <a:schemeClr val="accent5"/>
                </a:solidFill>
                <a:latin typeface="微软雅黑" panose="020B0503020204020204" pitchFamily="34" charset="-122"/>
                <a:ea typeface="微软雅黑" panose="020B0503020204020204" pitchFamily="34" charset="-122"/>
              </a:rPr>
              <a:t>赤道印度洋区域</a:t>
            </a:r>
            <a:r>
              <a:rPr lang="zh-CN" altLang="en-US" sz="1600">
                <a:latin typeface="微软雅黑" panose="020B0503020204020204" pitchFamily="34" charset="-122"/>
                <a:ea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上层海洋温度</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2000-2020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硅酸盐和铁</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2020-2040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硝酸盐未识别到</a:t>
            </a:r>
            <a:r>
              <a:rPr lang="en-US" altLang="zh-CN" sz="1600">
                <a:latin typeface="微软雅黑" panose="020B0503020204020204" pitchFamily="34" charset="-122"/>
                <a:ea typeface="微软雅黑" panose="020B0503020204020204" pitchFamily="34" charset="-122"/>
              </a:rPr>
              <a:t>ToE</a:t>
            </a:r>
          </a:p>
          <a:p>
            <a:pPr algn="just">
              <a:lnSpc>
                <a:spcPct val="150000"/>
              </a:lnSpc>
            </a:pP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a:solidFill>
                  <a:schemeClr val="accent1"/>
                </a:solidFill>
                <a:latin typeface="微软雅黑" panose="020B0503020204020204" pitchFamily="34" charset="-122"/>
                <a:ea typeface="微软雅黑" panose="020B0503020204020204" pitchFamily="34" charset="-122"/>
              </a:rPr>
              <a:t>南极绕极流区域</a:t>
            </a:r>
            <a:r>
              <a:rPr lang="zh-CN" altLang="en-US" sz="1600">
                <a:latin typeface="微软雅黑" panose="020B0503020204020204" pitchFamily="34" charset="-122"/>
                <a:ea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上层海洋温度</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2000-2020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硝酸盐和铁</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2020-2040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硅酸盐</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2000-2020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a:solidFill>
                  <a:schemeClr val="tx2"/>
                </a:solidFill>
                <a:latin typeface="微软雅黑" panose="020B0503020204020204" pitchFamily="34" charset="-122"/>
                <a:ea typeface="微软雅黑" panose="020B0503020204020204" pitchFamily="34" charset="-122"/>
              </a:rPr>
              <a:t>南极大陆架边缘区域</a:t>
            </a:r>
            <a:r>
              <a:rPr lang="zh-CN" altLang="en-US" sz="1600">
                <a:latin typeface="微软雅黑" panose="020B0503020204020204" pitchFamily="34" charset="-122"/>
                <a:ea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底层海洋温度</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2020-2040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硅酸盐、硝酸盐和铁</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均为</a:t>
            </a:r>
            <a:r>
              <a:rPr lang="en-US" altLang="zh-CN" sz="1600">
                <a:latin typeface="微软雅黑" panose="020B0503020204020204" pitchFamily="34" charset="-122"/>
                <a:ea typeface="微软雅黑" panose="020B0503020204020204" pitchFamily="34" charset="-122"/>
              </a:rPr>
              <a:t>2020-2040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endParaRPr lang="zh-CN" altLang="en-US" sz="1600"/>
          </a:p>
        </p:txBody>
      </p:sp>
    </p:spTree>
    <p:extLst>
      <p:ext uri="{BB962C8B-B14F-4D97-AF65-F5344CB8AC3E}">
        <p14:creationId xmlns:p14="http://schemas.microsoft.com/office/powerpoint/2010/main" val="31056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2C2619B-2DC5-E277-AD2C-800D401757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48CF50-70F9-16F1-E4FC-F95BA44D138C}"/>
              </a:ext>
            </a:extLst>
          </p:cNvPr>
          <p:cNvSpPr/>
          <p:nvPr/>
        </p:nvSpPr>
        <p:spPr>
          <a:xfrm>
            <a:off x="0" y="0"/>
            <a:ext cx="12191695" cy="550872"/>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8E6C955-1F1C-5CCD-513E-8278F904715D}"/>
              </a:ext>
            </a:extLst>
          </p:cNvPr>
          <p:cNvSpPr txBox="1"/>
          <p:nvPr/>
        </p:nvSpPr>
        <p:spPr>
          <a:xfrm>
            <a:off x="61756" y="0"/>
            <a:ext cx="11320343" cy="584775"/>
          </a:xfrm>
          <a:prstGeom prst="rect">
            <a:avLst/>
          </a:prstGeom>
          <a:noFill/>
        </p:spPr>
        <p:txBody>
          <a:bodyPr wrap="none">
            <a:spAutoFit/>
          </a:bodyPr>
          <a:lstStyle/>
          <a:p>
            <a:r>
              <a:rPr lang="zh-CN" altLang="en-US" sz="3200" b="1">
                <a:solidFill>
                  <a:schemeClr val="bg1"/>
                </a:solidFill>
                <a:latin typeface="Microsoft YaHei"/>
              </a:rPr>
              <a:t>气候变化信号出现时间及其信噪比特征</a:t>
            </a:r>
            <a:r>
              <a:rPr lang="en-US" altLang="zh-CN" sz="3200" b="1">
                <a:solidFill>
                  <a:schemeClr val="bg1"/>
                </a:solidFill>
                <a:latin typeface="Microsoft YaHei"/>
              </a:rPr>
              <a:t>:</a:t>
            </a:r>
            <a:r>
              <a:rPr lang="zh-CN" altLang="en-US" sz="3200" b="1">
                <a:solidFill>
                  <a:schemeClr val="bg1"/>
                </a:solidFill>
                <a:latin typeface="Microsoft YaHei"/>
              </a:rPr>
              <a:t>低营养级变量</a:t>
            </a:r>
            <a:r>
              <a:rPr lang="en-US" altLang="zh-CN" sz="3200" b="1">
                <a:solidFill>
                  <a:schemeClr val="bg1"/>
                </a:solidFill>
                <a:latin typeface="Microsoft YaHei"/>
              </a:rPr>
              <a:t>ToE</a:t>
            </a:r>
            <a:r>
              <a:rPr lang="zh-CN" altLang="en-US" sz="3200" b="1">
                <a:solidFill>
                  <a:schemeClr val="bg1"/>
                </a:solidFill>
                <a:latin typeface="Microsoft YaHei"/>
              </a:rPr>
              <a:t>分析</a:t>
            </a:r>
            <a:endParaRPr sz="3200" b="1">
              <a:solidFill>
                <a:schemeClr val="bg1"/>
              </a:solidFill>
              <a:latin typeface="Microsoft YaHei"/>
            </a:endParaRPr>
          </a:p>
        </p:txBody>
      </p:sp>
      <p:sp>
        <p:nvSpPr>
          <p:cNvPr id="18" name="文本框 17">
            <a:extLst>
              <a:ext uri="{FF2B5EF4-FFF2-40B4-BE49-F238E27FC236}">
                <a16:creationId xmlns:a16="http://schemas.microsoft.com/office/drawing/2014/main" id="{92B80396-292D-9CFB-97CB-3B3653E9A7F4}"/>
              </a:ext>
            </a:extLst>
          </p:cNvPr>
          <p:cNvSpPr txBox="1"/>
          <p:nvPr/>
        </p:nvSpPr>
        <p:spPr>
          <a:xfrm>
            <a:off x="400552" y="5972139"/>
            <a:ext cx="3746146" cy="646331"/>
          </a:xfrm>
          <a:prstGeom prst="rect">
            <a:avLst/>
          </a:prstGeom>
          <a:noFill/>
        </p:spPr>
        <p:txBody>
          <a:bodyPr wrap="square">
            <a:spAutoFit/>
          </a:bodyPr>
          <a:lstStyle/>
          <a:p>
            <a:pPr algn="ctr">
              <a:buNone/>
            </a:pPr>
            <a:r>
              <a:rPr lang="en-US" altLang="zh-CN" sz="1200" b="1">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a:latin typeface="微软雅黑" panose="020B0503020204020204" pitchFamily="34" charset="-122"/>
                <a:ea typeface="微软雅黑" panose="020B0503020204020204" pitchFamily="34" charset="-122"/>
                <a:cs typeface="Times New Roman" panose="02020603050405020304" pitchFamily="18" charset="0"/>
              </a:rPr>
              <a:t>图 </a:t>
            </a:r>
            <a:r>
              <a:rPr lang="en-US" altLang="zh-CN" sz="1200">
                <a:latin typeface="微软雅黑" panose="020B0503020204020204" pitchFamily="34" charset="-122"/>
                <a:ea typeface="微软雅黑" panose="020B0503020204020204" pitchFamily="34" charset="-122"/>
                <a:cs typeface="Times New Roman" panose="02020603050405020304" pitchFamily="18" charset="0"/>
              </a:rPr>
              <a:t>3</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200">
                <a:latin typeface="微软雅黑" panose="020B0503020204020204" pitchFamily="34" charset="-122"/>
                <a:ea typeface="微软雅黑" panose="020B0503020204020204" pitchFamily="34" charset="-122"/>
                <a:cs typeface="Times New Roman" panose="02020603050405020304" pitchFamily="18" charset="0"/>
              </a:rPr>
              <a:t>低营养级</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变量上升与下降方向</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空间分布图</a:t>
            </a:r>
            <a:endPar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左列图展示上升方向</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的空间分布，右列图展示下降方向的</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分布</a:t>
            </a:r>
            <a:endParaRPr lang="en-US" altLang="zh-CN" sz="12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文本框 19">
            <a:extLst>
              <a:ext uri="{FF2B5EF4-FFF2-40B4-BE49-F238E27FC236}">
                <a16:creationId xmlns:a16="http://schemas.microsoft.com/office/drawing/2014/main" id="{94B0F375-F267-1839-65E8-A889F1027A59}"/>
              </a:ext>
            </a:extLst>
          </p:cNvPr>
          <p:cNvSpPr txBox="1"/>
          <p:nvPr/>
        </p:nvSpPr>
        <p:spPr>
          <a:xfrm>
            <a:off x="4853506" y="5958148"/>
            <a:ext cx="4070236" cy="646331"/>
          </a:xfrm>
          <a:prstGeom prst="rect">
            <a:avLst/>
          </a:prstGeom>
          <a:noFill/>
        </p:spPr>
        <p:txBody>
          <a:bodyPr wrap="square">
            <a:spAutoFit/>
          </a:bodyPr>
          <a:lstStyle/>
          <a:p>
            <a:pPr algn="ctr"/>
            <a:r>
              <a:rPr lang="zh-CN" altLang="zh-CN" sz="1200">
                <a:effectLst/>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200">
                <a:effectLst/>
                <a:latin typeface="微软雅黑" panose="020B0503020204020204" pitchFamily="34" charset="-122"/>
                <a:ea typeface="微软雅黑" panose="020B0503020204020204" pitchFamily="34" charset="-122"/>
              </a:rPr>
              <a:t> 3-4 </a:t>
            </a:r>
            <a:r>
              <a:rPr lang="zh-CN" altLang="en-US" sz="1200">
                <a:latin typeface="微软雅黑" panose="020B0503020204020204" pitchFamily="34" charset="-122"/>
                <a:ea typeface="微软雅黑" panose="020B0503020204020204" pitchFamily="34" charset="-122"/>
              </a:rPr>
              <a:t>低营养级</a:t>
            </a:r>
            <a:r>
              <a:rPr lang="zh-CN" altLang="en-US" sz="1200">
                <a:effectLst/>
                <a:latin typeface="微软雅黑" panose="020B0503020204020204" pitchFamily="34" charset="-122"/>
                <a:ea typeface="微软雅黑" panose="020B0503020204020204" pitchFamily="34" charset="-122"/>
              </a:rPr>
              <a:t>变量信噪比结果图</a:t>
            </a:r>
            <a:endParaRPr lang="en-US" altLang="zh-CN" sz="1200">
              <a:effectLst/>
              <a:latin typeface="微软雅黑" panose="020B0503020204020204" pitchFamily="34" charset="-122"/>
              <a:ea typeface="微软雅黑" panose="020B0503020204020204" pitchFamily="34" charset="-122"/>
            </a:endParaRPr>
          </a:p>
          <a:p>
            <a:pPr algn="ctr"/>
            <a:r>
              <a:rPr lang="zh-CN" altLang="en-US" sz="1200">
                <a:effectLst/>
                <a:latin typeface="微软雅黑" panose="020B0503020204020204" pitchFamily="34" charset="-122"/>
                <a:ea typeface="微软雅黑" panose="020B0503020204020204" pitchFamily="34" charset="-122"/>
              </a:rPr>
              <a:t>左列图展示信噪比结果空间分布，中间列图展示噪声结果空间分布，右列图展示信号结果空间分布</a:t>
            </a:r>
            <a:endParaRPr lang="zh-CN" altLang="en-US" sz="120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08106C76-2ED1-D647-91A9-153E20C9524A}"/>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12</a:t>
            </a:r>
          </a:p>
        </p:txBody>
      </p:sp>
      <p:sp>
        <p:nvSpPr>
          <p:cNvPr id="8" name="文本框 7">
            <a:extLst>
              <a:ext uri="{FF2B5EF4-FFF2-40B4-BE49-F238E27FC236}">
                <a16:creationId xmlns:a16="http://schemas.microsoft.com/office/drawing/2014/main" id="{813A861D-F8BB-725D-8284-A31638717EE2}"/>
              </a:ext>
            </a:extLst>
          </p:cNvPr>
          <p:cNvSpPr txBox="1"/>
          <p:nvPr/>
        </p:nvSpPr>
        <p:spPr>
          <a:xfrm>
            <a:off x="-56148" y="6578444"/>
            <a:ext cx="11718821" cy="246221"/>
          </a:xfrm>
          <a:prstGeom prst="rect">
            <a:avLst/>
          </a:prstGeom>
          <a:noFill/>
        </p:spPr>
        <p:txBody>
          <a:bodyPr wrap="square" rtlCol="0">
            <a:spAutoFit/>
          </a:bodyPr>
          <a:lstStyle/>
          <a:p>
            <a:r>
              <a:rPr lang="zh-CN" altLang="en-US" sz="1000">
                <a:latin typeface="微软雅黑" panose="020B0503020204020204" pitchFamily="34" charset="-122"/>
                <a:ea typeface="微软雅黑" panose="020B0503020204020204" pitchFamily="34" charset="-122"/>
              </a:rPr>
              <a:t>注：每行变量（</a:t>
            </a:r>
            <a:r>
              <a:rPr lang="en-US" altLang="zh-CN" sz="1000">
                <a:latin typeface="微软雅黑" panose="020B0503020204020204" pitchFamily="34" charset="-122"/>
                <a:ea typeface="微软雅黑" panose="020B0503020204020204" pitchFamily="34" charset="-122"/>
              </a:rPr>
              <a:t>a</a:t>
            </a:r>
            <a:r>
              <a:rPr lang="zh-CN" altLang="en-US" sz="1000">
                <a:latin typeface="微软雅黑" panose="020B0503020204020204" pitchFamily="34" charset="-122"/>
                <a:ea typeface="微软雅黑" panose="020B0503020204020204" pitchFamily="34" charset="-122"/>
              </a:rPr>
              <a:t>）上层</a:t>
            </a:r>
            <a:r>
              <a:rPr lang="en-US" altLang="zh-CN" sz="1000">
                <a:latin typeface="微软雅黑" panose="020B0503020204020204" pitchFamily="34" charset="-122"/>
                <a:ea typeface="微软雅黑" panose="020B0503020204020204" pitchFamily="34" charset="-122"/>
              </a:rPr>
              <a:t>100m</a:t>
            </a:r>
            <a:r>
              <a:rPr lang="zh-CN" altLang="en-US" sz="1000">
                <a:latin typeface="微软雅黑" panose="020B0503020204020204" pitchFamily="34" charset="-122"/>
                <a:ea typeface="微软雅黑" panose="020B0503020204020204" pitchFamily="34" charset="-122"/>
              </a:rPr>
              <a:t>净初级生产力、（</a:t>
            </a:r>
            <a:r>
              <a:rPr lang="en-US" altLang="zh-CN" sz="1000">
                <a:latin typeface="微软雅黑" panose="020B0503020204020204" pitchFamily="34" charset="-122"/>
                <a:ea typeface="微软雅黑" panose="020B0503020204020204" pitchFamily="34" charset="-122"/>
              </a:rPr>
              <a:t>b</a:t>
            </a:r>
            <a:r>
              <a:rPr lang="zh-CN" altLang="en-US" sz="1000">
                <a:latin typeface="微软雅黑" panose="020B0503020204020204" pitchFamily="34" charset="-122"/>
                <a:ea typeface="微软雅黑" panose="020B0503020204020204" pitchFamily="34" charset="-122"/>
              </a:rPr>
              <a:t>）上层</a:t>
            </a:r>
            <a:r>
              <a:rPr lang="en-US" altLang="zh-CN" sz="1000">
                <a:latin typeface="微软雅黑" panose="020B0503020204020204" pitchFamily="34" charset="-122"/>
                <a:ea typeface="微软雅黑" panose="020B0503020204020204" pitchFamily="34" charset="-122"/>
              </a:rPr>
              <a:t>150m</a:t>
            </a:r>
            <a:r>
              <a:rPr lang="zh-CN" altLang="en-US" sz="1000">
                <a:latin typeface="微软雅黑" panose="020B0503020204020204" pitchFamily="34" charset="-122"/>
                <a:ea typeface="微软雅黑" panose="020B0503020204020204" pitchFamily="34" charset="-122"/>
              </a:rPr>
              <a:t>平均小型浮游植物生物量、（</a:t>
            </a:r>
            <a:r>
              <a:rPr lang="en-US" altLang="zh-CN" sz="1000">
                <a:latin typeface="微软雅黑" panose="020B0503020204020204" pitchFamily="34" charset="-122"/>
                <a:ea typeface="微软雅黑" panose="020B0503020204020204" pitchFamily="34" charset="-122"/>
              </a:rPr>
              <a:t>c</a:t>
            </a:r>
            <a:r>
              <a:rPr lang="zh-CN" altLang="en-US" sz="1000">
                <a:latin typeface="微软雅黑" panose="020B0503020204020204" pitchFamily="34" charset="-122"/>
                <a:ea typeface="微软雅黑" panose="020B0503020204020204" pitchFamily="34" charset="-122"/>
              </a:rPr>
              <a:t>）上层</a:t>
            </a:r>
            <a:r>
              <a:rPr lang="en-US" altLang="zh-CN" sz="1000">
                <a:latin typeface="微软雅黑" panose="020B0503020204020204" pitchFamily="34" charset="-122"/>
                <a:ea typeface="微软雅黑" panose="020B0503020204020204" pitchFamily="34" charset="-122"/>
              </a:rPr>
              <a:t>150m</a:t>
            </a:r>
            <a:r>
              <a:rPr lang="zh-CN" altLang="en-US" sz="1000">
                <a:latin typeface="微软雅黑" panose="020B0503020204020204" pitchFamily="34" charset="-122"/>
                <a:ea typeface="微软雅黑" panose="020B0503020204020204" pitchFamily="34" charset="-122"/>
              </a:rPr>
              <a:t>平均硅藻生物量、（</a:t>
            </a:r>
            <a:r>
              <a:rPr lang="en-US" altLang="zh-CN" sz="1000">
                <a:latin typeface="微软雅黑" panose="020B0503020204020204" pitchFamily="34" charset="-122"/>
                <a:ea typeface="微软雅黑" panose="020B0503020204020204" pitchFamily="34" charset="-122"/>
              </a:rPr>
              <a:t>d</a:t>
            </a:r>
            <a:r>
              <a:rPr lang="zh-CN" altLang="en-US" sz="1000">
                <a:latin typeface="微软雅黑" panose="020B0503020204020204" pitchFamily="34" charset="-122"/>
                <a:ea typeface="微软雅黑" panose="020B0503020204020204" pitchFamily="34" charset="-122"/>
              </a:rPr>
              <a:t>）上层</a:t>
            </a:r>
            <a:r>
              <a:rPr lang="en-US" altLang="zh-CN" sz="1000">
                <a:latin typeface="微软雅黑" panose="020B0503020204020204" pitchFamily="34" charset="-122"/>
                <a:ea typeface="微软雅黑" panose="020B0503020204020204" pitchFamily="34" charset="-122"/>
              </a:rPr>
              <a:t>100m</a:t>
            </a:r>
            <a:r>
              <a:rPr lang="zh-CN" altLang="en-US" sz="1000">
                <a:latin typeface="微软雅黑" panose="020B0503020204020204" pitchFamily="34" charset="-122"/>
                <a:ea typeface="微软雅黑" panose="020B0503020204020204" pitchFamily="34" charset="-122"/>
              </a:rPr>
              <a:t>积分中型浮游动物生物量和（</a:t>
            </a:r>
            <a:r>
              <a:rPr lang="en-US" altLang="zh-CN" sz="1000">
                <a:latin typeface="微软雅黑" panose="020B0503020204020204" pitchFamily="34" charset="-122"/>
                <a:ea typeface="微软雅黑" panose="020B0503020204020204" pitchFamily="34" charset="-122"/>
              </a:rPr>
              <a:t>e</a:t>
            </a:r>
            <a:r>
              <a:rPr lang="zh-CN" altLang="en-US" sz="1000">
                <a:latin typeface="微软雅黑" panose="020B0503020204020204" pitchFamily="34" charset="-122"/>
                <a:ea typeface="微软雅黑" panose="020B0503020204020204" pitchFamily="34" charset="-122"/>
              </a:rPr>
              <a:t>）底层颗粒有机碳通量</a:t>
            </a:r>
          </a:p>
        </p:txBody>
      </p:sp>
      <p:pic>
        <p:nvPicPr>
          <p:cNvPr id="3" name="图片 2">
            <a:extLst>
              <a:ext uri="{FF2B5EF4-FFF2-40B4-BE49-F238E27FC236}">
                <a16:creationId xmlns:a16="http://schemas.microsoft.com/office/drawing/2014/main" id="{7A377B8C-0266-6B5B-DB31-D73B5F3A46AC}"/>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bwMode="auto">
          <a:xfrm>
            <a:off x="400552" y="592492"/>
            <a:ext cx="4264594" cy="5413550"/>
          </a:xfrm>
          <a:prstGeom prst="rect">
            <a:avLst/>
          </a:prstGeom>
          <a:noFill/>
          <a:ln>
            <a:noFill/>
          </a:ln>
        </p:spPr>
      </p:pic>
      <p:pic>
        <p:nvPicPr>
          <p:cNvPr id="9" name="图片 8">
            <a:extLst>
              <a:ext uri="{FF2B5EF4-FFF2-40B4-BE49-F238E27FC236}">
                <a16:creationId xmlns:a16="http://schemas.microsoft.com/office/drawing/2014/main" id="{27A79D27-07A4-D9D7-574D-7B8188DCB1FE}"/>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4853506" y="587558"/>
            <a:ext cx="4070236" cy="5418484"/>
          </a:xfrm>
          <a:prstGeom prst="rect">
            <a:avLst/>
          </a:prstGeom>
          <a:noFill/>
          <a:ln>
            <a:noFill/>
          </a:ln>
        </p:spPr>
      </p:pic>
      <p:sp>
        <p:nvSpPr>
          <p:cNvPr id="12" name="文本框 11">
            <a:extLst>
              <a:ext uri="{FF2B5EF4-FFF2-40B4-BE49-F238E27FC236}">
                <a16:creationId xmlns:a16="http://schemas.microsoft.com/office/drawing/2014/main" id="{F2A2E427-2B8F-B384-33F4-D84DC311CEC8}"/>
              </a:ext>
            </a:extLst>
          </p:cNvPr>
          <p:cNvSpPr txBox="1"/>
          <p:nvPr/>
        </p:nvSpPr>
        <p:spPr>
          <a:xfrm>
            <a:off x="8938448" y="696951"/>
            <a:ext cx="3253247" cy="5311839"/>
          </a:xfrm>
          <a:prstGeom prst="rect">
            <a:avLst/>
          </a:prstGeom>
          <a:noFill/>
        </p:spPr>
        <p:txBody>
          <a:bodyPr wrap="square" rtlCol="0">
            <a:spAutoFit/>
          </a:bodyPr>
          <a:lstStyle/>
          <a:p>
            <a:pPr algn="just">
              <a:lnSpc>
                <a:spcPct val="150000"/>
              </a:lnSpc>
            </a:pPr>
            <a:r>
              <a:rPr lang="zh-CN" altLang="en-US">
                <a:solidFill>
                  <a:schemeClr val="accent5"/>
                </a:solidFill>
                <a:latin typeface="微软雅黑" panose="020B0503020204020204" pitchFamily="34" charset="-122"/>
                <a:ea typeface="微软雅黑" panose="020B0503020204020204" pitchFamily="34" charset="-122"/>
              </a:rPr>
              <a:t>赤道印度洋区域</a:t>
            </a:r>
            <a:r>
              <a:rPr lang="zh-CN" altLang="en-US" sz="1600">
                <a:latin typeface="微软雅黑" panose="020B0503020204020204" pitchFamily="34" charset="-122"/>
                <a:ea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自然变率大，仅识别到零散下降</a:t>
            </a:r>
            <a:r>
              <a:rPr lang="en-US" altLang="zh-CN" sz="1600">
                <a:latin typeface="微软雅黑" panose="020B0503020204020204" pitchFamily="34" charset="-122"/>
                <a:ea typeface="微软雅黑" panose="020B0503020204020204" pitchFamily="34" charset="-122"/>
              </a:rPr>
              <a:t>ToE</a:t>
            </a:r>
          </a:p>
          <a:p>
            <a:pPr algn="just">
              <a:lnSpc>
                <a:spcPct val="150000"/>
              </a:lnSpc>
            </a:pP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a:solidFill>
                  <a:schemeClr val="accent1"/>
                </a:solidFill>
                <a:latin typeface="微软雅黑" panose="020B0503020204020204" pitchFamily="34" charset="-122"/>
                <a:ea typeface="微软雅黑" panose="020B0503020204020204" pitchFamily="34" charset="-122"/>
              </a:rPr>
              <a:t>南极绕极流区域</a:t>
            </a:r>
            <a:r>
              <a:rPr lang="zh-CN" altLang="en-US" sz="1600">
                <a:latin typeface="微软雅黑" panose="020B0503020204020204" pitchFamily="34" charset="-122"/>
                <a:ea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净初级生产力、硅藻生物量、中型浮游动物生物量</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2040-2060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小型浮游植物生物量</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2020-2060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a:solidFill>
                  <a:schemeClr val="tx2"/>
                </a:solidFill>
                <a:latin typeface="微软雅黑" panose="020B0503020204020204" pitchFamily="34" charset="-122"/>
                <a:ea typeface="微软雅黑" panose="020B0503020204020204" pitchFamily="34" charset="-122"/>
              </a:rPr>
              <a:t>南极大陆架边缘区域</a:t>
            </a:r>
            <a:r>
              <a:rPr lang="zh-CN" altLang="en-US" sz="1600">
                <a:latin typeface="微软雅黑" panose="020B0503020204020204" pitchFamily="34" charset="-122"/>
                <a:ea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sz="1600">
                <a:latin typeface="微软雅黑" panose="020B0503020204020204" pitchFamily="34" charset="-122"/>
                <a:ea typeface="微软雅黑" panose="020B0503020204020204" pitchFamily="34" charset="-122"/>
              </a:rPr>
              <a:t>净初级生产力、底层颗粒有机碳通量</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2040-2060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37734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108963-E267-5E7A-7DD7-088FD5F3D3E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BABA21E-5DE0-3A9D-2BF9-7D61EC415154}"/>
              </a:ext>
            </a:extLst>
          </p:cNvPr>
          <p:cNvSpPr/>
          <p:nvPr/>
        </p:nvSpPr>
        <p:spPr>
          <a:xfrm>
            <a:off x="0" y="0"/>
            <a:ext cx="12191695" cy="550872"/>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9D2CEC89-098B-7582-497A-85511D405F31}"/>
              </a:ext>
            </a:extLst>
          </p:cNvPr>
          <p:cNvSpPr txBox="1"/>
          <p:nvPr/>
        </p:nvSpPr>
        <p:spPr>
          <a:xfrm>
            <a:off x="61756" y="0"/>
            <a:ext cx="12144287" cy="584775"/>
          </a:xfrm>
          <a:prstGeom prst="rect">
            <a:avLst/>
          </a:prstGeom>
          <a:noFill/>
        </p:spPr>
        <p:txBody>
          <a:bodyPr wrap="none">
            <a:spAutoFit/>
          </a:bodyPr>
          <a:lstStyle/>
          <a:p>
            <a:r>
              <a:rPr lang="zh-CN" altLang="en-US" sz="3200" b="1">
                <a:solidFill>
                  <a:schemeClr val="bg1"/>
                </a:solidFill>
                <a:latin typeface="Microsoft YaHei"/>
              </a:rPr>
              <a:t>气候变化信号出现时间及其信噪比特征</a:t>
            </a:r>
            <a:r>
              <a:rPr lang="en-US" altLang="zh-CN" sz="3200" b="1">
                <a:solidFill>
                  <a:schemeClr val="bg1"/>
                </a:solidFill>
                <a:latin typeface="Microsoft YaHei"/>
              </a:rPr>
              <a:t>:</a:t>
            </a:r>
            <a:r>
              <a:rPr lang="zh-CN" altLang="en-US" sz="3200" b="1">
                <a:solidFill>
                  <a:schemeClr val="bg1"/>
                </a:solidFill>
                <a:latin typeface="Microsoft YaHei"/>
              </a:rPr>
              <a:t>鱼类功能群生物量</a:t>
            </a:r>
            <a:r>
              <a:rPr lang="en-US" altLang="zh-CN" sz="3200" b="1">
                <a:solidFill>
                  <a:schemeClr val="bg1"/>
                </a:solidFill>
                <a:latin typeface="Microsoft YaHei"/>
              </a:rPr>
              <a:t>ToE</a:t>
            </a:r>
            <a:r>
              <a:rPr lang="zh-CN" altLang="en-US" sz="3200" b="1">
                <a:solidFill>
                  <a:schemeClr val="bg1"/>
                </a:solidFill>
                <a:latin typeface="Microsoft YaHei"/>
              </a:rPr>
              <a:t>分析</a:t>
            </a:r>
            <a:endParaRPr sz="3200" b="1">
              <a:solidFill>
                <a:schemeClr val="bg1"/>
              </a:solidFill>
              <a:latin typeface="Microsoft YaHei"/>
            </a:endParaRPr>
          </a:p>
        </p:txBody>
      </p:sp>
      <p:sp>
        <p:nvSpPr>
          <p:cNvPr id="18" name="文本框 17">
            <a:extLst>
              <a:ext uri="{FF2B5EF4-FFF2-40B4-BE49-F238E27FC236}">
                <a16:creationId xmlns:a16="http://schemas.microsoft.com/office/drawing/2014/main" id="{26D12504-3AD6-5841-CFD0-E7F1B2EA307F}"/>
              </a:ext>
            </a:extLst>
          </p:cNvPr>
          <p:cNvSpPr txBox="1"/>
          <p:nvPr/>
        </p:nvSpPr>
        <p:spPr>
          <a:xfrm>
            <a:off x="550854" y="4270286"/>
            <a:ext cx="3925453" cy="646331"/>
          </a:xfrm>
          <a:prstGeom prst="rect">
            <a:avLst/>
          </a:prstGeom>
          <a:noFill/>
        </p:spPr>
        <p:txBody>
          <a:bodyPr wrap="square">
            <a:spAutoFit/>
          </a:bodyPr>
          <a:lstStyle/>
          <a:p>
            <a:pPr algn="ctr">
              <a:buNone/>
            </a:pPr>
            <a:r>
              <a:rPr lang="en-US" altLang="zh-CN" sz="1200" b="1">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a:latin typeface="微软雅黑" panose="020B0503020204020204" pitchFamily="34" charset="-122"/>
                <a:ea typeface="微软雅黑" panose="020B0503020204020204" pitchFamily="34" charset="-122"/>
                <a:cs typeface="Times New Roman" panose="02020603050405020304" pitchFamily="18" charset="0"/>
              </a:rPr>
              <a:t>图 </a:t>
            </a:r>
            <a:r>
              <a:rPr lang="en-US" altLang="zh-CN" sz="1200">
                <a:latin typeface="微软雅黑" panose="020B0503020204020204" pitchFamily="34" charset="-122"/>
                <a:ea typeface="微软雅黑" panose="020B0503020204020204" pitchFamily="34" charset="-122"/>
                <a:cs typeface="Times New Roman" panose="02020603050405020304" pitchFamily="18" charset="0"/>
              </a:rPr>
              <a:t>3</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鱼类功能群变量上升与下降方向</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空间分布图</a:t>
            </a:r>
            <a:endPar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左列图展示上升方向</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的空间分布，右列图展示下降方向的</a:t>
            </a:r>
            <a:r>
              <a:rPr lang="en-US" altLang="zh-CN" sz="1200">
                <a:effectLst/>
                <a:latin typeface="微软雅黑" panose="020B0503020204020204" pitchFamily="34" charset="-122"/>
                <a:ea typeface="微软雅黑" panose="020B0503020204020204" pitchFamily="34" charset="-122"/>
                <a:cs typeface="Times New Roman" panose="02020603050405020304" pitchFamily="18" charset="0"/>
              </a:rPr>
              <a:t>ToE</a:t>
            </a:r>
            <a:r>
              <a:rPr lang="zh-CN" altLang="en-US" sz="1200">
                <a:effectLst/>
                <a:latin typeface="微软雅黑" panose="020B0503020204020204" pitchFamily="34" charset="-122"/>
                <a:ea typeface="微软雅黑" panose="020B0503020204020204" pitchFamily="34" charset="-122"/>
                <a:cs typeface="Times New Roman" panose="02020603050405020304" pitchFamily="18" charset="0"/>
              </a:rPr>
              <a:t>分布</a:t>
            </a:r>
            <a:endParaRPr lang="en-US" altLang="zh-CN" sz="12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文本框 19">
            <a:extLst>
              <a:ext uri="{FF2B5EF4-FFF2-40B4-BE49-F238E27FC236}">
                <a16:creationId xmlns:a16="http://schemas.microsoft.com/office/drawing/2014/main" id="{6E956C0D-2DA7-C5CB-CA10-F59F9BA15C1D}"/>
              </a:ext>
            </a:extLst>
          </p:cNvPr>
          <p:cNvSpPr txBox="1"/>
          <p:nvPr/>
        </p:nvSpPr>
        <p:spPr>
          <a:xfrm>
            <a:off x="6887858" y="4236383"/>
            <a:ext cx="4061923" cy="646331"/>
          </a:xfrm>
          <a:prstGeom prst="rect">
            <a:avLst/>
          </a:prstGeom>
          <a:noFill/>
        </p:spPr>
        <p:txBody>
          <a:bodyPr wrap="square">
            <a:spAutoFit/>
          </a:bodyPr>
          <a:lstStyle/>
          <a:p>
            <a:pPr algn="ctr"/>
            <a:r>
              <a:rPr lang="zh-CN" altLang="zh-CN" sz="1200">
                <a:effectLst/>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1200">
                <a:effectLst/>
                <a:latin typeface="微软雅黑" panose="020B0503020204020204" pitchFamily="34" charset="-122"/>
                <a:ea typeface="微软雅黑" panose="020B0503020204020204" pitchFamily="34" charset="-122"/>
              </a:rPr>
              <a:t> 3-6 </a:t>
            </a:r>
            <a:r>
              <a:rPr lang="zh-CN" altLang="en-US" sz="1200">
                <a:effectLst/>
                <a:latin typeface="微软雅黑" panose="020B0503020204020204" pitchFamily="34" charset="-122"/>
                <a:ea typeface="微软雅黑" panose="020B0503020204020204" pitchFamily="34" charset="-122"/>
              </a:rPr>
              <a:t>环境变量信噪比结果图</a:t>
            </a:r>
            <a:endParaRPr lang="en-US" altLang="zh-CN" sz="1200">
              <a:effectLst/>
              <a:latin typeface="微软雅黑" panose="020B0503020204020204" pitchFamily="34" charset="-122"/>
              <a:ea typeface="微软雅黑" panose="020B0503020204020204" pitchFamily="34" charset="-122"/>
            </a:endParaRPr>
          </a:p>
          <a:p>
            <a:pPr algn="ctr"/>
            <a:r>
              <a:rPr lang="zh-CN" altLang="en-US" sz="1200">
                <a:effectLst/>
                <a:latin typeface="微软雅黑" panose="020B0503020204020204" pitchFamily="34" charset="-122"/>
                <a:ea typeface="微软雅黑" panose="020B0503020204020204" pitchFamily="34" charset="-122"/>
              </a:rPr>
              <a:t>左列图展示信噪比结果空间分布，中间列图展示噪声结果空间分布，右列图展示信号结果空间分布</a:t>
            </a:r>
            <a:endParaRPr lang="zh-CN" altLang="en-US" sz="120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26407313-C53E-5F3E-9209-A8BEC259BF9A}"/>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13</a:t>
            </a:r>
          </a:p>
        </p:txBody>
      </p:sp>
      <p:sp>
        <p:nvSpPr>
          <p:cNvPr id="8" name="文本框 7">
            <a:extLst>
              <a:ext uri="{FF2B5EF4-FFF2-40B4-BE49-F238E27FC236}">
                <a16:creationId xmlns:a16="http://schemas.microsoft.com/office/drawing/2014/main" id="{F4CE8DD4-177C-4821-9B7D-0E1E24783F99}"/>
              </a:ext>
            </a:extLst>
          </p:cNvPr>
          <p:cNvSpPr txBox="1"/>
          <p:nvPr/>
        </p:nvSpPr>
        <p:spPr>
          <a:xfrm>
            <a:off x="2917438" y="4882714"/>
            <a:ext cx="6243500" cy="276999"/>
          </a:xfrm>
          <a:prstGeom prst="rect">
            <a:avLst/>
          </a:prstGeom>
          <a:noFill/>
        </p:spPr>
        <p:txBody>
          <a:bodyPr wrap="square" rtlCol="0">
            <a:spAutoFit/>
          </a:bodyPr>
          <a:lstStyle/>
          <a:p>
            <a:pPr algn="ctr"/>
            <a:r>
              <a:rPr lang="zh-CN" altLang="en-US" sz="1200">
                <a:latin typeface="微软雅黑" panose="020B0503020204020204" pitchFamily="34" charset="-122"/>
                <a:ea typeface="微软雅黑" panose="020B0503020204020204" pitchFamily="34" charset="-122"/>
              </a:rPr>
              <a:t>注：每行变量（</a:t>
            </a:r>
            <a:r>
              <a:rPr lang="en-US" altLang="zh-CN" sz="1200">
                <a:latin typeface="微软雅黑" panose="020B0503020204020204" pitchFamily="34" charset="-122"/>
                <a:ea typeface="微软雅黑" panose="020B0503020204020204" pitchFamily="34" charset="-122"/>
              </a:rPr>
              <a:t>a</a:t>
            </a:r>
            <a:r>
              <a:rPr lang="zh-CN" altLang="en-US" sz="1200">
                <a:latin typeface="微软雅黑" panose="020B0503020204020204" pitchFamily="34" charset="-122"/>
                <a:ea typeface="微软雅黑" panose="020B0503020204020204" pitchFamily="34" charset="-122"/>
              </a:rPr>
              <a:t>）饵料鱼潜在生物量、（</a:t>
            </a:r>
            <a:r>
              <a:rPr lang="en-US" altLang="zh-CN" sz="1200">
                <a:latin typeface="微软雅黑" panose="020B0503020204020204" pitchFamily="34" charset="-122"/>
                <a:ea typeface="微软雅黑" panose="020B0503020204020204" pitchFamily="34" charset="-122"/>
              </a:rPr>
              <a:t>b</a:t>
            </a:r>
            <a:r>
              <a:rPr lang="zh-CN" altLang="en-US" sz="1200">
                <a:latin typeface="微软雅黑" panose="020B0503020204020204" pitchFamily="34" charset="-122"/>
                <a:ea typeface="微软雅黑" panose="020B0503020204020204" pitchFamily="34" charset="-122"/>
              </a:rPr>
              <a:t>）浮泳鱼潜在生物量和（</a:t>
            </a:r>
            <a:r>
              <a:rPr lang="en-US" altLang="zh-CN" sz="1200">
                <a:latin typeface="微软雅黑" panose="020B0503020204020204" pitchFamily="34" charset="-122"/>
                <a:ea typeface="微软雅黑" panose="020B0503020204020204" pitchFamily="34" charset="-122"/>
              </a:rPr>
              <a:t>c</a:t>
            </a:r>
            <a:r>
              <a:rPr lang="zh-CN" altLang="en-US" sz="1200">
                <a:latin typeface="微软雅黑" panose="020B0503020204020204" pitchFamily="34" charset="-122"/>
                <a:ea typeface="微软雅黑" panose="020B0503020204020204" pitchFamily="34" charset="-122"/>
              </a:rPr>
              <a:t>）底栖鱼潜在生物量</a:t>
            </a:r>
          </a:p>
        </p:txBody>
      </p:sp>
      <p:pic>
        <p:nvPicPr>
          <p:cNvPr id="3" name="图片 2">
            <a:extLst>
              <a:ext uri="{FF2B5EF4-FFF2-40B4-BE49-F238E27FC236}">
                <a16:creationId xmlns:a16="http://schemas.microsoft.com/office/drawing/2014/main" id="{006BB9CB-A5D6-A30B-7B2D-3D0AA6CE5BC6}"/>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bwMode="auto">
          <a:xfrm>
            <a:off x="550854" y="584775"/>
            <a:ext cx="4733169" cy="3651608"/>
          </a:xfrm>
          <a:prstGeom prst="rect">
            <a:avLst/>
          </a:prstGeom>
          <a:noFill/>
          <a:ln>
            <a:noFill/>
          </a:ln>
        </p:spPr>
      </p:pic>
      <p:pic>
        <p:nvPicPr>
          <p:cNvPr id="9" name="图片 8">
            <a:extLst>
              <a:ext uri="{FF2B5EF4-FFF2-40B4-BE49-F238E27FC236}">
                <a16:creationId xmlns:a16="http://schemas.microsoft.com/office/drawing/2014/main" id="{E5BEB831-2F57-705C-1A93-ACEFBEED339E}"/>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6887858" y="587924"/>
            <a:ext cx="4631701" cy="3680886"/>
          </a:xfrm>
          <a:prstGeom prst="rect">
            <a:avLst/>
          </a:prstGeom>
          <a:noFill/>
          <a:ln>
            <a:noFill/>
          </a:ln>
        </p:spPr>
      </p:pic>
      <p:sp>
        <p:nvSpPr>
          <p:cNvPr id="10" name="Rectangle 2">
            <a:extLst>
              <a:ext uri="{FF2B5EF4-FFF2-40B4-BE49-F238E27FC236}">
                <a16:creationId xmlns:a16="http://schemas.microsoft.com/office/drawing/2014/main" id="{AC59842A-89EB-4DFC-2FE1-4BA3B270AC72}"/>
              </a:ext>
            </a:extLst>
          </p:cNvPr>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文本框 10">
            <a:extLst>
              <a:ext uri="{FF2B5EF4-FFF2-40B4-BE49-F238E27FC236}">
                <a16:creationId xmlns:a16="http://schemas.microsoft.com/office/drawing/2014/main" id="{AC57E4C4-9BB2-5FEE-38BC-FC9E23BB1891}"/>
              </a:ext>
            </a:extLst>
          </p:cNvPr>
          <p:cNvSpPr txBox="1"/>
          <p:nvPr/>
        </p:nvSpPr>
        <p:spPr>
          <a:xfrm>
            <a:off x="120262" y="5164871"/>
            <a:ext cx="12085781" cy="1289905"/>
          </a:xfrm>
          <a:prstGeom prst="rect">
            <a:avLst/>
          </a:prstGeom>
          <a:noFill/>
        </p:spPr>
        <p:txBody>
          <a:bodyPr wrap="square" rtlCol="0">
            <a:spAutoFit/>
          </a:bodyPr>
          <a:lstStyle/>
          <a:p>
            <a:pPr algn="just">
              <a:lnSpc>
                <a:spcPct val="150000"/>
              </a:lnSpc>
            </a:pPr>
            <a:r>
              <a:rPr lang="zh-CN" altLang="en-US">
                <a:solidFill>
                  <a:schemeClr val="accent5"/>
                </a:solidFill>
                <a:latin typeface="微软雅黑" panose="020B0503020204020204" pitchFamily="34" charset="-122"/>
                <a:ea typeface="微软雅黑" panose="020B0503020204020204" pitchFamily="34" charset="-122"/>
              </a:rPr>
              <a:t>赤道印度洋区域</a:t>
            </a:r>
            <a:r>
              <a:rPr lang="zh-CN" altLang="en-US" sz="1600">
                <a:latin typeface="微软雅黑" panose="020B0503020204020204" pitchFamily="34" charset="-122"/>
                <a:ea typeface="微软雅黑" panose="020B0503020204020204" pitchFamily="34" charset="-122"/>
              </a:rPr>
              <a:t>：饵料鱼生物量下降</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2000-2020</a:t>
            </a:r>
            <a:r>
              <a:rPr lang="zh-CN" altLang="en-US" sz="1600">
                <a:latin typeface="微软雅黑" panose="020B0503020204020204" pitchFamily="34" charset="-122"/>
                <a:ea typeface="微软雅黑" panose="020B0503020204020204" pitchFamily="34" charset="-122"/>
              </a:rPr>
              <a:t>年，浮泳鱼生物量下降</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1980-2000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a:solidFill>
                  <a:schemeClr val="accent1"/>
                </a:solidFill>
                <a:latin typeface="微软雅黑" panose="020B0503020204020204" pitchFamily="34" charset="-122"/>
                <a:ea typeface="微软雅黑" panose="020B0503020204020204" pitchFamily="34" charset="-122"/>
              </a:rPr>
              <a:t>南极绕极流区域</a:t>
            </a:r>
            <a:r>
              <a:rPr lang="zh-CN" altLang="en-US" sz="1600">
                <a:latin typeface="微软雅黑" panose="020B0503020204020204" pitchFamily="34" charset="-122"/>
                <a:ea typeface="微软雅黑" panose="020B0503020204020204" pitchFamily="34" charset="-122"/>
              </a:rPr>
              <a:t>：饵料鱼生物量上升</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2000-2020</a:t>
            </a:r>
            <a:r>
              <a:rPr lang="zh-CN" altLang="en-US" sz="1600">
                <a:latin typeface="微软雅黑" panose="020B0503020204020204" pitchFamily="34" charset="-122"/>
                <a:ea typeface="微软雅黑" panose="020B0503020204020204" pitchFamily="34" charset="-122"/>
              </a:rPr>
              <a:t>年，浮泳鱼生物量上升</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2000-2020</a:t>
            </a:r>
            <a:r>
              <a:rPr lang="zh-CN" altLang="en-US" sz="1600">
                <a:latin typeface="微软雅黑" panose="020B0503020204020204" pitchFamily="34" charset="-122"/>
                <a:ea typeface="微软雅黑" panose="020B0503020204020204" pitchFamily="34" charset="-122"/>
              </a:rPr>
              <a:t>年</a:t>
            </a:r>
            <a:endParaRPr lang="en-US" altLang="zh-CN" sz="1600">
              <a:latin typeface="微软雅黑" panose="020B0503020204020204" pitchFamily="34" charset="-122"/>
              <a:ea typeface="微软雅黑" panose="020B0503020204020204" pitchFamily="34" charset="-122"/>
            </a:endParaRPr>
          </a:p>
          <a:p>
            <a:pPr algn="just">
              <a:lnSpc>
                <a:spcPct val="150000"/>
              </a:lnSpc>
            </a:pPr>
            <a:r>
              <a:rPr lang="zh-CN" altLang="en-US">
                <a:solidFill>
                  <a:schemeClr val="tx2"/>
                </a:solidFill>
                <a:latin typeface="微软雅黑" panose="020B0503020204020204" pitchFamily="34" charset="-122"/>
                <a:ea typeface="微软雅黑" panose="020B0503020204020204" pitchFamily="34" charset="-122"/>
              </a:rPr>
              <a:t>南极大陆架边缘区域</a:t>
            </a:r>
            <a:r>
              <a:rPr lang="zh-CN" altLang="en-US" sz="1600">
                <a:latin typeface="微软雅黑" panose="020B0503020204020204" pitchFamily="34" charset="-122"/>
                <a:ea typeface="微软雅黑" panose="020B0503020204020204" pitchFamily="34" charset="-122"/>
              </a:rPr>
              <a:t>：底栖鱼生物量上升</a:t>
            </a:r>
            <a:r>
              <a:rPr lang="en-US" altLang="zh-CN" sz="1600">
                <a:latin typeface="微软雅黑" panose="020B0503020204020204" pitchFamily="34" charset="-122"/>
                <a:ea typeface="微软雅黑" panose="020B0503020204020204" pitchFamily="34" charset="-122"/>
              </a:rPr>
              <a:t>ToE</a:t>
            </a:r>
            <a:r>
              <a:rPr lang="zh-CN" altLang="en-US" sz="1600">
                <a:latin typeface="微软雅黑" panose="020B0503020204020204" pitchFamily="34" charset="-122"/>
                <a:ea typeface="微软雅黑" panose="020B0503020204020204" pitchFamily="34" charset="-122"/>
              </a:rPr>
              <a:t>为</a:t>
            </a:r>
            <a:r>
              <a:rPr lang="en-US" altLang="zh-CN" sz="1600">
                <a:latin typeface="微软雅黑" panose="020B0503020204020204" pitchFamily="34" charset="-122"/>
                <a:ea typeface="微软雅黑" panose="020B0503020204020204" pitchFamily="34" charset="-122"/>
              </a:rPr>
              <a:t>2000-2020</a:t>
            </a:r>
            <a:r>
              <a:rPr lang="zh-CN" altLang="en-US" sz="1600">
                <a:latin typeface="微软雅黑" panose="020B0503020204020204" pitchFamily="34" charset="-122"/>
                <a:ea typeface="微软雅黑" panose="020B0503020204020204" pitchFamily="34" charset="-122"/>
              </a:rPr>
              <a:t>年</a:t>
            </a:r>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3595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24671-0069-F72A-A356-2F857BB691D2}"/>
            </a:ext>
          </a:extLst>
        </p:cNvPr>
        <p:cNvGrpSpPr/>
        <p:nvPr/>
      </p:nvGrpSpPr>
      <p:grpSpPr>
        <a:xfrm>
          <a:off x="0" y="0"/>
          <a:ext cx="0" cy="0"/>
          <a:chOff x="0" y="0"/>
          <a:chExt cx="0" cy="0"/>
        </a:xfrm>
      </p:grpSpPr>
      <p:sp>
        <p:nvSpPr>
          <p:cNvPr id="14" name="矩形: 圆角 13">
            <a:extLst>
              <a:ext uri="{FF2B5EF4-FFF2-40B4-BE49-F238E27FC236}">
                <a16:creationId xmlns:a16="http://schemas.microsoft.com/office/drawing/2014/main" id="{11967025-B673-76A9-9B74-B31B650433BB}"/>
              </a:ext>
            </a:extLst>
          </p:cNvPr>
          <p:cNvSpPr/>
          <p:nvPr/>
        </p:nvSpPr>
        <p:spPr>
          <a:xfrm>
            <a:off x="5092995" y="3272227"/>
            <a:ext cx="6801313" cy="2843403"/>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B2EEE782-CE00-5E81-8611-D89F60A62DC0}"/>
              </a:ext>
            </a:extLst>
          </p:cNvPr>
          <p:cNvSpPr/>
          <p:nvPr/>
        </p:nvSpPr>
        <p:spPr>
          <a:xfrm>
            <a:off x="74420" y="3272228"/>
            <a:ext cx="4736613" cy="172755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3BA2FA5E-E180-E692-589D-2957ADB6F08A}"/>
              </a:ext>
            </a:extLst>
          </p:cNvPr>
          <p:cNvSpPr/>
          <p:nvPr/>
        </p:nvSpPr>
        <p:spPr>
          <a:xfrm>
            <a:off x="5324543" y="1609136"/>
            <a:ext cx="6569765" cy="1265275"/>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1E0278B9-6A3B-CA64-4165-C870CAE57AFA}"/>
              </a:ext>
            </a:extLst>
          </p:cNvPr>
          <p:cNvSpPr/>
          <p:nvPr/>
        </p:nvSpPr>
        <p:spPr>
          <a:xfrm>
            <a:off x="74420" y="1609137"/>
            <a:ext cx="4789780" cy="1265275"/>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 name="Rectangle 1">
            <a:extLst>
              <a:ext uri="{FF2B5EF4-FFF2-40B4-BE49-F238E27FC236}">
                <a16:creationId xmlns:a16="http://schemas.microsoft.com/office/drawing/2014/main" id="{25151FFC-5FE8-963C-FE78-AE0AC74069EE}"/>
              </a:ext>
            </a:extLst>
          </p:cNvPr>
          <p:cNvSpPr/>
          <p:nvPr/>
        </p:nvSpPr>
        <p:spPr>
          <a:xfrm>
            <a:off x="0" y="-1"/>
            <a:ext cx="12191695" cy="748729"/>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CD4DCB9-1BCF-0CE1-8F61-29CF92F7AC61}"/>
              </a:ext>
            </a:extLst>
          </p:cNvPr>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79C0D4D5-F1E7-84D2-DA79-329179FE8DCC}"/>
              </a:ext>
            </a:extLst>
          </p:cNvPr>
          <p:cNvSpPr txBox="1"/>
          <p:nvPr/>
        </p:nvSpPr>
        <p:spPr>
          <a:xfrm>
            <a:off x="-376442" y="51197"/>
            <a:ext cx="2954655" cy="646331"/>
          </a:xfrm>
          <a:prstGeom prst="rect">
            <a:avLst/>
          </a:prstGeom>
          <a:noFill/>
        </p:spPr>
        <p:txBody>
          <a:bodyPr wrap="none">
            <a:spAutoFit/>
          </a:bodyPr>
          <a:lstStyle/>
          <a:p>
            <a:pPr lvl="1"/>
            <a:r>
              <a:rPr lang="zh-CN" altLang="en-US" sz="3600" b="1">
                <a:solidFill>
                  <a:schemeClr val="bg1"/>
                </a:solidFill>
                <a:latin typeface="微软雅黑" panose="020B0503020204020204" pitchFamily="34" charset="-122"/>
                <a:ea typeface="微软雅黑" panose="020B0503020204020204" pitchFamily="34" charset="-122"/>
              </a:rPr>
              <a:t>结论和不足</a:t>
            </a:r>
          </a:p>
        </p:txBody>
      </p:sp>
      <p:sp>
        <p:nvSpPr>
          <p:cNvPr id="7" name="文本框 6">
            <a:extLst>
              <a:ext uri="{FF2B5EF4-FFF2-40B4-BE49-F238E27FC236}">
                <a16:creationId xmlns:a16="http://schemas.microsoft.com/office/drawing/2014/main" id="{79A6FBEA-D54C-9893-FB58-0317DA311241}"/>
              </a:ext>
            </a:extLst>
          </p:cNvPr>
          <p:cNvSpPr txBox="1"/>
          <p:nvPr/>
        </p:nvSpPr>
        <p:spPr>
          <a:xfrm>
            <a:off x="5324543" y="873476"/>
            <a:ext cx="6569765" cy="5157950"/>
          </a:xfrm>
          <a:prstGeom prst="rect">
            <a:avLst/>
          </a:prstGeom>
          <a:noFill/>
        </p:spPr>
        <p:txBody>
          <a:bodyPr wrap="square" rtlCol="0">
            <a:spAutoFit/>
          </a:bodyPr>
          <a:lstStyle/>
          <a:p>
            <a:pPr>
              <a:lnSpc>
                <a:spcPct val="150000"/>
              </a:lnSpc>
            </a:pPr>
            <a:r>
              <a:rPr lang="zh-CN" altLang="en-US" sz="3200">
                <a:solidFill>
                  <a:schemeClr val="accent1"/>
                </a:solidFill>
                <a:latin typeface="微软雅黑" panose="020B0503020204020204" pitchFamily="34" charset="-122"/>
                <a:ea typeface="微软雅黑" panose="020B0503020204020204" pitchFamily="34" charset="-122"/>
              </a:rPr>
              <a:t>结论</a:t>
            </a:r>
            <a:endParaRPr lang="en-US" altLang="zh-CN" sz="2000">
              <a:latin typeface="微软雅黑" panose="020B0503020204020204" pitchFamily="34" charset="-122"/>
              <a:ea typeface="微软雅黑" panose="020B0503020204020204" pitchFamily="34" charset="-122"/>
            </a:endParaRPr>
          </a:p>
          <a:p>
            <a:pPr>
              <a:lnSpc>
                <a:spcPct val="150000"/>
              </a:lnSpc>
            </a:pPr>
            <a:r>
              <a:rPr lang="zh-CN" altLang="en-US" sz="2000">
                <a:latin typeface="微软雅黑" panose="020B0503020204020204" pitchFamily="34" charset="-122"/>
                <a:ea typeface="微软雅黑" panose="020B0503020204020204" pitchFamily="34" charset="-122"/>
              </a:rPr>
              <a:t>鱼类功能群变量通常会更早从自然变率中显现出人为气候变化信号，环境变量次之，低营养级变量最晚</a:t>
            </a:r>
            <a:endParaRPr lang="en-US" altLang="zh-CN" sz="2000">
              <a:latin typeface="微软雅黑" panose="020B0503020204020204" pitchFamily="34" charset="-122"/>
              <a:ea typeface="微软雅黑" panose="020B0503020204020204" pitchFamily="34" charset="-122"/>
            </a:endParaRPr>
          </a:p>
          <a:p>
            <a:pPr>
              <a:lnSpc>
                <a:spcPct val="150000"/>
              </a:lnSpc>
            </a:pPr>
            <a:endParaRPr lang="en-US" altLang="zh-CN" sz="2000">
              <a:latin typeface="微软雅黑" panose="020B0503020204020204" pitchFamily="34" charset="-122"/>
              <a:ea typeface="微软雅黑" panose="020B0503020204020204" pitchFamily="34" charset="-122"/>
            </a:endParaRPr>
          </a:p>
          <a:p>
            <a:endParaRPr lang="en-US" altLang="zh-CN" sz="2000">
              <a:latin typeface="微软雅黑" panose="020B0503020204020204" pitchFamily="34" charset="-122"/>
              <a:ea typeface="微软雅黑" panose="020B0503020204020204" pitchFamily="34" charset="-122"/>
            </a:endParaRPr>
          </a:p>
          <a:p>
            <a:pPr>
              <a:lnSpc>
                <a:spcPct val="150000"/>
              </a:lnSpc>
            </a:pPr>
            <a:r>
              <a:rPr lang="zh-CN" altLang="en-US" sz="2000">
                <a:latin typeface="微软雅黑" panose="020B0503020204020204" pitchFamily="34" charset="-122"/>
                <a:ea typeface="微软雅黑" panose="020B0503020204020204" pitchFamily="34" charset="-122"/>
              </a:rPr>
              <a:t>环境变量首先响应气候强迫，改变浮游植物群落结构，净初级生产力、浮游动物以及底层颗粒有机碳通量进一步通过食物网影响高级营养级生物，而鱼类功能群则在食物供给变化、温度升高以及栖息地变化等多重生态压力共同作用下表现出更加复杂且具有放大效应的响应特征</a:t>
            </a:r>
            <a:endParaRPr lang="en-US" altLang="zh-CN" sz="200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3AA0574A-1673-D6FB-A7F5-DE007129DAC5}"/>
              </a:ext>
            </a:extLst>
          </p:cNvPr>
          <p:cNvSpPr txBox="1"/>
          <p:nvPr/>
        </p:nvSpPr>
        <p:spPr>
          <a:xfrm>
            <a:off x="100899" y="893938"/>
            <a:ext cx="4789780" cy="4089709"/>
          </a:xfrm>
          <a:prstGeom prst="rect">
            <a:avLst/>
          </a:prstGeom>
          <a:noFill/>
        </p:spPr>
        <p:txBody>
          <a:bodyPr wrap="square" rtlCol="0">
            <a:spAutoFit/>
          </a:bodyPr>
          <a:lstStyle/>
          <a:p>
            <a:pPr>
              <a:lnSpc>
                <a:spcPct val="150000"/>
              </a:lnSpc>
            </a:pPr>
            <a:r>
              <a:rPr lang="zh-CN" altLang="en-US" sz="3200">
                <a:solidFill>
                  <a:schemeClr val="accent1"/>
                </a:solidFill>
                <a:latin typeface="微软雅黑" panose="020B0503020204020204" pitchFamily="34" charset="-122"/>
                <a:ea typeface="微软雅黑" panose="020B0503020204020204" pitchFamily="34" charset="-122"/>
              </a:rPr>
              <a:t>科学问题</a:t>
            </a:r>
            <a:endParaRPr lang="en-US" altLang="zh-CN" sz="2400">
              <a:latin typeface="微软雅黑" panose="020B0503020204020204" pitchFamily="34" charset="-122"/>
              <a:ea typeface="微软雅黑" panose="020B0503020204020204" pitchFamily="34" charset="-122"/>
            </a:endParaRPr>
          </a:p>
          <a:p>
            <a:pPr>
              <a:lnSpc>
                <a:spcPct val="150000"/>
              </a:lnSpc>
            </a:pPr>
            <a:r>
              <a:rPr lang="zh-CN" altLang="zh-CN" sz="2400">
                <a:latin typeface="微软雅黑" panose="020B0503020204020204" pitchFamily="34" charset="-122"/>
                <a:ea typeface="微软雅黑" panose="020B0503020204020204" pitchFamily="34" charset="-122"/>
              </a:rPr>
              <a:t>哪些变量更早从自然变率中显现出人为气候变化信号</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a:lnSpc>
                <a:spcPct val="150000"/>
              </a:lnSpc>
            </a:pPr>
            <a:endParaRPr lang="en-US" altLang="zh-CN" sz="2400">
              <a:latin typeface="微软雅黑" panose="020B0503020204020204" pitchFamily="34" charset="-122"/>
              <a:ea typeface="微软雅黑" panose="020B0503020204020204" pitchFamily="34" charset="-122"/>
            </a:endParaRPr>
          </a:p>
          <a:p>
            <a:pPr>
              <a:lnSpc>
                <a:spcPct val="150000"/>
              </a:lnSpc>
            </a:pPr>
            <a:r>
              <a:rPr lang="zh-CN" altLang="zh-CN" sz="2400">
                <a:latin typeface="微软雅黑" panose="020B0503020204020204" pitchFamily="34" charset="-122"/>
                <a:ea typeface="微软雅黑" panose="020B0503020204020204" pitchFamily="34" charset="-122"/>
              </a:rPr>
              <a:t>不同生态层级的</a:t>
            </a:r>
            <a:r>
              <a:rPr lang="en-US" altLang="zh-CN" sz="2400">
                <a:latin typeface="微软雅黑" panose="020B0503020204020204" pitchFamily="34" charset="-122"/>
                <a:ea typeface="微软雅黑" panose="020B0503020204020204" pitchFamily="34" charset="-122"/>
              </a:rPr>
              <a:t>ToE</a:t>
            </a:r>
            <a:r>
              <a:rPr lang="zh-CN" altLang="zh-CN" sz="2400">
                <a:latin typeface="微软雅黑" panose="020B0503020204020204" pitchFamily="34" charset="-122"/>
                <a:ea typeface="微软雅黑" panose="020B0503020204020204" pitchFamily="34" charset="-122"/>
              </a:rPr>
              <a:t>是否能够反映气候变化信号在海洋生态系统中的传播机制及其营养级放大过程</a:t>
            </a:r>
            <a:r>
              <a:rPr lang="zh-CN" altLang="en-US" sz="2400">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7CFBB68E-CEDD-591A-770B-56C859F7832C}"/>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1</a:t>
            </a:r>
            <a:r>
              <a:rPr lang="en-US" altLang="zh-CN" sz="1200">
                <a:solidFill>
                  <a:srgbClr val="556370"/>
                </a:solidFill>
                <a:latin typeface="Microsoft YaHei"/>
              </a:rPr>
              <a:t>4</a:t>
            </a:r>
            <a:endParaRPr lang="en-US" altLang="zh-CN" sz="1200" b="0">
              <a:solidFill>
                <a:srgbClr val="556370"/>
              </a:solidFill>
              <a:latin typeface="Microsoft YaHei"/>
            </a:endParaRPr>
          </a:p>
        </p:txBody>
      </p:sp>
      <p:cxnSp>
        <p:nvCxnSpPr>
          <p:cNvPr id="12" name="直接箭头连接符 11">
            <a:extLst>
              <a:ext uri="{FF2B5EF4-FFF2-40B4-BE49-F238E27FC236}">
                <a16:creationId xmlns:a16="http://schemas.microsoft.com/office/drawing/2014/main" id="{C1F71C9D-F5D1-7B50-1195-4F120DD1459E}"/>
              </a:ext>
            </a:extLst>
          </p:cNvPr>
          <p:cNvCxnSpPr>
            <a:stCxn id="8" idx="3"/>
            <a:endCxn id="9" idx="1"/>
          </p:cNvCxnSpPr>
          <p:nvPr/>
        </p:nvCxnSpPr>
        <p:spPr>
          <a:xfrm flipV="1">
            <a:off x="4864200" y="2241774"/>
            <a:ext cx="460343"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直接箭头连接符 15">
            <a:extLst>
              <a:ext uri="{FF2B5EF4-FFF2-40B4-BE49-F238E27FC236}">
                <a16:creationId xmlns:a16="http://schemas.microsoft.com/office/drawing/2014/main" id="{1966742B-1B17-BE63-62B9-0A9C0AE8CA98}"/>
              </a:ext>
            </a:extLst>
          </p:cNvPr>
          <p:cNvCxnSpPr>
            <a:cxnSpLocks/>
          </p:cNvCxnSpPr>
          <p:nvPr/>
        </p:nvCxnSpPr>
        <p:spPr>
          <a:xfrm>
            <a:off x="4811033" y="4114800"/>
            <a:ext cx="28196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753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ACD65-AD05-44C6-F259-6C996786C3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0CFFE22-E609-5CA0-7127-14576F318FBC}"/>
              </a:ext>
            </a:extLst>
          </p:cNvPr>
          <p:cNvSpPr/>
          <p:nvPr/>
        </p:nvSpPr>
        <p:spPr>
          <a:xfrm>
            <a:off x="0" y="-1"/>
            <a:ext cx="12191695" cy="748729"/>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80B352C-8B7A-876A-2BB4-2C3D2DC06AAF}"/>
              </a:ext>
            </a:extLst>
          </p:cNvPr>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BBE6B11-1D1A-ECBB-DE95-114AC7FC1881}"/>
              </a:ext>
            </a:extLst>
          </p:cNvPr>
          <p:cNvSpPr txBox="1"/>
          <p:nvPr/>
        </p:nvSpPr>
        <p:spPr>
          <a:xfrm>
            <a:off x="-376442" y="51197"/>
            <a:ext cx="2954655" cy="646331"/>
          </a:xfrm>
          <a:prstGeom prst="rect">
            <a:avLst/>
          </a:prstGeom>
          <a:noFill/>
        </p:spPr>
        <p:txBody>
          <a:bodyPr wrap="none">
            <a:spAutoFit/>
          </a:bodyPr>
          <a:lstStyle/>
          <a:p>
            <a:pPr lvl="1"/>
            <a:r>
              <a:rPr lang="zh-CN" altLang="en-US" sz="3600" b="1">
                <a:solidFill>
                  <a:schemeClr val="bg1"/>
                </a:solidFill>
                <a:latin typeface="微软雅黑" panose="020B0503020204020204" pitchFamily="34" charset="-122"/>
                <a:ea typeface="微软雅黑" panose="020B0503020204020204" pitchFamily="34" charset="-122"/>
              </a:rPr>
              <a:t>结论和不足</a:t>
            </a:r>
          </a:p>
        </p:txBody>
      </p:sp>
      <p:sp>
        <p:nvSpPr>
          <p:cNvPr id="4" name="文本框 3">
            <a:extLst>
              <a:ext uri="{FF2B5EF4-FFF2-40B4-BE49-F238E27FC236}">
                <a16:creationId xmlns:a16="http://schemas.microsoft.com/office/drawing/2014/main" id="{CB8A0DCF-2FDA-9B82-FA44-E1553C832EFF}"/>
              </a:ext>
            </a:extLst>
          </p:cNvPr>
          <p:cNvSpPr txBox="1"/>
          <p:nvPr/>
        </p:nvSpPr>
        <p:spPr>
          <a:xfrm>
            <a:off x="-1" y="799926"/>
            <a:ext cx="12055367" cy="5447645"/>
          </a:xfrm>
          <a:prstGeom prst="rect">
            <a:avLst/>
          </a:prstGeom>
          <a:noFill/>
        </p:spPr>
        <p:txBody>
          <a:bodyPr wrap="square" rtlCol="0">
            <a:spAutoFit/>
          </a:bodyPr>
          <a:lstStyle/>
          <a:p>
            <a:r>
              <a:rPr lang="zh-CN" altLang="en-US" sz="3200">
                <a:solidFill>
                  <a:schemeClr val="accent5"/>
                </a:solidFill>
                <a:latin typeface="微软雅黑" panose="020B0503020204020204" pitchFamily="34" charset="-122"/>
                <a:ea typeface="微软雅黑" panose="020B0503020204020204" pitchFamily="34" charset="-122"/>
              </a:rPr>
              <a:t>研究不足</a:t>
            </a:r>
            <a:endParaRPr lang="en-US" altLang="zh-CN" sz="3200">
              <a:solidFill>
                <a:schemeClr val="accent5"/>
              </a:solidFill>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研究</a:t>
            </a:r>
            <a:r>
              <a:rPr lang="zh-CN" altLang="zh-CN" sz="2400">
                <a:latin typeface="微软雅黑" panose="020B0503020204020204" pitchFamily="34" charset="-122"/>
                <a:ea typeface="微软雅黑" panose="020B0503020204020204" pitchFamily="34" charset="-122"/>
              </a:rPr>
              <a:t>只选取</a:t>
            </a:r>
            <a:r>
              <a:rPr lang="en-US" altLang="zh-CN" sz="2400">
                <a:latin typeface="微软雅黑" panose="020B0503020204020204" pitchFamily="34" charset="-122"/>
                <a:ea typeface="微软雅黑" panose="020B0503020204020204" pitchFamily="34" charset="-122"/>
              </a:rPr>
              <a:t>CESM2-LE</a:t>
            </a:r>
            <a:r>
              <a:rPr lang="zh-CN" altLang="zh-CN" sz="2400">
                <a:latin typeface="微软雅黑" panose="020B0503020204020204" pitchFamily="34" charset="-122"/>
                <a:ea typeface="微软雅黑" panose="020B0503020204020204" pitchFamily="34" charset="-122"/>
              </a:rPr>
              <a:t>中</a:t>
            </a:r>
            <a:r>
              <a:rPr lang="en-US" altLang="zh-CN" sz="2400">
                <a:latin typeface="微软雅黑" panose="020B0503020204020204" pitchFamily="34" charset="-122"/>
                <a:ea typeface="微软雅黑" panose="020B0503020204020204" pitchFamily="34" charset="-122"/>
              </a:rPr>
              <a:t>10</a:t>
            </a:r>
            <a:r>
              <a:rPr lang="zh-CN" altLang="zh-CN" sz="2400">
                <a:latin typeface="微软雅黑" panose="020B0503020204020204" pitchFamily="34" charset="-122"/>
                <a:ea typeface="微软雅黑" panose="020B0503020204020204" pitchFamily="34" charset="-122"/>
              </a:rPr>
              <a:t>个集合成员的模拟数据，并未覆盖全部可用集合成员，对内部自然变率的估计仍不够充分</a:t>
            </a:r>
            <a:endParaRPr lang="en-US" altLang="zh-CN" sz="2400">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en-US" altLang="zh-CN" sz="2400">
                <a:latin typeface="微软雅黑" panose="020B0503020204020204" pitchFamily="34" charset="-122"/>
                <a:ea typeface="微软雅黑" panose="020B0503020204020204" pitchFamily="34" charset="-122"/>
              </a:rPr>
              <a:t>CESM2-FEISTY</a:t>
            </a:r>
            <a:r>
              <a:rPr lang="zh-CN" altLang="en-US" sz="2400">
                <a:latin typeface="微软雅黑" panose="020B0503020204020204" pitchFamily="34" charset="-122"/>
                <a:ea typeface="微软雅黑" panose="020B0503020204020204" pitchFamily="34" charset="-122"/>
              </a:rPr>
              <a:t>模型为离线模拟，鱼类功能群与强迫变量之间缺乏双向耦合关系，难以完全真实反映海洋生态系统中鱼类与环境之间复杂的反馈过程</a:t>
            </a:r>
            <a:endParaRPr lang="en-US" altLang="zh-CN" sz="2400">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本研究</a:t>
            </a:r>
            <a:r>
              <a:rPr lang="en-US" altLang="zh-CN" sz="2400">
                <a:latin typeface="微软雅黑" panose="020B0503020204020204" pitchFamily="34" charset="-122"/>
                <a:ea typeface="微软雅黑" panose="020B0503020204020204" pitchFamily="34" charset="-122"/>
              </a:rPr>
              <a:t>ToE</a:t>
            </a:r>
            <a:r>
              <a:rPr lang="zh-CN" altLang="en-US" sz="2400">
                <a:latin typeface="微软雅黑" panose="020B0503020204020204" pitchFamily="34" charset="-122"/>
                <a:ea typeface="微软雅黑" panose="020B0503020204020204" pitchFamily="34" charset="-122"/>
              </a:rPr>
              <a:t>采用“超过阈值并持续</a:t>
            </a:r>
            <a:r>
              <a:rPr lang="en-US" altLang="zh-CN" sz="2400">
                <a:latin typeface="微软雅黑" panose="020B0503020204020204" pitchFamily="34" charset="-122"/>
                <a:ea typeface="微软雅黑" panose="020B0503020204020204" pitchFamily="34" charset="-122"/>
              </a:rPr>
              <a:t>5</a:t>
            </a:r>
            <a:r>
              <a:rPr lang="zh-CN" altLang="en-US" sz="2400">
                <a:latin typeface="微软雅黑" panose="020B0503020204020204" pitchFamily="34" charset="-122"/>
                <a:ea typeface="微软雅黑" panose="020B0503020204020204" pitchFamily="34" charset="-122"/>
              </a:rPr>
              <a:t>年”的判定标准，对于自然变率较强的海区难以识别到</a:t>
            </a:r>
            <a:r>
              <a:rPr lang="en-US" altLang="zh-CN" sz="2400">
                <a:latin typeface="微软雅黑" panose="020B0503020204020204" pitchFamily="34" charset="-122"/>
                <a:ea typeface="微软雅黑" panose="020B0503020204020204" pitchFamily="34" charset="-122"/>
              </a:rPr>
              <a:t>ToE</a:t>
            </a:r>
            <a:r>
              <a:rPr lang="zh-CN" altLang="en-US" sz="2400">
                <a:latin typeface="微软雅黑" panose="020B0503020204020204" pitchFamily="34" charset="-122"/>
                <a:ea typeface="微软雅黑" panose="020B0503020204020204" pitchFamily="34" charset="-122"/>
              </a:rPr>
              <a:t>，而在自然变率较弱海区，较小的长期趋势也可能较早越过阈值</a:t>
            </a:r>
            <a:endParaRPr lang="en-US" altLang="zh-CN" sz="2400">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尚未充分考虑物种迁移、生态适应以及渔业开发活动等过程对海洋生态系统的影响，未来仍需结合渔业开发情景，对海洋生态系统气候风险进行更综合、更高分辨率的评估</a:t>
            </a:r>
            <a:endParaRPr lang="en-US" altLang="zh-CN" sz="2400">
              <a:latin typeface="微软雅黑" panose="020B0503020204020204" pitchFamily="34" charset="-122"/>
              <a:ea typeface="微软雅黑" panose="020B0503020204020204" pitchFamily="34" charset="-122"/>
            </a:endParaRPr>
          </a:p>
          <a:p>
            <a:endParaRPr lang="zh-CN" altLang="en-US" sz="280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B89B1509-7806-6F9E-2BC7-6B373988551D}"/>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15</a:t>
            </a:r>
          </a:p>
        </p:txBody>
      </p:sp>
    </p:spTree>
    <p:extLst>
      <p:ext uri="{BB962C8B-B14F-4D97-AF65-F5344CB8AC3E}">
        <p14:creationId xmlns:p14="http://schemas.microsoft.com/office/powerpoint/2010/main" val="3827607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ACD65-AD05-44C6-F259-6C996786C35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0CFFE22-E609-5CA0-7127-14576F318FBC}"/>
              </a:ext>
            </a:extLst>
          </p:cNvPr>
          <p:cNvSpPr/>
          <p:nvPr/>
        </p:nvSpPr>
        <p:spPr>
          <a:xfrm>
            <a:off x="0" y="-1"/>
            <a:ext cx="12191695" cy="748729"/>
          </a:xfrm>
          <a:prstGeom prst="rect">
            <a:avLst/>
          </a:prstGeom>
          <a:solidFill>
            <a:srgbClr val="0053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80B352C-8B7A-876A-2BB4-2C3D2DC06AAF}"/>
              </a:ext>
            </a:extLst>
          </p:cNvPr>
          <p:cNvSpPr/>
          <p:nvPr/>
        </p:nvSpPr>
        <p:spPr>
          <a:xfrm>
            <a:off x="0" y="6748272"/>
            <a:ext cx="12191695" cy="109728"/>
          </a:xfrm>
          <a:prstGeom prst="rect">
            <a:avLst/>
          </a:prstGeom>
          <a:solidFill>
            <a:srgbClr val="0088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BBE6B11-1D1A-ECBB-DE95-114AC7FC1881}"/>
              </a:ext>
            </a:extLst>
          </p:cNvPr>
          <p:cNvSpPr txBox="1"/>
          <p:nvPr/>
        </p:nvSpPr>
        <p:spPr>
          <a:xfrm>
            <a:off x="-376442" y="51197"/>
            <a:ext cx="1569660" cy="646331"/>
          </a:xfrm>
          <a:prstGeom prst="rect">
            <a:avLst/>
          </a:prstGeom>
          <a:noFill/>
        </p:spPr>
        <p:txBody>
          <a:bodyPr wrap="none">
            <a:spAutoFit/>
          </a:bodyPr>
          <a:lstStyle/>
          <a:p>
            <a:pPr lvl="1"/>
            <a:r>
              <a:rPr lang="zh-CN" altLang="en-US" sz="3600" b="1" dirty="0">
                <a:solidFill>
                  <a:schemeClr val="bg1"/>
                </a:solidFill>
                <a:latin typeface="微软雅黑" panose="020B0503020204020204" pitchFamily="34" charset="-122"/>
                <a:ea typeface="微软雅黑" panose="020B0503020204020204" pitchFamily="34" charset="-122"/>
              </a:rPr>
              <a:t>致谢</a:t>
            </a:r>
          </a:p>
        </p:txBody>
      </p:sp>
      <p:sp>
        <p:nvSpPr>
          <p:cNvPr id="5" name="文本框 4">
            <a:extLst>
              <a:ext uri="{FF2B5EF4-FFF2-40B4-BE49-F238E27FC236}">
                <a16:creationId xmlns:a16="http://schemas.microsoft.com/office/drawing/2014/main" id="{B89B1509-7806-6F9E-2BC7-6B373988551D}"/>
              </a:ext>
            </a:extLst>
          </p:cNvPr>
          <p:cNvSpPr txBox="1"/>
          <p:nvPr/>
        </p:nvSpPr>
        <p:spPr>
          <a:xfrm>
            <a:off x="11662673" y="6510983"/>
            <a:ext cx="423108" cy="276999"/>
          </a:xfrm>
          <a:prstGeom prst="rect">
            <a:avLst/>
          </a:prstGeom>
          <a:noFill/>
        </p:spPr>
        <p:txBody>
          <a:bodyPr wrap="square">
            <a:spAutoFit/>
          </a:bodyPr>
          <a:lstStyle/>
          <a:p>
            <a:pPr algn="r"/>
            <a:r>
              <a:rPr lang="en-US" altLang="zh-CN" sz="1200" b="0">
                <a:solidFill>
                  <a:srgbClr val="556370"/>
                </a:solidFill>
                <a:latin typeface="Microsoft YaHei"/>
              </a:rPr>
              <a:t>16</a:t>
            </a:r>
          </a:p>
        </p:txBody>
      </p:sp>
      <p:sp>
        <p:nvSpPr>
          <p:cNvPr id="7" name="文本框 6">
            <a:extLst>
              <a:ext uri="{FF2B5EF4-FFF2-40B4-BE49-F238E27FC236}">
                <a16:creationId xmlns:a16="http://schemas.microsoft.com/office/drawing/2014/main" id="{62A95BC9-E550-AD07-65F6-0BF207DEF2C7}"/>
              </a:ext>
            </a:extLst>
          </p:cNvPr>
          <p:cNvSpPr txBox="1"/>
          <p:nvPr/>
        </p:nvSpPr>
        <p:spPr>
          <a:xfrm>
            <a:off x="-1" y="799926"/>
            <a:ext cx="12085781" cy="2959977"/>
          </a:xfrm>
          <a:prstGeom prst="rect">
            <a:avLst/>
          </a:prstGeom>
          <a:noFill/>
        </p:spPr>
        <p:txBody>
          <a:bodyPr wrap="square">
            <a:spAutoFit/>
          </a:bodyPr>
          <a:lstStyle/>
          <a:p>
            <a:pPr>
              <a:lnSpc>
                <a:spcPct val="150000"/>
              </a:lnSpc>
            </a:pPr>
            <a:r>
              <a:rPr lang="zh-CN" altLang="en-US" sz="3200" b="0" i="0">
                <a:solidFill>
                  <a:srgbClr val="1F2328"/>
                </a:solidFill>
                <a:effectLst/>
                <a:latin typeface="微软雅黑" panose="020B0503020204020204" pitchFamily="34" charset="-122"/>
                <a:ea typeface="微软雅黑" panose="020B0503020204020204" pitchFamily="34" charset="-122"/>
              </a:rPr>
              <a:t>感谢各位老师在论文评阅和答辩过程中提出的宝贵意见</a:t>
            </a:r>
          </a:p>
          <a:p>
            <a:pPr>
              <a:lnSpc>
                <a:spcPct val="150000"/>
              </a:lnSpc>
            </a:pPr>
            <a:r>
              <a:rPr lang="zh-CN" altLang="en-US" sz="3200" b="0" i="0">
                <a:solidFill>
                  <a:srgbClr val="1F2328"/>
                </a:solidFill>
                <a:effectLst/>
                <a:latin typeface="微软雅黑" panose="020B0503020204020204" pitchFamily="34" charset="-122"/>
                <a:ea typeface="微软雅黑" panose="020B0503020204020204" pitchFamily="34" charset="-122"/>
              </a:rPr>
              <a:t>感谢导师在选题设计、研究开展和论文修改过程中给予的悉心指导</a:t>
            </a:r>
          </a:p>
          <a:p>
            <a:pPr>
              <a:lnSpc>
                <a:spcPct val="150000"/>
              </a:lnSpc>
            </a:pPr>
            <a:r>
              <a:rPr lang="zh-CN" altLang="en-US" sz="3200" b="0" i="0">
                <a:solidFill>
                  <a:srgbClr val="1F2328"/>
                </a:solidFill>
                <a:effectLst/>
                <a:latin typeface="微软雅黑" panose="020B0503020204020204" pitchFamily="34" charset="-122"/>
                <a:ea typeface="微软雅黑" panose="020B0503020204020204" pitchFamily="34" charset="-122"/>
              </a:rPr>
              <a:t>感谢课题组师兄师姐在学习与科研过程中给予的帮助与支持</a:t>
            </a:r>
          </a:p>
          <a:p>
            <a:pPr>
              <a:lnSpc>
                <a:spcPct val="150000"/>
              </a:lnSpc>
            </a:pPr>
            <a:r>
              <a:rPr lang="zh-CN" altLang="en-US" sz="3200" b="0" i="0">
                <a:solidFill>
                  <a:srgbClr val="1F2328"/>
                </a:solidFill>
                <a:effectLst/>
                <a:latin typeface="微软雅黑" panose="020B0503020204020204" pitchFamily="34" charset="-122"/>
                <a:ea typeface="微软雅黑" panose="020B0503020204020204" pitchFamily="34" charset="-122"/>
              </a:rPr>
              <a:t>感谢家人和朋友一直以来的理解、鼓励与陪伴</a:t>
            </a:r>
            <a:endParaRPr lang="zh-CN" altLang="en-US" sz="32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43952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4"/>
          <a:srcRect l="6589" t="2517" r="8201" b="13635"/>
          <a:stretch>
            <a:fillRect/>
          </a:stretch>
        </p:blipFill>
        <p:spPr>
          <a:xfrm>
            <a:off x="436245" y="390525"/>
            <a:ext cx="11319510" cy="6083300"/>
          </a:xfrm>
          <a:prstGeom prst="rect">
            <a:avLst/>
          </a:prstGeom>
        </p:spPr>
      </p:pic>
      <p:grpSp>
        <p:nvGrpSpPr>
          <p:cNvPr id="7" name="组合 6"/>
          <p:cNvGrpSpPr/>
          <p:nvPr userDrawn="1"/>
        </p:nvGrpSpPr>
        <p:grpSpPr>
          <a:xfrm>
            <a:off x="-28955" y="1"/>
            <a:ext cx="12249910" cy="6858000"/>
            <a:chOff x="-28955" y="1"/>
            <a:chExt cx="12249910" cy="6858000"/>
          </a:xfrm>
        </p:grpSpPr>
        <p:sp>
          <p:nvSpPr>
            <p:cNvPr id="8" name="矩形 7"/>
            <p:cNvSpPr/>
            <p:nvPr/>
          </p:nvSpPr>
          <p:spPr>
            <a:xfrm>
              <a:off x="436306" y="390832"/>
              <a:ext cx="11319388" cy="6076336"/>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任意多边形: 形状 8"/>
            <p:cNvSpPr/>
            <p:nvPr/>
          </p:nvSpPr>
          <p:spPr>
            <a:xfrm>
              <a:off x="9607347" y="1"/>
              <a:ext cx="2613608" cy="2014383"/>
            </a:xfrm>
            <a:custGeom>
              <a:avLst/>
              <a:gdLst>
                <a:gd name="connsiteX0" fmla="*/ 4903 w 2613608"/>
                <a:gd name="connsiteY0" fmla="*/ 0 h 2014383"/>
                <a:gd name="connsiteX1" fmla="*/ 2613608 w 2613608"/>
                <a:gd name="connsiteY1" fmla="*/ 0 h 2014383"/>
                <a:gd name="connsiteX2" fmla="*/ 2613608 w 2613608"/>
                <a:gd name="connsiteY2" fmla="*/ 1882005 h 2014383"/>
                <a:gd name="connsiteX3" fmla="*/ 2487433 w 2613608"/>
                <a:gd name="connsiteY3" fmla="*/ 1928185 h 2014383"/>
                <a:gd name="connsiteX4" fmla="*/ 1917290 w 2613608"/>
                <a:gd name="connsiteY4" fmla="*/ 2014383 h 2014383"/>
                <a:gd name="connsiteX5" fmla="*/ 0 w 2613608"/>
                <a:gd name="connsiteY5" fmla="*/ 97093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3608" h="2014383">
                  <a:moveTo>
                    <a:pt x="4903" y="0"/>
                  </a:moveTo>
                  <a:lnTo>
                    <a:pt x="2613608" y="0"/>
                  </a:lnTo>
                  <a:lnTo>
                    <a:pt x="2613608" y="1882005"/>
                  </a:lnTo>
                  <a:lnTo>
                    <a:pt x="2487433" y="1928185"/>
                  </a:lnTo>
                  <a:cubicBezTo>
                    <a:pt x="2307325" y="1984205"/>
                    <a:pt x="2115832" y="2014383"/>
                    <a:pt x="1917290" y="2014383"/>
                  </a:cubicBezTo>
                  <a:cubicBezTo>
                    <a:pt x="858400" y="2014383"/>
                    <a:pt x="0" y="1155983"/>
                    <a:pt x="0" y="97093"/>
                  </a:cubicBezTo>
                  <a:close/>
                </a:path>
              </a:pathLst>
            </a:custGeom>
            <a:solidFill>
              <a:srgbClr val="BAE2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 name="任意多边形: 形状 10"/>
            <p:cNvSpPr/>
            <p:nvPr/>
          </p:nvSpPr>
          <p:spPr>
            <a:xfrm>
              <a:off x="-28955" y="4843618"/>
              <a:ext cx="2613608" cy="2014383"/>
            </a:xfrm>
            <a:custGeom>
              <a:avLst/>
              <a:gdLst>
                <a:gd name="connsiteX0" fmla="*/ 696318 w 2613608"/>
                <a:gd name="connsiteY0" fmla="*/ 0 h 2014383"/>
                <a:gd name="connsiteX1" fmla="*/ 2613608 w 2613608"/>
                <a:gd name="connsiteY1" fmla="*/ 1917290 h 2014383"/>
                <a:gd name="connsiteX2" fmla="*/ 2608705 w 2613608"/>
                <a:gd name="connsiteY2" fmla="*/ 2014383 h 2014383"/>
                <a:gd name="connsiteX3" fmla="*/ 0 w 2613608"/>
                <a:gd name="connsiteY3" fmla="*/ 2014383 h 2014383"/>
                <a:gd name="connsiteX4" fmla="*/ 0 w 2613608"/>
                <a:gd name="connsiteY4" fmla="*/ 132378 h 2014383"/>
                <a:gd name="connsiteX5" fmla="*/ 126175 w 2613608"/>
                <a:gd name="connsiteY5" fmla="*/ 86198 h 2014383"/>
                <a:gd name="connsiteX6" fmla="*/ 696318 w 2613608"/>
                <a:gd name="connsiteY6" fmla="*/ 0 h 2014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3608" h="2014383">
                  <a:moveTo>
                    <a:pt x="696318" y="0"/>
                  </a:moveTo>
                  <a:cubicBezTo>
                    <a:pt x="1755208" y="0"/>
                    <a:pt x="2613608" y="858400"/>
                    <a:pt x="2613608" y="1917290"/>
                  </a:cubicBezTo>
                  <a:lnTo>
                    <a:pt x="2608705" y="2014383"/>
                  </a:lnTo>
                  <a:lnTo>
                    <a:pt x="0" y="2014383"/>
                  </a:lnTo>
                  <a:lnTo>
                    <a:pt x="0" y="132378"/>
                  </a:lnTo>
                  <a:lnTo>
                    <a:pt x="126175" y="86198"/>
                  </a:lnTo>
                  <a:cubicBezTo>
                    <a:pt x="306283" y="30178"/>
                    <a:pt x="497776" y="0"/>
                    <a:pt x="696318" y="0"/>
                  </a:cubicBezTo>
                  <a:close/>
                </a:path>
              </a:pathLst>
            </a:custGeom>
            <a:solidFill>
              <a:srgbClr val="BAE2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3" name="组合 12"/>
            <p:cNvGrpSpPr/>
            <p:nvPr/>
          </p:nvGrpSpPr>
          <p:grpSpPr>
            <a:xfrm>
              <a:off x="11662673" y="499894"/>
              <a:ext cx="186041" cy="1133803"/>
              <a:chOff x="5559847" y="2479549"/>
              <a:chExt cx="521110" cy="3175843"/>
            </a:xfrm>
            <a:solidFill>
              <a:schemeClr val="accent1"/>
            </a:solidFill>
          </p:grpSpPr>
          <p:sp>
            <p:nvSpPr>
              <p:cNvPr id="20" name="等腰三角形 19"/>
              <p:cNvSpPr/>
              <p:nvPr/>
            </p:nvSpPr>
            <p:spPr>
              <a:xfrm>
                <a:off x="5559847" y="2479549"/>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1" name="等腰三角形 20"/>
              <p:cNvSpPr/>
              <p:nvPr/>
            </p:nvSpPr>
            <p:spPr>
              <a:xfrm>
                <a:off x="5559847" y="3161202"/>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2" name="等腰三角形 21"/>
              <p:cNvSpPr/>
              <p:nvPr/>
            </p:nvSpPr>
            <p:spPr>
              <a:xfrm>
                <a:off x="5559847" y="3842855"/>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等腰三角形 22"/>
              <p:cNvSpPr/>
              <p:nvPr/>
            </p:nvSpPr>
            <p:spPr>
              <a:xfrm>
                <a:off x="5559847" y="4524508"/>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等腰三角形 23"/>
              <p:cNvSpPr/>
              <p:nvPr/>
            </p:nvSpPr>
            <p:spPr>
              <a:xfrm>
                <a:off x="5559847" y="5206159"/>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4" name="组合 13"/>
            <p:cNvGrpSpPr/>
            <p:nvPr/>
          </p:nvGrpSpPr>
          <p:grpSpPr>
            <a:xfrm>
              <a:off x="371707" y="5333365"/>
              <a:ext cx="186041" cy="1133803"/>
              <a:chOff x="5559847" y="2479549"/>
              <a:chExt cx="521110" cy="3175843"/>
            </a:xfrm>
            <a:solidFill>
              <a:schemeClr val="accent1"/>
            </a:solidFill>
          </p:grpSpPr>
          <p:sp>
            <p:nvSpPr>
              <p:cNvPr id="15" name="等腰三角形 14"/>
              <p:cNvSpPr/>
              <p:nvPr/>
            </p:nvSpPr>
            <p:spPr>
              <a:xfrm>
                <a:off x="5559847" y="2479549"/>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等腰三角形 15"/>
              <p:cNvSpPr/>
              <p:nvPr/>
            </p:nvSpPr>
            <p:spPr>
              <a:xfrm>
                <a:off x="5559847" y="3161202"/>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等腰三角形 16"/>
              <p:cNvSpPr/>
              <p:nvPr/>
            </p:nvSpPr>
            <p:spPr>
              <a:xfrm>
                <a:off x="5559847" y="3842855"/>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等腰三角形 17"/>
              <p:cNvSpPr/>
              <p:nvPr/>
            </p:nvSpPr>
            <p:spPr>
              <a:xfrm>
                <a:off x="5559847" y="4524508"/>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9" name="等腰三角形 18"/>
              <p:cNvSpPr/>
              <p:nvPr/>
            </p:nvSpPr>
            <p:spPr>
              <a:xfrm>
                <a:off x="5559847" y="5206159"/>
                <a:ext cx="521110" cy="449233"/>
              </a:xfrm>
              <a:prstGeom prst="triangle">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grpSp>
        <p:nvGrpSpPr>
          <p:cNvPr id="25" name="组合 24"/>
          <p:cNvGrpSpPr/>
          <p:nvPr userDrawn="1"/>
        </p:nvGrpSpPr>
        <p:grpSpPr>
          <a:xfrm>
            <a:off x="10757221" y="5846823"/>
            <a:ext cx="767416" cy="433219"/>
            <a:chOff x="4468761" y="1799303"/>
            <a:chExt cx="914400" cy="516194"/>
          </a:xfrm>
          <a:solidFill>
            <a:schemeClr val="accent1">
              <a:lumMod val="20000"/>
              <a:lumOff val="80000"/>
            </a:schemeClr>
          </a:solidFill>
        </p:grpSpPr>
        <p:sp>
          <p:nvSpPr>
            <p:cNvPr id="26" name="矩形 25"/>
            <p:cNvSpPr/>
            <p:nvPr/>
          </p:nvSpPr>
          <p:spPr>
            <a:xfrm>
              <a:off x="4468761" y="1799303"/>
              <a:ext cx="914400" cy="114917"/>
            </a:xfrm>
            <a:prstGeom prst="rect">
              <a:avLst/>
            </a:prstGeom>
            <a:solidFill>
              <a:srgbClr val="BAE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7" name="矩形 26"/>
            <p:cNvSpPr/>
            <p:nvPr/>
          </p:nvSpPr>
          <p:spPr>
            <a:xfrm>
              <a:off x="4468761" y="1999942"/>
              <a:ext cx="914400" cy="114917"/>
            </a:xfrm>
            <a:prstGeom prst="rect">
              <a:avLst/>
            </a:prstGeom>
            <a:solidFill>
              <a:srgbClr val="005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8" name="矩形 27"/>
            <p:cNvSpPr/>
            <p:nvPr/>
          </p:nvSpPr>
          <p:spPr>
            <a:xfrm>
              <a:off x="4468761" y="2200580"/>
              <a:ext cx="914400" cy="114917"/>
            </a:xfrm>
            <a:prstGeom prst="rect">
              <a:avLst/>
            </a:prstGeom>
            <a:solidFill>
              <a:srgbClr val="BAE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45" name="图片 44" descr="1"/>
          <p:cNvPicPr>
            <a:picLocks noChangeAspect="1"/>
          </p:cNvPicPr>
          <p:nvPr/>
        </p:nvPicPr>
        <p:blipFill>
          <a:blip r:embed="rId5"/>
          <a:stretch>
            <a:fillRect/>
          </a:stretch>
        </p:blipFill>
        <p:spPr>
          <a:xfrm>
            <a:off x="631825" y="565785"/>
            <a:ext cx="2464435" cy="707390"/>
          </a:xfrm>
          <a:prstGeom prst="rect">
            <a:avLst/>
          </a:prstGeom>
        </p:spPr>
      </p:pic>
      <p:sp>
        <p:nvSpPr>
          <p:cNvPr id="2" name="矩形: 圆角 4"/>
          <p:cNvSpPr/>
          <p:nvPr>
            <p:custDataLst>
              <p:tags r:id="rId1"/>
            </p:custDataLst>
          </p:nvPr>
        </p:nvSpPr>
        <p:spPr>
          <a:xfrm>
            <a:off x="921385" y="2152650"/>
            <a:ext cx="10354945" cy="2596515"/>
          </a:xfrm>
          <a:prstGeom prst="roundRect">
            <a:avLst>
              <a:gd name="adj" fmla="val 0"/>
            </a:avLst>
          </a:prstGeom>
          <a:solidFill>
            <a:srgbClr val="FFFFFF">
              <a:alpha val="79000"/>
            </a:srgbClr>
          </a:solidFill>
          <a:ln w="28575" cmpd="sng">
            <a:noFill/>
            <a:prstDash val="solid"/>
          </a:ln>
          <a:effectLst>
            <a:outerShdw blurRad="127000" dist="25400" dir="2700000" algn="tl"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dk1"/>
              </a:solidFill>
              <a:sym typeface="+mn-ea"/>
            </a:endParaRPr>
          </a:p>
        </p:txBody>
      </p:sp>
      <p:sp>
        <p:nvSpPr>
          <p:cNvPr id="3" name="矩形 2"/>
          <p:cNvSpPr/>
          <p:nvPr/>
        </p:nvSpPr>
        <p:spPr>
          <a:xfrm>
            <a:off x="2294317" y="2478826"/>
            <a:ext cx="7603367" cy="10667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dist"/>
            <a:r>
              <a:rPr lang="zh-CN" altLang="en-US" sz="5400" b="1" spc="300">
                <a:solidFill>
                  <a:schemeClr val="tx1"/>
                </a:solidFill>
                <a:latin typeface="微软雅黑" panose="020B0503020204020204" pitchFamily="34" charset="-122"/>
                <a:ea typeface="微软雅黑" panose="020B0503020204020204" pitchFamily="34" charset="-122"/>
                <a:sym typeface="+mn-ea"/>
              </a:rPr>
              <a:t>恳请</a:t>
            </a:r>
            <a:r>
              <a:rPr lang="zh-CN" altLang="en-US" sz="5400" b="1" spc="300">
                <a:solidFill>
                  <a:schemeClr val="tx1"/>
                </a:solidFill>
                <a:effectLst/>
                <a:latin typeface="微软雅黑" panose="020B0503020204020204" pitchFamily="34" charset="-122"/>
                <a:ea typeface="微软雅黑" panose="020B0503020204020204" pitchFamily="34" charset="-122"/>
                <a:sym typeface="+mn-ea"/>
              </a:rPr>
              <a:t>各位</a:t>
            </a:r>
            <a:r>
              <a:rPr lang="zh-CN" altLang="en-US" sz="5400" b="1" spc="300" dirty="0">
                <a:solidFill>
                  <a:schemeClr val="tx1"/>
                </a:solidFill>
                <a:effectLst/>
                <a:latin typeface="微软雅黑" panose="020B0503020204020204" pitchFamily="34" charset="-122"/>
                <a:ea typeface="微软雅黑" panose="020B0503020204020204" pitchFamily="34" charset="-122"/>
                <a:sym typeface="+mn-ea"/>
              </a:rPr>
              <a:t>老师批评指正</a:t>
            </a:r>
            <a:endParaRPr lang="zh-CN" altLang="en-US" sz="5400" b="1" spc="300" dirty="0">
              <a:solidFill>
                <a:schemeClr val="tx1"/>
              </a:solidFill>
              <a:effectLst/>
              <a:latin typeface="微软雅黑" panose="020B0503020204020204" pitchFamily="34" charset="-122"/>
              <a:ea typeface="微软雅黑" panose="020B0503020204020204" pitchFamily="34" charset="-122"/>
              <a:cs typeface="+mn-ea"/>
              <a:sym typeface="+mn-ea"/>
            </a:endParaRPr>
          </a:p>
        </p:txBody>
      </p:sp>
      <p:sp>
        <p:nvSpPr>
          <p:cNvPr id="4" name="文本框 21"/>
          <p:cNvSpPr txBox="1"/>
          <p:nvPr/>
        </p:nvSpPr>
        <p:spPr>
          <a:xfrm>
            <a:off x="2584635" y="3618212"/>
            <a:ext cx="7425319" cy="447174"/>
          </a:xfrm>
          <a:prstGeom prst="rect">
            <a:avLst/>
          </a:prstGeom>
          <a:noFill/>
          <a:ln>
            <a:noFill/>
          </a:ln>
        </p:spPr>
        <p:txBody>
          <a:bodyPr wrap="square"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000"/>
              </a:lnSpc>
            </a:pPr>
            <a:r>
              <a:rPr lang="zh-CN" altLang="en-US" sz="2000" spc="600">
                <a:solidFill>
                  <a:srgbClr val="005FA5"/>
                </a:solidFill>
                <a:latin typeface="微软雅黑" panose="020B0503020204020204" pitchFamily="34" charset="-122"/>
                <a:ea typeface="微软雅黑" panose="020B0503020204020204" pitchFamily="34" charset="-122"/>
                <a:cs typeface="+mn-ea"/>
                <a:sym typeface="+mn-lt"/>
              </a:rPr>
              <a:t>海洋与地球学院</a:t>
            </a:r>
            <a:r>
              <a:rPr lang="en-US" altLang="zh-CN" sz="2000" spc="600">
                <a:solidFill>
                  <a:srgbClr val="005FA5"/>
                </a:solidFill>
                <a:latin typeface="微软雅黑" panose="020B0503020204020204" pitchFamily="34" charset="-122"/>
                <a:ea typeface="微软雅黑" panose="020B0503020204020204" pitchFamily="34" charset="-122"/>
                <a:cs typeface="+mn-ea"/>
                <a:sym typeface="+mn-lt"/>
              </a:rPr>
              <a:t>/22</a:t>
            </a:r>
            <a:r>
              <a:rPr lang="zh-CN" altLang="en-US" sz="2000" spc="600">
                <a:solidFill>
                  <a:srgbClr val="005FA5"/>
                </a:solidFill>
                <a:latin typeface="微软雅黑" panose="020B0503020204020204" pitchFamily="34" charset="-122"/>
                <a:ea typeface="微软雅黑" panose="020B0503020204020204" pitchFamily="34" charset="-122"/>
                <a:cs typeface="+mn-ea"/>
                <a:sym typeface="+mn-lt"/>
              </a:rPr>
              <a:t>级</a:t>
            </a:r>
            <a:r>
              <a:rPr lang="en-US" altLang="zh-CN" sz="2000" spc="600">
                <a:solidFill>
                  <a:srgbClr val="005FA5"/>
                </a:solidFill>
                <a:latin typeface="微软雅黑" panose="020B0503020204020204" pitchFamily="34" charset="-122"/>
                <a:ea typeface="微软雅黑" panose="020B0503020204020204" pitchFamily="34" charset="-122"/>
                <a:cs typeface="+mn-ea"/>
                <a:sym typeface="+mn-lt"/>
              </a:rPr>
              <a:t>5</a:t>
            </a:r>
            <a:r>
              <a:rPr lang="zh-CN" altLang="en-US" sz="2000" spc="600">
                <a:solidFill>
                  <a:srgbClr val="005FA5"/>
                </a:solidFill>
                <a:latin typeface="微软雅黑" panose="020B0503020204020204" pitchFamily="34" charset="-122"/>
                <a:ea typeface="微软雅黑" panose="020B0503020204020204" pitchFamily="34" charset="-122"/>
                <a:cs typeface="+mn-ea"/>
                <a:sym typeface="+mn-lt"/>
              </a:rPr>
              <a:t>班</a:t>
            </a:r>
            <a:r>
              <a:rPr lang="en-US" altLang="zh-CN" sz="2000" spc="600">
                <a:solidFill>
                  <a:srgbClr val="005FA5"/>
                </a:solidFill>
                <a:latin typeface="微软雅黑" panose="020B0503020204020204" pitchFamily="34" charset="-122"/>
                <a:ea typeface="微软雅黑" panose="020B0503020204020204" pitchFamily="34" charset="-122"/>
                <a:cs typeface="+mn-ea"/>
                <a:sym typeface="+mn-lt"/>
              </a:rPr>
              <a:t>/</a:t>
            </a:r>
            <a:r>
              <a:rPr lang="zh-CN" altLang="en-US" sz="2000" spc="600">
                <a:solidFill>
                  <a:srgbClr val="005FA5"/>
                </a:solidFill>
                <a:latin typeface="微软雅黑" panose="020B0503020204020204" pitchFamily="34" charset="-122"/>
                <a:ea typeface="微软雅黑" panose="020B0503020204020204" pitchFamily="34" charset="-122"/>
                <a:cs typeface="+mn-ea"/>
                <a:sym typeface="+mn-lt"/>
              </a:rPr>
              <a:t>海洋科学</a:t>
            </a:r>
          </a:p>
        </p:txBody>
      </p:sp>
      <p:sp>
        <p:nvSpPr>
          <p:cNvPr id="5" name="矩形 4"/>
          <p:cNvSpPr/>
          <p:nvPr/>
        </p:nvSpPr>
        <p:spPr>
          <a:xfrm>
            <a:off x="3696840" y="4259673"/>
            <a:ext cx="2318302" cy="338554"/>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a:latin typeface="微软雅黑" panose="020B0503020204020204" pitchFamily="34" charset="-122"/>
                <a:ea typeface="微软雅黑" panose="020B0503020204020204" pitchFamily="34" charset="-122"/>
                <a:cs typeface="+mn-ea"/>
                <a:sym typeface="+mn-lt"/>
              </a:rPr>
              <a:t>指导老师：王杉霖 教授</a:t>
            </a:r>
          </a:p>
        </p:txBody>
      </p:sp>
      <p:sp>
        <p:nvSpPr>
          <p:cNvPr id="10" name="图形"/>
          <p:cNvSpPr>
            <a:spLocks noChangeAspect="1"/>
          </p:cNvSpPr>
          <p:nvPr/>
        </p:nvSpPr>
        <p:spPr bwMode="auto">
          <a:xfrm>
            <a:off x="3469976" y="4279451"/>
            <a:ext cx="226864" cy="254198"/>
          </a:xfrm>
          <a:custGeom>
            <a:avLst/>
            <a:gdLst>
              <a:gd name="T0" fmla="*/ 1931 w 2597"/>
              <a:gd name="T1" fmla="*/ 807 h 2914"/>
              <a:gd name="T2" fmla="*/ 1741 w 2597"/>
              <a:gd name="T3" fmla="*/ 141 h 2914"/>
              <a:gd name="T4" fmla="*/ 1037 w 2597"/>
              <a:gd name="T5" fmla="*/ 90 h 2914"/>
              <a:gd name="T6" fmla="*/ 646 w 2597"/>
              <a:gd name="T7" fmla="*/ 436 h 2914"/>
              <a:gd name="T8" fmla="*/ 665 w 2597"/>
              <a:gd name="T9" fmla="*/ 807 h 2914"/>
              <a:gd name="T10" fmla="*/ 593 w 2597"/>
              <a:gd name="T11" fmla="*/ 1085 h 2914"/>
              <a:gd name="T12" fmla="*/ 989 w 2597"/>
              <a:gd name="T13" fmla="*/ 1588 h 2914"/>
              <a:gd name="T14" fmla="*/ 1298 w 2597"/>
              <a:gd name="T15" fmla="*/ 1696 h 2914"/>
              <a:gd name="T16" fmla="*/ 1608 w 2597"/>
              <a:gd name="T17" fmla="*/ 1588 h 2914"/>
              <a:gd name="T18" fmla="*/ 2003 w 2597"/>
              <a:gd name="T19" fmla="*/ 1085 h 2914"/>
              <a:gd name="T20" fmla="*/ 1874 w 2597"/>
              <a:gd name="T21" fmla="*/ 1052 h 2914"/>
              <a:gd name="T22" fmla="*/ 1766 w 2597"/>
              <a:gd name="T23" fmla="*/ 1173 h 2914"/>
              <a:gd name="T24" fmla="*/ 1517 w 2597"/>
              <a:gd name="T25" fmla="*/ 1490 h 2914"/>
              <a:gd name="T26" fmla="*/ 1156 w 2597"/>
              <a:gd name="T27" fmla="*/ 1536 h 2914"/>
              <a:gd name="T28" fmla="*/ 903 w 2597"/>
              <a:gd name="T29" fmla="*/ 1210 h 2914"/>
              <a:gd name="T30" fmla="*/ 830 w 2597"/>
              <a:gd name="T31" fmla="*/ 1173 h 2914"/>
              <a:gd name="T32" fmla="*/ 722 w 2597"/>
              <a:gd name="T33" fmla="*/ 1052 h 2914"/>
              <a:gd name="T34" fmla="*/ 745 w 2597"/>
              <a:gd name="T35" fmla="*/ 916 h 2914"/>
              <a:gd name="T36" fmla="*/ 800 w 2597"/>
              <a:gd name="T37" fmla="*/ 765 h 2914"/>
              <a:gd name="T38" fmla="*/ 1052 w 2597"/>
              <a:gd name="T39" fmla="*/ 526 h 2914"/>
              <a:gd name="T40" fmla="*/ 1795 w 2597"/>
              <a:gd name="T41" fmla="*/ 746 h 2914"/>
              <a:gd name="T42" fmla="*/ 1851 w 2597"/>
              <a:gd name="T43" fmla="*/ 916 h 2914"/>
              <a:gd name="T44" fmla="*/ 1874 w 2597"/>
              <a:gd name="T45" fmla="*/ 1052 h 2914"/>
              <a:gd name="T46" fmla="*/ 1719 w 2597"/>
              <a:gd name="T47" fmla="*/ 1709 h 2914"/>
              <a:gd name="T48" fmla="*/ 1632 w 2597"/>
              <a:gd name="T49" fmla="*/ 1748 h 2914"/>
              <a:gd name="T50" fmla="*/ 1456 w 2597"/>
              <a:gd name="T51" fmla="*/ 2070 h 2914"/>
              <a:gd name="T52" fmla="*/ 1496 w 2597"/>
              <a:gd name="T53" fmla="*/ 1895 h 2914"/>
              <a:gd name="T54" fmla="*/ 1156 w 2597"/>
              <a:gd name="T55" fmla="*/ 1865 h 2914"/>
              <a:gd name="T56" fmla="*/ 1094 w 2597"/>
              <a:gd name="T57" fmla="*/ 1957 h 2914"/>
              <a:gd name="T58" fmla="*/ 1111 w 2597"/>
              <a:gd name="T59" fmla="*/ 2153 h 2914"/>
              <a:gd name="T60" fmla="*/ 929 w 2597"/>
              <a:gd name="T61" fmla="*/ 1710 h 2914"/>
              <a:gd name="T62" fmla="*/ 294 w 2597"/>
              <a:gd name="T63" fmla="*/ 1942 h 2914"/>
              <a:gd name="T64" fmla="*/ 0 w 2597"/>
              <a:gd name="T65" fmla="*/ 2848 h 2914"/>
              <a:gd name="T66" fmla="*/ 2530 w 2597"/>
              <a:gd name="T67" fmla="*/ 2914 h 2914"/>
              <a:gd name="T68" fmla="*/ 2597 w 2597"/>
              <a:gd name="T69" fmla="*/ 2377 h 2914"/>
              <a:gd name="T70" fmla="*/ 2282 w 2597"/>
              <a:gd name="T71" fmla="*/ 2570 h 2914"/>
              <a:gd name="T72" fmla="*/ 1767 w 2597"/>
              <a:gd name="T73" fmla="*/ 2636 h 2914"/>
              <a:gd name="T74" fmla="*/ 1701 w 2597"/>
              <a:gd name="T75" fmla="*/ 2362 h 2914"/>
              <a:gd name="T76" fmla="*/ 2215 w 2597"/>
              <a:gd name="T77" fmla="*/ 2295 h 2914"/>
              <a:gd name="T78" fmla="*/ 2282 w 2597"/>
              <a:gd name="T79" fmla="*/ 2570 h 2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97" h="2914">
                <a:moveTo>
                  <a:pt x="1985" y="861"/>
                </a:moveTo>
                <a:cubicBezTo>
                  <a:pt x="1969" y="836"/>
                  <a:pt x="1949" y="819"/>
                  <a:pt x="1931" y="807"/>
                </a:cubicBezTo>
                <a:cubicBezTo>
                  <a:pt x="1931" y="776"/>
                  <a:pt x="1929" y="732"/>
                  <a:pt x="1922" y="682"/>
                </a:cubicBezTo>
                <a:cubicBezTo>
                  <a:pt x="1927" y="622"/>
                  <a:pt x="1944" y="290"/>
                  <a:pt x="1741" y="141"/>
                </a:cubicBezTo>
                <a:cubicBezTo>
                  <a:pt x="1616" y="49"/>
                  <a:pt x="1477" y="0"/>
                  <a:pt x="1338" y="0"/>
                </a:cubicBezTo>
                <a:cubicBezTo>
                  <a:pt x="1226" y="0"/>
                  <a:pt x="1119" y="32"/>
                  <a:pt x="1037" y="90"/>
                </a:cubicBezTo>
                <a:cubicBezTo>
                  <a:pt x="963" y="142"/>
                  <a:pt x="922" y="199"/>
                  <a:pt x="900" y="239"/>
                </a:cubicBezTo>
                <a:cubicBezTo>
                  <a:pt x="837" y="241"/>
                  <a:pt x="705" y="267"/>
                  <a:pt x="646" y="436"/>
                </a:cubicBezTo>
                <a:cubicBezTo>
                  <a:pt x="591" y="595"/>
                  <a:pt x="636" y="693"/>
                  <a:pt x="668" y="739"/>
                </a:cubicBezTo>
                <a:cubicBezTo>
                  <a:pt x="666" y="765"/>
                  <a:pt x="665" y="789"/>
                  <a:pt x="665" y="807"/>
                </a:cubicBezTo>
                <a:cubicBezTo>
                  <a:pt x="647" y="819"/>
                  <a:pt x="628" y="836"/>
                  <a:pt x="611" y="861"/>
                </a:cubicBezTo>
                <a:cubicBezTo>
                  <a:pt x="575" y="917"/>
                  <a:pt x="569" y="993"/>
                  <a:pt x="593" y="1085"/>
                </a:cubicBezTo>
                <a:cubicBezTo>
                  <a:pt x="638" y="1259"/>
                  <a:pt x="744" y="1297"/>
                  <a:pt x="801" y="1305"/>
                </a:cubicBezTo>
                <a:cubicBezTo>
                  <a:pt x="836" y="1374"/>
                  <a:pt x="912" y="1516"/>
                  <a:pt x="989" y="1588"/>
                </a:cubicBezTo>
                <a:cubicBezTo>
                  <a:pt x="1019" y="1616"/>
                  <a:pt x="1059" y="1641"/>
                  <a:pt x="1107" y="1659"/>
                </a:cubicBezTo>
                <a:cubicBezTo>
                  <a:pt x="1168" y="1684"/>
                  <a:pt x="1232" y="1696"/>
                  <a:pt x="1298" y="1696"/>
                </a:cubicBezTo>
                <a:cubicBezTo>
                  <a:pt x="1364" y="1696"/>
                  <a:pt x="1429" y="1684"/>
                  <a:pt x="1490" y="1659"/>
                </a:cubicBezTo>
                <a:cubicBezTo>
                  <a:pt x="1538" y="1641"/>
                  <a:pt x="1577" y="1616"/>
                  <a:pt x="1608" y="1588"/>
                </a:cubicBezTo>
                <a:cubicBezTo>
                  <a:pt x="1684" y="1516"/>
                  <a:pt x="1761" y="1374"/>
                  <a:pt x="1796" y="1305"/>
                </a:cubicBezTo>
                <a:cubicBezTo>
                  <a:pt x="1852" y="1297"/>
                  <a:pt x="1958" y="1259"/>
                  <a:pt x="2003" y="1085"/>
                </a:cubicBezTo>
                <a:cubicBezTo>
                  <a:pt x="2028" y="993"/>
                  <a:pt x="2022" y="917"/>
                  <a:pt x="1985" y="861"/>
                </a:cubicBezTo>
                <a:close/>
                <a:moveTo>
                  <a:pt x="1874" y="1052"/>
                </a:moveTo>
                <a:cubicBezTo>
                  <a:pt x="1847" y="1157"/>
                  <a:pt x="1797" y="1173"/>
                  <a:pt x="1770" y="1173"/>
                </a:cubicBezTo>
                <a:cubicBezTo>
                  <a:pt x="1768" y="1173"/>
                  <a:pt x="1767" y="1173"/>
                  <a:pt x="1766" y="1173"/>
                </a:cubicBezTo>
                <a:cubicBezTo>
                  <a:pt x="1735" y="1165"/>
                  <a:pt x="1707" y="1181"/>
                  <a:pt x="1693" y="1210"/>
                </a:cubicBezTo>
                <a:cubicBezTo>
                  <a:pt x="1667" y="1267"/>
                  <a:pt x="1584" y="1428"/>
                  <a:pt x="1517" y="1490"/>
                </a:cubicBezTo>
                <a:cubicBezTo>
                  <a:pt x="1499" y="1508"/>
                  <a:pt x="1473" y="1523"/>
                  <a:pt x="1441" y="1536"/>
                </a:cubicBezTo>
                <a:cubicBezTo>
                  <a:pt x="1350" y="1572"/>
                  <a:pt x="1246" y="1572"/>
                  <a:pt x="1156" y="1536"/>
                </a:cubicBezTo>
                <a:cubicBezTo>
                  <a:pt x="1124" y="1523"/>
                  <a:pt x="1098" y="1508"/>
                  <a:pt x="1080" y="1490"/>
                </a:cubicBezTo>
                <a:cubicBezTo>
                  <a:pt x="1013" y="1428"/>
                  <a:pt x="930" y="1267"/>
                  <a:pt x="903" y="1210"/>
                </a:cubicBezTo>
                <a:cubicBezTo>
                  <a:pt x="892" y="1186"/>
                  <a:pt x="870" y="1171"/>
                  <a:pt x="846" y="1171"/>
                </a:cubicBezTo>
                <a:cubicBezTo>
                  <a:pt x="841" y="1171"/>
                  <a:pt x="835" y="1172"/>
                  <a:pt x="830" y="1173"/>
                </a:cubicBezTo>
                <a:cubicBezTo>
                  <a:pt x="829" y="1173"/>
                  <a:pt x="828" y="1173"/>
                  <a:pt x="826" y="1173"/>
                </a:cubicBezTo>
                <a:cubicBezTo>
                  <a:pt x="799" y="1173"/>
                  <a:pt x="750" y="1157"/>
                  <a:pt x="722" y="1052"/>
                </a:cubicBezTo>
                <a:cubicBezTo>
                  <a:pt x="708" y="1000"/>
                  <a:pt x="708" y="958"/>
                  <a:pt x="722" y="935"/>
                </a:cubicBezTo>
                <a:cubicBezTo>
                  <a:pt x="730" y="921"/>
                  <a:pt x="742" y="917"/>
                  <a:pt x="745" y="916"/>
                </a:cubicBezTo>
                <a:cubicBezTo>
                  <a:pt x="781" y="912"/>
                  <a:pt x="803" y="880"/>
                  <a:pt x="800" y="844"/>
                </a:cubicBezTo>
                <a:cubicBezTo>
                  <a:pt x="800" y="843"/>
                  <a:pt x="797" y="812"/>
                  <a:pt x="800" y="765"/>
                </a:cubicBezTo>
                <a:cubicBezTo>
                  <a:pt x="846" y="745"/>
                  <a:pt x="920" y="707"/>
                  <a:pt x="981" y="640"/>
                </a:cubicBezTo>
                <a:cubicBezTo>
                  <a:pt x="1013" y="606"/>
                  <a:pt x="1036" y="564"/>
                  <a:pt x="1052" y="526"/>
                </a:cubicBezTo>
                <a:cubicBezTo>
                  <a:pt x="1097" y="562"/>
                  <a:pt x="1160" y="605"/>
                  <a:pt x="1244" y="642"/>
                </a:cubicBezTo>
                <a:cubicBezTo>
                  <a:pt x="1387" y="706"/>
                  <a:pt x="1674" y="736"/>
                  <a:pt x="1795" y="746"/>
                </a:cubicBezTo>
                <a:cubicBezTo>
                  <a:pt x="1800" y="804"/>
                  <a:pt x="1797" y="843"/>
                  <a:pt x="1797" y="844"/>
                </a:cubicBezTo>
                <a:cubicBezTo>
                  <a:pt x="1793" y="880"/>
                  <a:pt x="1815" y="912"/>
                  <a:pt x="1851" y="916"/>
                </a:cubicBezTo>
                <a:cubicBezTo>
                  <a:pt x="1855" y="917"/>
                  <a:pt x="1866" y="921"/>
                  <a:pt x="1874" y="935"/>
                </a:cubicBezTo>
                <a:cubicBezTo>
                  <a:pt x="1888" y="958"/>
                  <a:pt x="1888" y="1000"/>
                  <a:pt x="1874" y="1052"/>
                </a:cubicBezTo>
                <a:close/>
                <a:moveTo>
                  <a:pt x="2302" y="1942"/>
                </a:moveTo>
                <a:lnTo>
                  <a:pt x="1719" y="1709"/>
                </a:lnTo>
                <a:cubicBezTo>
                  <a:pt x="1702" y="1702"/>
                  <a:pt x="1684" y="1703"/>
                  <a:pt x="1667" y="1710"/>
                </a:cubicBezTo>
                <a:cubicBezTo>
                  <a:pt x="1651" y="1717"/>
                  <a:pt x="1638" y="1731"/>
                  <a:pt x="1632" y="1748"/>
                </a:cubicBezTo>
                <a:lnTo>
                  <a:pt x="1485" y="2153"/>
                </a:lnTo>
                <a:lnTo>
                  <a:pt x="1456" y="2070"/>
                </a:lnTo>
                <a:lnTo>
                  <a:pt x="1502" y="1957"/>
                </a:lnTo>
                <a:cubicBezTo>
                  <a:pt x="1511" y="1936"/>
                  <a:pt x="1508" y="1913"/>
                  <a:pt x="1496" y="1895"/>
                </a:cubicBezTo>
                <a:cubicBezTo>
                  <a:pt x="1484" y="1876"/>
                  <a:pt x="1463" y="1865"/>
                  <a:pt x="1441" y="1865"/>
                </a:cubicBezTo>
                <a:lnTo>
                  <a:pt x="1156" y="1865"/>
                </a:lnTo>
                <a:cubicBezTo>
                  <a:pt x="1134" y="1865"/>
                  <a:pt x="1113" y="1876"/>
                  <a:pt x="1101" y="1895"/>
                </a:cubicBezTo>
                <a:cubicBezTo>
                  <a:pt x="1088" y="1913"/>
                  <a:pt x="1086" y="1936"/>
                  <a:pt x="1094" y="1957"/>
                </a:cubicBezTo>
                <a:lnTo>
                  <a:pt x="1140" y="2070"/>
                </a:lnTo>
                <a:lnTo>
                  <a:pt x="1111" y="2153"/>
                </a:lnTo>
                <a:lnTo>
                  <a:pt x="965" y="1748"/>
                </a:lnTo>
                <a:cubicBezTo>
                  <a:pt x="959" y="1731"/>
                  <a:pt x="946" y="1717"/>
                  <a:pt x="929" y="1710"/>
                </a:cubicBezTo>
                <a:cubicBezTo>
                  <a:pt x="913" y="1703"/>
                  <a:pt x="894" y="1702"/>
                  <a:pt x="877" y="1709"/>
                </a:cubicBezTo>
                <a:lnTo>
                  <a:pt x="294" y="1942"/>
                </a:lnTo>
                <a:cubicBezTo>
                  <a:pt x="115" y="2014"/>
                  <a:pt x="0" y="2184"/>
                  <a:pt x="0" y="2377"/>
                </a:cubicBezTo>
                <a:lnTo>
                  <a:pt x="0" y="2848"/>
                </a:lnTo>
                <a:cubicBezTo>
                  <a:pt x="0" y="2885"/>
                  <a:pt x="30" y="2914"/>
                  <a:pt x="66" y="2914"/>
                </a:cubicBezTo>
                <a:lnTo>
                  <a:pt x="2530" y="2914"/>
                </a:lnTo>
                <a:cubicBezTo>
                  <a:pt x="2567" y="2914"/>
                  <a:pt x="2597" y="2885"/>
                  <a:pt x="2597" y="2848"/>
                </a:cubicBezTo>
                <a:lnTo>
                  <a:pt x="2597" y="2377"/>
                </a:lnTo>
                <a:cubicBezTo>
                  <a:pt x="2597" y="2184"/>
                  <a:pt x="2481" y="2014"/>
                  <a:pt x="2302" y="1942"/>
                </a:cubicBezTo>
                <a:close/>
                <a:moveTo>
                  <a:pt x="2282" y="2570"/>
                </a:moveTo>
                <a:cubicBezTo>
                  <a:pt x="2282" y="2606"/>
                  <a:pt x="2252" y="2636"/>
                  <a:pt x="2215" y="2636"/>
                </a:cubicBezTo>
                <a:lnTo>
                  <a:pt x="1767" y="2636"/>
                </a:lnTo>
                <a:cubicBezTo>
                  <a:pt x="1731" y="2636"/>
                  <a:pt x="1701" y="2606"/>
                  <a:pt x="1701" y="2570"/>
                </a:cubicBezTo>
                <a:lnTo>
                  <a:pt x="1701" y="2362"/>
                </a:lnTo>
                <a:cubicBezTo>
                  <a:pt x="1701" y="2325"/>
                  <a:pt x="1731" y="2295"/>
                  <a:pt x="1767" y="2295"/>
                </a:cubicBezTo>
                <a:lnTo>
                  <a:pt x="2215" y="2295"/>
                </a:lnTo>
                <a:cubicBezTo>
                  <a:pt x="2252" y="2295"/>
                  <a:pt x="2282" y="2325"/>
                  <a:pt x="2282" y="2362"/>
                </a:cubicBezTo>
                <a:lnTo>
                  <a:pt x="2282" y="2570"/>
                </a:ln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a:cs typeface="+mn-ea"/>
              <a:sym typeface="+mn-lt"/>
            </a:endParaRPr>
          </a:p>
        </p:txBody>
      </p:sp>
      <p:sp>
        <p:nvSpPr>
          <p:cNvPr id="29" name="矩形 28"/>
          <p:cNvSpPr/>
          <p:nvPr/>
        </p:nvSpPr>
        <p:spPr>
          <a:xfrm>
            <a:off x="6677791" y="4259673"/>
            <a:ext cx="1656912" cy="338554"/>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a:latin typeface="微软雅黑" panose="020B0503020204020204" pitchFamily="34" charset="-122"/>
                <a:ea typeface="微软雅黑" panose="020B0503020204020204" pitchFamily="34" charset="-122"/>
                <a:cs typeface="+mn-ea"/>
                <a:sym typeface="+mn-lt"/>
              </a:rPr>
              <a:t>答辩人：吴锴烨</a:t>
            </a:r>
          </a:p>
        </p:txBody>
      </p:sp>
      <p:sp>
        <p:nvSpPr>
          <p:cNvPr id="31" name="图形"/>
          <p:cNvSpPr>
            <a:spLocks noChangeAspect="1"/>
          </p:cNvSpPr>
          <p:nvPr/>
        </p:nvSpPr>
        <p:spPr bwMode="auto">
          <a:xfrm>
            <a:off x="6411755" y="4272898"/>
            <a:ext cx="254198" cy="249411"/>
          </a:xfrm>
          <a:custGeom>
            <a:avLst/>
            <a:gdLst>
              <a:gd name="T0" fmla="*/ 10234 w 10586"/>
              <a:gd name="T1" fmla="*/ 8579 h 10403"/>
              <a:gd name="T2" fmla="*/ 7877 w 10586"/>
              <a:gd name="T3" fmla="*/ 7605 h 10403"/>
              <a:gd name="T4" fmla="*/ 7647 w 10586"/>
              <a:gd name="T5" fmla="*/ 5423 h 10403"/>
              <a:gd name="T6" fmla="*/ 7758 w 10586"/>
              <a:gd name="T7" fmla="*/ 3791 h 10403"/>
              <a:gd name="T8" fmla="*/ 7679 w 10586"/>
              <a:gd name="T9" fmla="*/ 2943 h 10403"/>
              <a:gd name="T10" fmla="*/ 8116 w 10586"/>
              <a:gd name="T11" fmla="*/ 1246 h 10403"/>
              <a:gd name="T12" fmla="*/ 7943 w 10586"/>
              <a:gd name="T13" fmla="*/ 2955 h 10403"/>
              <a:gd name="T14" fmla="*/ 9242 w 10586"/>
              <a:gd name="T15" fmla="*/ 3318 h 10403"/>
              <a:gd name="T16" fmla="*/ 8888 w 10586"/>
              <a:gd name="T17" fmla="*/ 1967 h 10403"/>
              <a:gd name="T18" fmla="*/ 9573 w 10586"/>
              <a:gd name="T19" fmla="*/ 1246 h 10403"/>
              <a:gd name="T20" fmla="*/ 8421 w 10586"/>
              <a:gd name="T21" fmla="*/ 233 h 10403"/>
              <a:gd name="T22" fmla="*/ 5631 w 10586"/>
              <a:gd name="T23" fmla="*/ 0 h 10403"/>
              <a:gd name="T24" fmla="*/ 1013 w 10586"/>
              <a:gd name="T25" fmla="*/ 233 h 10403"/>
              <a:gd name="T26" fmla="*/ 2907 w 10586"/>
              <a:gd name="T27" fmla="*/ 1246 h 10403"/>
              <a:gd name="T28" fmla="*/ 2984 w 10586"/>
              <a:gd name="T29" fmla="*/ 2943 h 10403"/>
              <a:gd name="T30" fmla="*/ 2510 w 10586"/>
              <a:gd name="T31" fmla="*/ 4799 h 10403"/>
              <a:gd name="T32" fmla="*/ 3672 w 10586"/>
              <a:gd name="T33" fmla="*/ 7122 h 10403"/>
              <a:gd name="T34" fmla="*/ 826 w 10586"/>
              <a:gd name="T35" fmla="*/ 8270 h 10403"/>
              <a:gd name="T36" fmla="*/ 0 w 10586"/>
              <a:gd name="T37" fmla="*/ 10403 h 10403"/>
              <a:gd name="T38" fmla="*/ 10586 w 10586"/>
              <a:gd name="T39" fmla="*/ 10066 h 10403"/>
              <a:gd name="T40" fmla="*/ 937 w 10586"/>
              <a:gd name="T41" fmla="*/ 8940 h 10403"/>
              <a:gd name="T42" fmla="*/ 4360 w 10586"/>
              <a:gd name="T43" fmla="*/ 7212 h 10403"/>
              <a:gd name="T44" fmla="*/ 3604 w 10586"/>
              <a:gd name="T45" fmla="*/ 5223 h 10403"/>
              <a:gd name="T46" fmla="*/ 3417 w 10586"/>
              <a:gd name="T47" fmla="*/ 4921 h 10403"/>
              <a:gd name="T48" fmla="*/ 3400 w 10586"/>
              <a:gd name="T49" fmla="*/ 4158 h 10403"/>
              <a:gd name="T50" fmla="*/ 3490 w 10586"/>
              <a:gd name="T51" fmla="*/ 3960 h 10403"/>
              <a:gd name="T52" fmla="*/ 6902 w 10586"/>
              <a:gd name="T53" fmla="*/ 2943 h 10403"/>
              <a:gd name="T54" fmla="*/ 7107 w 10586"/>
              <a:gd name="T55" fmla="*/ 4074 h 10403"/>
              <a:gd name="T56" fmla="*/ 7410 w 10586"/>
              <a:gd name="T57" fmla="*/ 4679 h 10403"/>
              <a:gd name="T58" fmla="*/ 6982 w 10586"/>
              <a:gd name="T59" fmla="*/ 5014 h 10403"/>
              <a:gd name="T60" fmla="*/ 6433 w 10586"/>
              <a:gd name="T61" fmla="*/ 6649 h 10403"/>
              <a:gd name="T62" fmla="*/ 7658 w 10586"/>
              <a:gd name="T63" fmla="*/ 8245 h 10403"/>
              <a:gd name="T64" fmla="*/ 9649 w 10586"/>
              <a:gd name="T65" fmla="*/ 8940 h 10403"/>
              <a:gd name="T66" fmla="*/ 688 w 10586"/>
              <a:gd name="T67" fmla="*/ 9728 h 10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86" h="10403">
                <a:moveTo>
                  <a:pt x="10586" y="10066"/>
                </a:moveTo>
                <a:cubicBezTo>
                  <a:pt x="10586" y="9382"/>
                  <a:pt x="10468" y="8882"/>
                  <a:pt x="10234" y="8579"/>
                </a:cubicBezTo>
                <a:cubicBezTo>
                  <a:pt x="10084" y="8384"/>
                  <a:pt x="9904" y="8294"/>
                  <a:pt x="9762" y="8270"/>
                </a:cubicBezTo>
                <a:lnTo>
                  <a:pt x="7877" y="7605"/>
                </a:lnTo>
                <a:cubicBezTo>
                  <a:pt x="7193" y="7377"/>
                  <a:pt x="6978" y="7196"/>
                  <a:pt x="6914" y="7122"/>
                </a:cubicBezTo>
                <a:cubicBezTo>
                  <a:pt x="7474" y="6578"/>
                  <a:pt x="7613" y="5789"/>
                  <a:pt x="7647" y="5423"/>
                </a:cubicBezTo>
                <a:cubicBezTo>
                  <a:pt x="7940" y="5222"/>
                  <a:pt x="8043" y="4979"/>
                  <a:pt x="8075" y="4799"/>
                </a:cubicBezTo>
                <a:cubicBezTo>
                  <a:pt x="8153" y="4366"/>
                  <a:pt x="7897" y="3968"/>
                  <a:pt x="7758" y="3791"/>
                </a:cubicBezTo>
                <a:cubicBezTo>
                  <a:pt x="7725" y="3484"/>
                  <a:pt x="7671" y="3203"/>
                  <a:pt x="7602" y="2943"/>
                </a:cubicBezTo>
                <a:lnTo>
                  <a:pt x="7679" y="2943"/>
                </a:lnTo>
                <a:lnTo>
                  <a:pt x="7679" y="1246"/>
                </a:lnTo>
                <a:lnTo>
                  <a:pt x="8116" y="1246"/>
                </a:lnTo>
                <a:cubicBezTo>
                  <a:pt x="8151" y="1413"/>
                  <a:pt x="8182" y="1625"/>
                  <a:pt x="8205" y="1894"/>
                </a:cubicBezTo>
                <a:cubicBezTo>
                  <a:pt x="8105" y="2037"/>
                  <a:pt x="7989" y="2328"/>
                  <a:pt x="7943" y="2955"/>
                </a:cubicBezTo>
                <a:lnTo>
                  <a:pt x="7916" y="3318"/>
                </a:lnTo>
                <a:lnTo>
                  <a:pt x="9242" y="3318"/>
                </a:lnTo>
                <a:lnTo>
                  <a:pt x="9212" y="2952"/>
                </a:lnTo>
                <a:cubicBezTo>
                  <a:pt x="9173" y="2474"/>
                  <a:pt x="9006" y="2146"/>
                  <a:pt x="8888" y="1967"/>
                </a:cubicBezTo>
                <a:cubicBezTo>
                  <a:pt x="8868" y="1689"/>
                  <a:pt x="8838" y="1453"/>
                  <a:pt x="8801" y="1246"/>
                </a:cubicBezTo>
                <a:lnTo>
                  <a:pt x="9573" y="1246"/>
                </a:lnTo>
                <a:lnTo>
                  <a:pt x="9573" y="233"/>
                </a:lnTo>
                <a:lnTo>
                  <a:pt x="8421" y="233"/>
                </a:lnTo>
                <a:cubicBezTo>
                  <a:pt x="8272" y="51"/>
                  <a:pt x="8113" y="0"/>
                  <a:pt x="7986" y="0"/>
                </a:cubicBezTo>
                <a:lnTo>
                  <a:pt x="5631" y="0"/>
                </a:lnTo>
                <a:lnTo>
                  <a:pt x="5631" y="233"/>
                </a:lnTo>
                <a:lnTo>
                  <a:pt x="1013" y="233"/>
                </a:lnTo>
                <a:lnTo>
                  <a:pt x="1013" y="1246"/>
                </a:lnTo>
                <a:lnTo>
                  <a:pt x="2907" y="1246"/>
                </a:lnTo>
                <a:lnTo>
                  <a:pt x="2907" y="2943"/>
                </a:lnTo>
                <a:lnTo>
                  <a:pt x="2984" y="2943"/>
                </a:lnTo>
                <a:cubicBezTo>
                  <a:pt x="2915" y="3203"/>
                  <a:pt x="2861" y="3484"/>
                  <a:pt x="2828" y="3791"/>
                </a:cubicBezTo>
                <a:cubicBezTo>
                  <a:pt x="2689" y="3968"/>
                  <a:pt x="2433" y="4366"/>
                  <a:pt x="2510" y="4799"/>
                </a:cubicBezTo>
                <a:cubicBezTo>
                  <a:pt x="2543" y="4979"/>
                  <a:pt x="2646" y="5222"/>
                  <a:pt x="2939" y="5423"/>
                </a:cubicBezTo>
                <a:cubicBezTo>
                  <a:pt x="2974" y="5788"/>
                  <a:pt x="3112" y="6575"/>
                  <a:pt x="3672" y="7122"/>
                </a:cubicBezTo>
                <a:cubicBezTo>
                  <a:pt x="3608" y="7195"/>
                  <a:pt x="3392" y="7378"/>
                  <a:pt x="2703" y="7607"/>
                </a:cubicBezTo>
                <a:lnTo>
                  <a:pt x="826" y="8270"/>
                </a:lnTo>
                <a:cubicBezTo>
                  <a:pt x="586" y="8306"/>
                  <a:pt x="0" y="8550"/>
                  <a:pt x="0" y="10066"/>
                </a:cubicBezTo>
                <a:lnTo>
                  <a:pt x="0" y="10403"/>
                </a:lnTo>
                <a:lnTo>
                  <a:pt x="10586" y="10403"/>
                </a:lnTo>
                <a:lnTo>
                  <a:pt x="10586" y="10066"/>
                </a:lnTo>
                <a:close/>
                <a:moveTo>
                  <a:pt x="688" y="9728"/>
                </a:moveTo>
                <a:cubicBezTo>
                  <a:pt x="731" y="9184"/>
                  <a:pt x="872" y="8979"/>
                  <a:pt x="937" y="8940"/>
                </a:cubicBezTo>
                <a:lnTo>
                  <a:pt x="2922" y="8247"/>
                </a:lnTo>
                <a:cubicBezTo>
                  <a:pt x="3832" y="7943"/>
                  <a:pt x="4288" y="7615"/>
                  <a:pt x="4360" y="7212"/>
                </a:cubicBezTo>
                <a:cubicBezTo>
                  <a:pt x="4406" y="6955"/>
                  <a:pt x="4277" y="6748"/>
                  <a:pt x="4170" y="6663"/>
                </a:cubicBezTo>
                <a:cubicBezTo>
                  <a:pt x="3615" y="6155"/>
                  <a:pt x="3604" y="5232"/>
                  <a:pt x="3604" y="5223"/>
                </a:cubicBezTo>
                <a:lnTo>
                  <a:pt x="3604" y="5014"/>
                </a:lnTo>
                <a:lnTo>
                  <a:pt x="3417" y="4921"/>
                </a:lnTo>
                <a:cubicBezTo>
                  <a:pt x="3273" y="4849"/>
                  <a:pt x="3192" y="4768"/>
                  <a:pt x="3176" y="4680"/>
                </a:cubicBezTo>
                <a:cubicBezTo>
                  <a:pt x="3144" y="4506"/>
                  <a:pt x="3314" y="4253"/>
                  <a:pt x="3400" y="4158"/>
                </a:cubicBezTo>
                <a:lnTo>
                  <a:pt x="3479" y="4074"/>
                </a:lnTo>
                <a:lnTo>
                  <a:pt x="3490" y="3960"/>
                </a:lnTo>
                <a:cubicBezTo>
                  <a:pt x="3526" y="3578"/>
                  <a:pt x="3591" y="3237"/>
                  <a:pt x="3684" y="2943"/>
                </a:cubicBezTo>
                <a:lnTo>
                  <a:pt x="6902" y="2943"/>
                </a:lnTo>
                <a:cubicBezTo>
                  <a:pt x="6995" y="3237"/>
                  <a:pt x="7060" y="3578"/>
                  <a:pt x="7096" y="3960"/>
                </a:cubicBezTo>
                <a:lnTo>
                  <a:pt x="7107" y="4074"/>
                </a:lnTo>
                <a:lnTo>
                  <a:pt x="7186" y="4158"/>
                </a:lnTo>
                <a:cubicBezTo>
                  <a:pt x="7269" y="4248"/>
                  <a:pt x="7442" y="4504"/>
                  <a:pt x="7410" y="4679"/>
                </a:cubicBezTo>
                <a:cubicBezTo>
                  <a:pt x="7394" y="4767"/>
                  <a:pt x="7313" y="4849"/>
                  <a:pt x="7169" y="4921"/>
                </a:cubicBezTo>
                <a:lnTo>
                  <a:pt x="6982" y="5014"/>
                </a:lnTo>
                <a:lnTo>
                  <a:pt x="6982" y="5223"/>
                </a:lnTo>
                <a:cubicBezTo>
                  <a:pt x="6982" y="5232"/>
                  <a:pt x="6967" y="6159"/>
                  <a:pt x="6433" y="6649"/>
                </a:cubicBezTo>
                <a:cubicBezTo>
                  <a:pt x="6309" y="6748"/>
                  <a:pt x="6180" y="6955"/>
                  <a:pt x="6226" y="7212"/>
                </a:cubicBezTo>
                <a:cubicBezTo>
                  <a:pt x="6298" y="7615"/>
                  <a:pt x="6754" y="7943"/>
                  <a:pt x="7658" y="8245"/>
                </a:cubicBezTo>
                <a:lnTo>
                  <a:pt x="9627" y="8940"/>
                </a:lnTo>
                <a:lnTo>
                  <a:pt x="9649" y="8940"/>
                </a:lnTo>
                <a:cubicBezTo>
                  <a:pt x="9714" y="8979"/>
                  <a:pt x="9855" y="9184"/>
                  <a:pt x="9898" y="9728"/>
                </a:cubicBezTo>
                <a:lnTo>
                  <a:pt x="688" y="9728"/>
                </a:lnTo>
                <a:lnTo>
                  <a:pt x="688" y="9728"/>
                </a:ln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600">
              <a:cs typeface="+mn-ea"/>
              <a:sym typeface="+mn-lt"/>
            </a:endParaRPr>
          </a:p>
        </p:txBody>
      </p:sp>
      <p:cxnSp>
        <p:nvCxnSpPr>
          <p:cNvPr id="32" name="直接连接符 31"/>
          <p:cNvCxnSpPr/>
          <p:nvPr/>
        </p:nvCxnSpPr>
        <p:spPr>
          <a:xfrm>
            <a:off x="2383341" y="4137651"/>
            <a:ext cx="7425319" cy="0"/>
          </a:xfrm>
          <a:prstGeom prst="line">
            <a:avLst/>
          </a:prstGeom>
        </p:spPr>
        <p:style>
          <a:lnRef idx="1">
            <a:schemeClr val="accent1"/>
          </a:lnRef>
          <a:fillRef idx="0">
            <a:schemeClr val="accent1"/>
          </a:fillRef>
          <a:effectRef idx="0">
            <a:schemeClr val="accent1"/>
          </a:effectRef>
          <a:fontRef idx="minor">
            <a:schemeClr val="tx1"/>
          </a:fontRef>
        </p:style>
      </p:cxnSp>
      <p:pic>
        <p:nvPicPr>
          <p:cNvPr id="30" name="图片 29">
            <a:extLst>
              <a:ext uri="{FF2B5EF4-FFF2-40B4-BE49-F238E27FC236}">
                <a16:creationId xmlns:a16="http://schemas.microsoft.com/office/drawing/2014/main" id="{C53419D4-3BAE-458B-8D99-1D63E869019E}"/>
              </a:ext>
            </a:extLst>
          </p:cNvPr>
          <p:cNvPicPr>
            <a:picLocks noChangeAspect="1"/>
          </p:cNvPicPr>
          <p:nvPr/>
        </p:nvPicPr>
        <p:blipFill>
          <a:blip r:embed="rId6"/>
          <a:stretch>
            <a:fillRect/>
          </a:stretch>
        </p:blipFill>
        <p:spPr>
          <a:xfrm>
            <a:off x="3377857" y="499969"/>
            <a:ext cx="775241" cy="775667"/>
          </a:xfrm>
          <a:prstGeom prst="rect">
            <a:avLst/>
          </a:prstGeom>
        </p:spPr>
      </p:pic>
      <p:sp>
        <p:nvSpPr>
          <p:cNvPr id="34" name="文本框 33">
            <a:extLst>
              <a:ext uri="{FF2B5EF4-FFF2-40B4-BE49-F238E27FC236}">
                <a16:creationId xmlns:a16="http://schemas.microsoft.com/office/drawing/2014/main" id="{64956DCB-78F6-B064-1111-A217B3696519}"/>
              </a:ext>
            </a:extLst>
          </p:cNvPr>
          <p:cNvSpPr txBox="1"/>
          <p:nvPr/>
        </p:nvSpPr>
        <p:spPr>
          <a:xfrm>
            <a:off x="11662673" y="6510983"/>
            <a:ext cx="423108" cy="276999"/>
          </a:xfrm>
          <a:prstGeom prst="rect">
            <a:avLst/>
          </a:prstGeom>
          <a:noFill/>
        </p:spPr>
        <p:txBody>
          <a:bodyPr wrap="square">
            <a:spAutoFit/>
          </a:bodyPr>
          <a:lstStyle/>
          <a:p>
            <a:pPr algn="r"/>
            <a:r>
              <a:rPr lang="en-US" altLang="zh-CN" sz="1200">
                <a:solidFill>
                  <a:srgbClr val="556370"/>
                </a:solidFill>
                <a:latin typeface="Microsoft YaHei"/>
              </a:rPr>
              <a:t>17</a:t>
            </a:r>
            <a:endParaRPr lang="en-US" altLang="zh-CN" sz="1200" b="0">
              <a:solidFill>
                <a:srgbClr val="556370"/>
              </a:solidFill>
              <a:latin typeface="Microsoft YaHe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SHADOW_SCHEMECOLOR_INDEX_BRIGHTNESS" val="0"/>
  <p:tag name="KSO_WM_UNIT_SHADOW_SCHEMECOLOR_INDEX" val="5"/>
  <p:tag name="KSO_WM_UNIT_TEXT_FILL_FORE_SCHEMECOLOR_INDEX_BRIGHTNESS" val="0"/>
  <p:tag name="KSO_WM_UNIT_TEXT_FILL_FORE_SCHEMECOLOR_INDEX" val="13"/>
  <p:tag name="KSO_WM_UNIT_TEXT_FILL_TYPE" val="1"/>
  <p:tag name="KSO_WM_UNIT_HIGHLIGHT" val="0"/>
  <p:tag name="KSO_WM_UNIT_COMPATIBLE" val="0"/>
  <p:tag name="KSO_WM_UNIT_DIAGRAM_ISNUMVISUAL" val="0"/>
  <p:tag name="KSO_WM_UNIT_DIAGRAM_ISREFERUNIT" val="0"/>
  <p:tag name="KSO_WM_UNIT_ID" val="custom20231190_1*i*4"/>
  <p:tag name="KSO_WM_TEMPLATE_CATEGORY" val="custom"/>
  <p:tag name="KSO_WM_TEMPLATE_INDEX" val="20231190"/>
  <p:tag name="KSO_WM_UNIT_LAYERLEVEL" val="1"/>
  <p:tag name="KSO_WM_TAG_VERSION" val="3.0"/>
  <p:tag name="KSO_WM_UNIT_TYPE" val="i"/>
  <p:tag name="KSO_WM_UNIT_INDEX" val="4"/>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SHADOW_SCHEMECOLOR_INDEX_BRIGHTNESS" val="0"/>
  <p:tag name="KSO_WM_UNIT_SHADOW_SCHEMECOLOR_INDEX" val="5"/>
  <p:tag name="KSO_WM_UNIT_TEXT_FILL_FORE_SCHEMECOLOR_INDEX_BRIGHTNESS" val="0"/>
  <p:tag name="KSO_WM_UNIT_TEXT_FILL_FORE_SCHEMECOLOR_INDEX" val="13"/>
  <p:tag name="KSO_WM_UNIT_TEXT_FILL_TYPE" val="1"/>
  <p:tag name="KSO_WM_UNIT_HIGHLIGHT" val="0"/>
  <p:tag name="KSO_WM_UNIT_COMPATIBLE" val="0"/>
  <p:tag name="KSO_WM_UNIT_DIAGRAM_ISNUMVISUAL" val="0"/>
  <p:tag name="KSO_WM_UNIT_DIAGRAM_ISREFERUNIT" val="0"/>
  <p:tag name="KSO_WM_UNIT_ID" val="custom20231190_1*i*4"/>
  <p:tag name="KSO_WM_TEMPLATE_CATEGORY" val="custom"/>
  <p:tag name="KSO_WM_TEMPLATE_INDEX" val="20231190"/>
  <p:tag name="KSO_WM_UNIT_LAYERLEVEL" val="1"/>
  <p:tag name="KSO_WM_TAG_VERSION" val="3.0"/>
  <p:tag name="KSO_WM_UNIT_TYPE" val="i"/>
  <p:tag name="KSO_WM_UNIT_INDEX" val="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3150</TotalTime>
  <Words>2940</Words>
  <Application>Microsoft Office PowerPoint</Application>
  <PresentationFormat>宽屏</PresentationFormat>
  <Paragraphs>246</Paragraphs>
  <Slides>17</Slides>
  <Notes>17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等线</vt:lpstr>
      <vt:lpstr>Microsoft YaHei</vt:lpstr>
      <vt:lpstr>Microsoft YaHei</vt:lpstr>
      <vt:lpstr>Arial</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吴锴烨</dc:creator>
  <cp:keywords/>
  <dc:description>generated using python-pptx</dc:description>
  <cp:lastModifiedBy>锴烨 吴</cp:lastModifiedBy>
  <cp:revision>129</cp:revision>
  <dcterms:created xsi:type="dcterms:W3CDTF">2013-01-27T09:14:16Z</dcterms:created>
  <dcterms:modified xsi:type="dcterms:W3CDTF">2026-05-25T03:15:07Z</dcterms:modified>
  <cp:category/>
</cp:coreProperties>
</file>